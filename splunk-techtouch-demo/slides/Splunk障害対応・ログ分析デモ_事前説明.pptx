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はじめに" id="{c5dd5e9c-b99c-b787-ce9d-58b5ae355d51}">
          <p14:sldIdLst>
            <p14:sldId id="256"/>
            <p14:sldId id="257"/>
          </p14:sldIdLst>
        </p14:section>
        <p14:section name="シナリオ" id="{95ad7e66-7017-77af-fcac-a0a37a90676e}">
          <p14:sldIdLst>
            <p14:sldId id="258"/>
            <p14:sldId id="259"/>
            <p14:sldId id="260"/>
            <p14:sldId id="261"/>
            <p14:sldId id="262"/>
          </p14:sldIdLst>
        </p14:section>
        <p14:section name="デモ" id="{7c623a4b-da07-ab39-0a3d-4a0837abf792}">
          <p14:sldIdLst>
            <p14:sldId id="263"/>
            <p14:sldId id="264"/>
            <p14:sldId id="265"/>
            <p14:sldId id="266"/>
          </p14:sldIdLst>
        </p14:section>
        <p14:section name="進め方" id="{448bf753-eb6e-2a62-0c9a-25f04dc8aa51}">
          <p14:sldIdLst>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本日は、デモ動画の前に、シナリオの前提と見どころをご説明します。架空のA社の運用担当者の一日を題材にした構想デモです。特定の企業や事案を題材にしたものではありません。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製品を足す提案ではありません。入っているITSI・IT Essentials Work・検索を、たまにしか使わない担当者が、迷わず、社内手順どおりに、自分で調べ切れるようにする提案です。原因の調査や対処を専門チームから取り上げる話でもありません。担当者が自分で確かめ、手順どおりに渡せる範囲を広げる話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架空のA社の契約照会サービスで、応答が遅くなった、という一般的な障害の型です。原因を突き止める話ではありません。問い合わせを受けた担当者が、状況を確かめ、社内手順どおりに連絡し、ログで手がかりを専門チームに渡すまでがこのシナリオの範囲です。仮説は確かめるべき前提として置い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製品が悪いという話ではありません。見る順番、判断の基準、SPLのひな型という、自社に固有の決め事を、画面の上で担当者に届ける話です。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動画では、章の終わりごとにQ1からQ3を一つずつお出しします。Q4とQ5は、今の解決方法と、自走できたと判断する基準を伺う問いです。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サービスの健全性とエピソードはITSI、サーバーの状態はIT Essentials Work、ログの検索とひな型の保存はSearch &amp; Reportingです。操作の順番と社内の判断基準を画面の上で示すのはテックタッチのガイド、社内のナレッジを参照して説明・下書きをするのはAI Hub（構想）です。原因の調査と対処は、これまでどおり専門チームが担います。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工程ごとに、これまで人によって止まっていたところと、デモで見せる姿を並べています。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章ごとの見どころです。第3章は、Splunk Cloudのデモ環境で、公開したテックタッチのガイドを実際に再生した画面です。時間が限られる場合は、第3章を中心にご覧ください。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第1章と第2章は、ITSIとIT Essentials Workがデモ環境に入っていないため、画面イメージです。第3章は、Splunk Cloudのデモ環境とテックタッチの実画面です。AI Hubはデモ環境に入っていないため、構想の画面イメージと例文です。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第3章がこのデモの見せ場です。テックタッチのガイドは、Splunk Cloudのデモ環境の実画面の上で作り、公開して再生しています。紫の印の付いたステップで、AI Hubが説明や下書きをする構想を重ねています。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AIの機能は、種類ごとに分けて扱います。Splunk AI AssistantはSPLの生成と説明、ITSIのPredictive Analyticsは予測、ITSI 5.0のエピソードの要約は要約と原因の推定です。AI Hubは社内のナレッジとの照合と下書きです。このデモで扱うのはAI Hubだけで、デモ環境にはないため構想の画面イメージです。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削減率の数字はお約束しません。一つの作業を選び、いまの時間と件数を伺ってから、目標を一緒に決めます。ガイドを最後まで進めたかどうかではなく、作業が終わったかどうかで確かめます。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この6項目は、デモを御社の環境に合わせるための前提です。ITSIかIT Essentials Workか、版によって画面名や使える機能が異なるため、1番を最初に伺います。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デモ動画の前提です。第1章と第2章は画面イメージ、第3章は実画面です。AI Hubは構想です。数字や人物はすべて架空です。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最後に、次の一歩です。事前の6項目を伺い、デモ動画で5つの問いを一緒に確かめ、最初に測る作業を一つ決めます。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0" y="0"/>
            <a:ext cx="4754880" cy="6858000"/>
          </a:xfrm>
          <a:prstGeom prst="rect">
            <a:avLst/>
          </a:prstGeom>
          <a:solidFill>
            <a:schemeClr val="accent1"/>
          </a:solidFill>
          <a:ln/>
        </p:spPr>
      </p:sp>
      <p:sp>
        <p:nvSpPr>
          <p:cNvPr id="3" name="Text 1"/>
          <p:cNvSpPr/>
          <p:nvPr>
            <p:ph idx="101" type="title" hasCustomPrompt="1"/>
          </p:nvPr>
        </p:nvSpPr>
        <p:spPr>
          <a:xfrm>
            <a:off x="548640" y="2057400"/>
            <a:ext cx="3840480" cy="182880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4" name="Text 1"/>
          <p:cNvSpPr/>
          <p:nvPr>
            <p:ph idx="102" type="body" hasCustomPrompt="1"/>
          </p:nvPr>
        </p:nvSpPr>
        <p:spPr>
          <a:xfrm>
            <a:off x="548640" y="4160520"/>
            <a:ext cx="3840480" cy="822960"/>
          </a:xfrm>
          <a:prstGeom prst="rect">
            <a:avLst/>
          </a:prstGeom>
          <a:noFill/>
          <a:ln/>
        </p:spPr>
        <p:txBody>
          <a:bodyPr wrap="square" rtlCol="0"/>
          <a:lstStyle>
            <a:lvl1pPr algn="l" indent="0" marL="0">
              <a:buNone/>
              <a:defRPr lang="en-US" sz="1300" dirty="0">
                <a:solidFill>
                  <a:schemeClr val="bg1"/>
                </a:solidFill>
              </a:defRPr>
            </a:lvl1pPr>
          </a:lstStyle>
          <a:p>
            <a:pPr algn="l" indent="0" marL="0">
              <a:buNone/>
            </a:pPr>
            <a:endParaRPr lang="en-US" sz="13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7315200" cy="274320"/>
          </a:xfrm>
          <a:prstGeom prst="rect">
            <a:avLst/>
          </a:prstGeom>
          <a:noFill/>
          <a:ln/>
        </p:spPr>
        <p:txBody>
          <a:bodyPr wrap="square" rtlCol="0"/>
          <a:lstStyle>
            <a:lvl1pPr algn="l" indent="0" marL="0">
              <a:buNone/>
              <a:defRPr lang="en-US" sz="1100" b="1" dirty="0">
                <a:solidFill>
                  <a:schemeClr val="accent2"/>
                </a:solidFill>
              </a:defRPr>
            </a:lvl1pPr>
          </a:lstStyle>
          <a:p>
            <a:pPr algn="l" indent="0" marL="0">
              <a:buNone/>
            </a:pPr>
            <a:endParaRPr lang="en-US" sz="1100" dirty="0"/>
          </a:p>
        </p:txBody>
      </p:sp>
      <p:sp>
        <p:nvSpPr>
          <p:cNvPr id="3" name="Text 0"/>
          <p:cNvSpPr/>
          <p:nvPr>
            <p:ph idx="101" type="title" hasCustomPrompt="1"/>
          </p:nvPr>
        </p:nvSpPr>
        <p:spPr>
          <a:xfrm>
            <a:off x="457200" y="457200"/>
            <a:ext cx="11277295" cy="548640"/>
          </a:xfrm>
          <a:prstGeom prst="rect">
            <a:avLst/>
          </a:prstGeom>
          <a:noFill/>
          <a:ln/>
        </p:spPr>
        <p:txBody>
          <a:bodyPr wrap="square" rtlCol="0"/>
          <a:lstStyle>
            <a:lvl1pPr algn="l" indent="0" marL="0">
              <a:buNone/>
              <a:defRPr lang="en-US" sz="2200" b="1" dirty="0">
                <a:solidFill>
                  <a:schemeClr val="tx1"/>
                </a:solidFill>
              </a:defRPr>
            </a:lvl1pPr>
          </a:lstStyle>
          <a:p>
            <a:pPr algn="l" indent="0" marL="0">
              <a:buNone/>
            </a:pPr>
            <a:endParaRPr lang="en-US" sz="2200" dirty="0"/>
          </a:p>
        </p:txBody>
      </p:sp>
      <p:sp>
        <p:nvSpPr>
          <p:cNvPr id="4" name="Text 0"/>
          <p:cNvSpPr/>
          <p:nvPr/>
        </p:nvSpPr>
        <p:spPr>
          <a:xfrm>
            <a:off x="8534095" y="201168"/>
            <a:ext cx="3200400" cy="274320"/>
          </a:xfrm>
          <a:prstGeom prst="rect">
            <a:avLst/>
          </a:prstGeom>
          <a:noFill/>
          <a:ln/>
        </p:spPr>
        <p:txBody>
          <a:bodyPr wrap="square" lIns="0" tIns="0" rIns="0" bIns="0" rtlCol="0" anchor="ctr"/>
          <a:lstStyle/>
          <a:p>
            <a:pPr algn="r" indent="0" marL="0">
              <a:buNone/>
            </a:pPr>
            <a:r>
              <a:rPr lang="en-US" sz="1100" dirty="0">
                <a:solidFill>
                  <a:schemeClr val="accent5"/>
                </a:solidFill>
              </a:rPr>
              <a:t>構想デモ・架空のシナリオ</a:t>
            </a:r>
            <a:endParaRPr lang="en-US" sz="1100" dirty="0"/>
          </a:p>
        </p:txBody>
      </p:sp>
      <p:sp>
        <p:nvSpPr>
          <p:cNvPr id="25" name="Slide Number Placeholder 0"/>
          <p:cNvSpPr>
            <a:spLocks noGrp="1"/>
          </p:cNvSpPr>
          <p:nvPr>
            <p:ph type="sldNum" sz="quarter" idx="4294967295"/>
          </p:nvPr>
        </p:nvSpPr>
        <p:spPr>
          <a:xfrm>
            <a:off x="1118585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2057400"/>
            <a:ext cx="3840480" cy="1828800"/>
          </a:xfrm>
          <a:prstGeom prst="rect">
            <a:avLst/>
          </a:prstGeom>
          <a:noFill/>
          <a:ln/>
        </p:spPr>
        <p:txBody>
          <a:bodyPr wrap="square" lIns="0" tIns="0" rIns="0" bIns="0" rtlCol="0" anchor="t"/>
          <a:lstStyle/>
          <a:p>
            <a:pPr algn="l" indent="0" marL="0">
              <a:buNone/>
            </a:pPr>
            <a:r>
              <a:rPr lang="en-US" sz="3000" b="1" dirty="0">
                <a:solidFill>
                  <a:schemeClr val="bg1"/>
                </a:solidFill>
              </a:rPr>
              <a:t>Splunk</a:t>
            </a:r>
            <a:endParaRPr lang="en-US" sz="3000" dirty="0"/>
          </a:p>
          <a:p>
            <a:pPr algn="l" indent="0" marL="0">
              <a:buNone/>
            </a:pPr>
            <a:r>
              <a:rPr lang="en-US" sz="3000" b="1" dirty="0">
                <a:solidFill>
                  <a:schemeClr val="bg1"/>
                </a:solidFill>
              </a:rPr>
              <a:t>障害対応・ログ分析</a:t>
            </a:r>
            <a:endParaRPr lang="en-US" sz="3000" dirty="0"/>
          </a:p>
          <a:p>
            <a:pPr algn="l" indent="0" marL="0">
              <a:buNone/>
            </a:pPr>
            <a:r>
              <a:rPr lang="en-US" sz="3000" b="1" dirty="0">
                <a:solidFill>
                  <a:schemeClr val="bg1"/>
                </a:solidFill>
              </a:rPr>
              <a:t>デモ 事前説明</a:t>
            </a:r>
            <a:endParaRPr lang="en-US" sz="3000" dirty="0"/>
          </a:p>
        </p:txBody>
      </p:sp>
      <p:sp>
        <p:nvSpPr>
          <p:cNvPr id="3" name="Text 1"/>
          <p:cNvSpPr/>
          <p:nvPr>
            <p:ph idx="102" type="body" hasCustomPrompt="1"/>
          </p:nvPr>
        </p:nvSpPr>
        <p:spPr>
          <a:xfrm>
            <a:off x="548640" y="4160520"/>
            <a:ext cx="3840480" cy="822960"/>
          </a:xfrm>
          <a:prstGeom prst="rect">
            <a:avLst/>
          </a:prstGeom>
          <a:noFill/>
          <a:ln/>
        </p:spPr>
        <p:txBody>
          <a:bodyPr wrap="square" lIns="0" tIns="0" rIns="0" bIns="0" rtlCol="0" anchor="t"/>
          <a:lstStyle/>
          <a:p>
            <a:pPr algn="l" indent="0" marL="0">
              <a:buNone/>
            </a:pPr>
            <a:r>
              <a:rPr lang="en-US" sz="1300" dirty="0">
                <a:solidFill>
                  <a:schemeClr val="bg1"/>
                </a:solidFill>
              </a:rPr>
              <a:t>Splunk Cloud（ITSI・IT Essentials Work）×</a:t>
            </a:r>
            <a:endParaRPr lang="en-US" sz="1300" dirty="0"/>
          </a:p>
          <a:p>
            <a:pPr algn="l" indent="0" marL="0">
              <a:buNone/>
            </a:pPr>
            <a:r>
              <a:rPr lang="en-US" sz="1300" dirty="0">
                <a:solidFill>
                  <a:schemeClr val="bg1"/>
                </a:solidFill>
              </a:rPr>
              <a:t>テックタッチ（DAP＋AI Hub）</a:t>
            </a:r>
            <a:endParaRPr lang="en-US" sz="1300" dirty="0"/>
          </a:p>
        </p:txBody>
      </p:sp>
      <p:sp>
        <p:nvSpPr>
          <p:cNvPr id="4" name="headline"/>
          <p:cNvSpPr txBox="1"/>
          <p:nvPr/>
        </p:nvSpPr>
        <p:spPr>
          <a:xfrm>
            <a:off x="5257800" y="2240280"/>
            <a:ext cx="6492240" cy="960120"/>
          </a:xfrm>
          <a:prstGeom prst="rect">
            <a:avLst/>
          </a:prstGeom>
          <a:noFill/>
          <a:ln/>
        </p:spPr>
        <p:txBody>
          <a:bodyPr wrap="square" lIns="0" tIns="0" rIns="0" bIns="0" rtlCol="0" anchor="t"/>
          <a:lstStyle/>
          <a:p>
            <a:pPr indent="0" marL="0">
              <a:buNone/>
            </a:pPr>
            <a:r>
              <a:rPr lang="en-US" sz="2200" b="1" dirty="0">
                <a:solidFill>
                  <a:schemeClr val="accent1"/>
                </a:solidFill>
              </a:rPr>
              <a:t>たまにしかSplunkを使わない人が、</a:t>
            </a:r>
            <a:endParaRPr lang="en-US" sz="2200" dirty="0"/>
          </a:p>
          <a:p>
            <a:pPr indent="0" marL="0">
              <a:buNone/>
            </a:pPr>
            <a:r>
              <a:rPr lang="en-US" sz="2200" b="1" dirty="0">
                <a:solidFill>
                  <a:schemeClr val="accent1"/>
                </a:solidFill>
              </a:rPr>
              <a:t>迷わず・社内手順どおりに・自分で調べ切る</a:t>
            </a:r>
            <a:endParaRPr lang="en-US" sz="2200" dirty="0"/>
          </a:p>
        </p:txBody>
      </p:sp>
      <p:sp>
        <p:nvSpPr>
          <p:cNvPr id="5" name="headline-points"/>
          <p:cNvSpPr txBox="1"/>
          <p:nvPr/>
        </p:nvSpPr>
        <p:spPr>
          <a:xfrm>
            <a:off x="5257800" y="3429000"/>
            <a:ext cx="6492240" cy="822960"/>
          </a:xfrm>
          <a:prstGeom prst="rect">
            <a:avLst/>
          </a:prstGeom>
          <a:noFill/>
          <a:ln/>
        </p:spPr>
        <p:txBody>
          <a:bodyPr wrap="square" lIns="0" tIns="0" rIns="0" bIns="0" rtlCol="0" anchor="t"/>
          <a:lstStyle/>
          <a:p>
            <a:pPr marL="152400" indent="-152400">
              <a:spcAft>
                <a:spcPts val="400"/>
              </a:spcAft>
              <a:buSzPct val="100000"/>
              <a:buChar char="•"/>
            </a:pPr>
            <a:r>
              <a:rPr lang="en-US" sz="1500" dirty="0">
                <a:solidFill>
                  <a:schemeClr val="tx1"/>
                </a:solidFill>
              </a:rPr>
              <a:t>架空のA社の運用担当者の一日（問い合わせから、一次確認・ログ分析まで）</a:t>
            </a:r>
            <a:endParaRPr lang="en-US" sz="1500" dirty="0"/>
          </a:p>
          <a:p>
            <a:pPr marL="152400" indent="-152400">
              <a:spcAft>
                <a:spcPts val="400"/>
              </a:spcAft>
              <a:buSzPct val="100000"/>
              <a:buChar char="•"/>
            </a:pPr>
            <a:r>
              <a:rPr lang="en-US" sz="1500" dirty="0">
                <a:solidFill>
                  <a:schemeClr val="tx1"/>
                </a:solidFill>
              </a:rPr>
              <a:t>デモ動画は3章＋振り返り（5分10秒）。第3章はSplunk Cloudとテックタッチの実画面です</a:t>
            </a:r>
            <a:endParaRPr lang="en-US" sz="1500" dirty="0"/>
          </a:p>
        </p:txBody>
      </p:sp>
      <p:sp>
        <p:nvSpPr>
          <p:cNvPr id="6" name="meta"/>
          <p:cNvSpPr txBox="1"/>
          <p:nvPr/>
        </p:nvSpPr>
        <p:spPr>
          <a:xfrm>
            <a:off x="5257800" y="5029200"/>
            <a:ext cx="6492240" cy="822960"/>
          </a:xfrm>
          <a:prstGeom prst="rect">
            <a:avLst/>
          </a:prstGeom>
          <a:noFill/>
          <a:ln/>
        </p:spPr>
        <p:txBody>
          <a:bodyPr wrap="square" lIns="0" tIns="0" rIns="0" bIns="0" rtlCol="0" anchor="t"/>
          <a:lstStyle/>
          <a:p>
            <a:pPr indent="0" marL="0">
              <a:buNone/>
            </a:pPr>
            <a:r>
              <a:rPr lang="en-US" sz="1200" dirty="0">
                <a:solidFill>
                  <a:schemeClr val="accent5"/>
                </a:solidFill>
              </a:rPr>
              <a:t>テックタッチ株式会社</a:t>
            </a:r>
            <a:endParaRPr lang="en-US" sz="1200" dirty="0"/>
          </a:p>
          <a:p>
            <a:pPr indent="0" marL="0">
              <a:buNone/>
            </a:pPr>
            <a:r>
              <a:rPr lang="en-US" sz="1200" dirty="0">
                <a:solidFill>
                  <a:schemeClr val="accent5"/>
                </a:solidFill>
              </a:rPr>
              <a:t>2026年10月</a:t>
            </a:r>
            <a:endParaRPr lang="en-US" sz="1200" dirty="0"/>
          </a:p>
          <a:p>
            <a:pPr indent="0" marL="0">
              <a:buNone/>
            </a:pPr>
            <a:r>
              <a:rPr lang="en-US" sz="1200" dirty="0">
                <a:solidFill>
                  <a:schemeClr val="accent5"/>
                </a:solidFill>
              </a:rPr>
              <a:t>架空のシナリオの構想デモです。特定の企業や事案を題材にしたものではありません。</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7315200" cy="274320"/>
          </a:xfrm>
          <a:prstGeom prst="rect">
            <a:avLst/>
          </a:prstGeom>
          <a:noFill/>
          <a:ln/>
        </p:spPr>
        <p:txBody>
          <a:bodyPr wrap="square" lIns="0" tIns="0" rIns="0" bIns="0" rtlCol="0" anchor="ctr"/>
          <a:lstStyle/>
          <a:p>
            <a:pPr algn="l" indent="0" marL="0">
              <a:buNone/>
            </a:pPr>
            <a:r>
              <a:rPr lang="en-US" sz="1100" b="1" dirty="0">
                <a:solidFill>
                  <a:schemeClr val="accent2"/>
                </a:solidFill>
              </a:rPr>
              <a:t>サマリ</a:t>
            </a:r>
            <a:endParaRPr lang="en-US" sz="1100" dirty="0"/>
          </a:p>
        </p:txBody>
      </p:sp>
      <p:sp>
        <p:nvSpPr>
          <p:cNvPr id="3" name="Text 0"/>
          <p:cNvSpPr/>
          <p:nvPr>
            <p:ph idx="101" type="title" hasCustomPrompt="1"/>
          </p:nvPr>
        </p:nvSpPr>
        <p:spPr>
          <a:xfrm>
            <a:off x="457200" y="457200"/>
            <a:ext cx="11277295" cy="548640"/>
          </a:xfrm>
          <a:prstGeom prst="rect">
            <a:avLst/>
          </a:prstGeom>
          <a:noFill/>
          <a:ln/>
        </p:spPr>
        <p:txBody>
          <a:bodyPr wrap="square" lIns="0" tIns="0" rIns="0" bIns="0" rtlCol="0" anchor="ctr"/>
          <a:lstStyle/>
          <a:p>
            <a:pPr algn="l" indent="0" marL="0">
              <a:buNone/>
            </a:pPr>
            <a:r>
              <a:rPr lang="en-US" sz="2200" b="1" dirty="0">
                <a:solidFill>
                  <a:schemeClr val="tx1"/>
                </a:solidFill>
              </a:rPr>
              <a:t>製品を足すのではなく、入っているSplunkを、使う人が使い切る</a:t>
            </a:r>
            <a:endParaRPr lang="en-US" sz="2200" dirty="0"/>
          </a:p>
        </p:txBody>
      </p:sp>
      <p:sp>
        <p:nvSpPr>
          <p:cNvPr id="4" name="band"/>
          <p:cNvSpPr/>
          <p:nvPr/>
        </p:nvSpPr>
        <p:spPr>
          <a:xfrm>
            <a:off x="457200" y="1097280"/>
            <a:ext cx="11277295" cy="731520"/>
          </a:xfrm>
          <a:prstGeom prst="rect">
            <a:avLst/>
          </a:prstGeom>
          <a:solidFill>
            <a:schemeClr val="accent3"/>
          </a:solidFill>
          <a:ln/>
        </p:spPr>
      </p:sp>
      <p:sp>
        <p:nvSpPr>
          <p:cNvPr id="5" name="band-text"/>
          <p:cNvSpPr txBox="1"/>
          <p:nvPr/>
        </p:nvSpPr>
        <p:spPr>
          <a:xfrm>
            <a:off x="594360" y="1097280"/>
            <a:ext cx="11002975" cy="731520"/>
          </a:xfrm>
          <a:prstGeom prst="rect">
            <a:avLst/>
          </a:prstGeom>
          <a:noFill/>
          <a:ln/>
        </p:spPr>
        <p:txBody>
          <a:bodyPr wrap="square" lIns="0" tIns="0" rIns="0" bIns="0" rtlCol="0" anchor="ctr"/>
          <a:lstStyle/>
          <a:p>
            <a:pPr indent="0" marL="0">
              <a:buNone/>
            </a:pPr>
            <a:r>
              <a:rPr lang="en-US" sz="1300" b="1" dirty="0">
                <a:solidFill>
                  <a:schemeClr val="accent1"/>
                </a:solidFill>
              </a:rPr>
              <a:t>ITSI・IT Essentials Work・検索は入っている。止まっているのは「たまにしか使わない人が、迷わず・同じ手順で・自分で調べ切ること」。そこを、テックタッチが画面の上から支える</a:t>
            </a:r>
            <a:endParaRPr lang="en-US" sz="1300" dirty="0"/>
          </a:p>
        </p:txBody>
      </p:sp>
      <p:sp>
        <p:nvSpPr>
          <p:cNvPr id="6" name="point-0"/>
          <p:cNvSpPr/>
          <p:nvPr/>
        </p:nvSpPr>
        <p:spPr>
          <a:xfrm>
            <a:off x="457200" y="2057400"/>
            <a:ext cx="3637178" cy="1874520"/>
          </a:xfrm>
          <a:prstGeom prst="rect">
            <a:avLst/>
          </a:prstGeom>
          <a:solidFill>
            <a:schemeClr val="bg1"/>
          </a:solidFill>
          <a:ln w="9525">
            <a:solidFill>
              <a:schemeClr val="accent6"/>
            </a:solidFill>
            <a:prstDash val="solid"/>
          </a:ln>
        </p:spPr>
      </p:sp>
      <p:sp>
        <p:nvSpPr>
          <p:cNvPr id="7" name="point-0-head"/>
          <p:cNvSpPr/>
          <p:nvPr/>
        </p:nvSpPr>
        <p:spPr>
          <a:xfrm>
            <a:off x="457200" y="2057400"/>
            <a:ext cx="3637178" cy="347472"/>
          </a:xfrm>
          <a:prstGeom prst="rect">
            <a:avLst/>
          </a:prstGeom>
          <a:solidFill>
            <a:schemeClr val="accent2"/>
          </a:solidFill>
          <a:ln/>
        </p:spPr>
      </p:sp>
      <p:sp>
        <p:nvSpPr>
          <p:cNvPr id="8" name="point-0-head-text"/>
          <p:cNvSpPr txBox="1"/>
          <p:nvPr/>
        </p:nvSpPr>
        <p:spPr>
          <a:xfrm>
            <a:off x="548640" y="2057400"/>
            <a:ext cx="3454298" cy="347472"/>
          </a:xfrm>
          <a:prstGeom prst="rect">
            <a:avLst/>
          </a:prstGeom>
          <a:noFill/>
          <a:ln/>
        </p:spPr>
        <p:txBody>
          <a:bodyPr wrap="square" lIns="0" tIns="0" rIns="0" bIns="0" rtlCol="0" anchor="ctr"/>
          <a:lstStyle/>
          <a:p>
            <a:pPr indent="0" marL="0">
              <a:buNone/>
            </a:pPr>
            <a:r>
              <a:rPr lang="en-US" sz="1200" b="1" dirty="0">
                <a:solidFill>
                  <a:schemeClr val="bg1"/>
                </a:solidFill>
              </a:rPr>
              <a:t>①　迷わず、状況を確かめる</a:t>
            </a:r>
            <a:endParaRPr lang="en-US" sz="1200" dirty="0"/>
          </a:p>
        </p:txBody>
      </p:sp>
      <p:sp>
        <p:nvSpPr>
          <p:cNvPr id="9" name="point-body-0"/>
          <p:cNvSpPr txBox="1"/>
          <p:nvPr/>
        </p:nvSpPr>
        <p:spPr>
          <a:xfrm>
            <a:off x="566928" y="2514600"/>
            <a:ext cx="3417722" cy="132588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chemeClr val="tx1"/>
                </a:solidFill>
              </a:rPr>
              <a:t>Service Analyzerで、時間範囲とサービスを選び、悪化したKPIを確かめる</a:t>
            </a:r>
            <a:endParaRPr lang="en-US" sz="1300" dirty="0"/>
          </a:p>
          <a:p>
            <a:pPr marL="152400" indent="-152400">
              <a:spcAft>
                <a:spcPts val="400"/>
              </a:spcAft>
              <a:buSzPct val="100000"/>
              <a:buChar char="•"/>
            </a:pPr>
            <a:r>
              <a:rPr lang="en-US" sz="1300" dirty="0">
                <a:solidFill>
                  <a:schemeClr val="tx1"/>
                </a:solidFill>
              </a:rPr>
              <a:t>似た名前のサービスは、ガイドが選び直しを案内する</a:t>
            </a:r>
            <a:endParaRPr lang="en-US" sz="1300" dirty="0"/>
          </a:p>
        </p:txBody>
      </p:sp>
      <p:sp>
        <p:nvSpPr>
          <p:cNvPr id="10" name="point-1"/>
          <p:cNvSpPr/>
          <p:nvPr/>
        </p:nvSpPr>
        <p:spPr>
          <a:xfrm>
            <a:off x="4277258" y="2057400"/>
            <a:ext cx="3637178" cy="1874520"/>
          </a:xfrm>
          <a:prstGeom prst="rect">
            <a:avLst/>
          </a:prstGeom>
          <a:solidFill>
            <a:schemeClr val="bg1"/>
          </a:solidFill>
          <a:ln w="9525">
            <a:solidFill>
              <a:schemeClr val="accent6"/>
            </a:solidFill>
            <a:prstDash val="solid"/>
          </a:ln>
        </p:spPr>
      </p:sp>
      <p:sp>
        <p:nvSpPr>
          <p:cNvPr id="11" name="point-1-head"/>
          <p:cNvSpPr/>
          <p:nvPr/>
        </p:nvSpPr>
        <p:spPr>
          <a:xfrm>
            <a:off x="4277258" y="2057400"/>
            <a:ext cx="3637178" cy="347472"/>
          </a:xfrm>
          <a:prstGeom prst="rect">
            <a:avLst/>
          </a:prstGeom>
          <a:solidFill>
            <a:schemeClr val="accent2"/>
          </a:solidFill>
          <a:ln/>
        </p:spPr>
      </p:sp>
      <p:sp>
        <p:nvSpPr>
          <p:cNvPr id="12" name="point-1-head-text"/>
          <p:cNvSpPr txBox="1"/>
          <p:nvPr/>
        </p:nvSpPr>
        <p:spPr>
          <a:xfrm>
            <a:off x="4368698" y="2057400"/>
            <a:ext cx="3454298" cy="347472"/>
          </a:xfrm>
          <a:prstGeom prst="rect">
            <a:avLst/>
          </a:prstGeom>
          <a:noFill/>
          <a:ln/>
        </p:spPr>
        <p:txBody>
          <a:bodyPr wrap="square" lIns="0" tIns="0" rIns="0" bIns="0" rtlCol="0" anchor="ctr"/>
          <a:lstStyle/>
          <a:p>
            <a:pPr indent="0" marL="0">
              <a:buNone/>
            </a:pPr>
            <a:r>
              <a:rPr lang="en-US" sz="1200" b="1" dirty="0">
                <a:solidFill>
                  <a:schemeClr val="bg1"/>
                </a:solidFill>
              </a:rPr>
              <a:t>②　社内手順どおりに、確認・連絡する</a:t>
            </a:r>
            <a:endParaRPr lang="en-US" sz="1200" dirty="0"/>
          </a:p>
        </p:txBody>
      </p:sp>
      <p:sp>
        <p:nvSpPr>
          <p:cNvPr id="13" name="point-body-1"/>
          <p:cNvSpPr txBox="1"/>
          <p:nvPr/>
        </p:nvSpPr>
        <p:spPr>
          <a:xfrm>
            <a:off x="4386986" y="2514600"/>
            <a:ext cx="3417722" cy="132588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chemeClr val="tx1"/>
                </a:solidFill>
              </a:rPr>
              <a:t>概要→影響範囲→関連エンティティ→連絡の順で進める</a:t>
            </a:r>
            <a:endParaRPr lang="en-US" sz="1300" dirty="0"/>
          </a:p>
          <a:p>
            <a:pPr marL="152400" indent="-152400">
              <a:spcAft>
                <a:spcPts val="400"/>
              </a:spcAft>
              <a:buSzPct val="100000"/>
              <a:buChar char="•"/>
            </a:pPr>
            <a:r>
              <a:rPr lang="en-US" sz="1300" dirty="0">
                <a:solidFill>
                  <a:schemeClr val="tx1"/>
                </a:solidFill>
              </a:rPr>
              <a:t>優先度の基準を画面に出し、AI Hubが連絡文を下書きする</a:t>
            </a:r>
            <a:endParaRPr lang="en-US" sz="1300" dirty="0"/>
          </a:p>
        </p:txBody>
      </p:sp>
      <p:sp>
        <p:nvSpPr>
          <p:cNvPr id="14" name="point-2"/>
          <p:cNvSpPr/>
          <p:nvPr/>
        </p:nvSpPr>
        <p:spPr>
          <a:xfrm>
            <a:off x="8097317" y="2057400"/>
            <a:ext cx="3637178" cy="1874520"/>
          </a:xfrm>
          <a:prstGeom prst="rect">
            <a:avLst/>
          </a:prstGeom>
          <a:solidFill>
            <a:schemeClr val="bg1"/>
          </a:solidFill>
          <a:ln w="9525">
            <a:solidFill>
              <a:schemeClr val="accent6"/>
            </a:solidFill>
            <a:prstDash val="solid"/>
          </a:ln>
        </p:spPr>
      </p:sp>
      <p:sp>
        <p:nvSpPr>
          <p:cNvPr id="15" name="point-2-head"/>
          <p:cNvSpPr/>
          <p:nvPr/>
        </p:nvSpPr>
        <p:spPr>
          <a:xfrm>
            <a:off x="8097317" y="2057400"/>
            <a:ext cx="3637178" cy="347472"/>
          </a:xfrm>
          <a:prstGeom prst="rect">
            <a:avLst/>
          </a:prstGeom>
          <a:solidFill>
            <a:schemeClr val="accent2"/>
          </a:solidFill>
          <a:ln/>
        </p:spPr>
      </p:sp>
      <p:sp>
        <p:nvSpPr>
          <p:cNvPr id="16" name="point-2-head-text"/>
          <p:cNvSpPr txBox="1"/>
          <p:nvPr/>
        </p:nvSpPr>
        <p:spPr>
          <a:xfrm>
            <a:off x="8188757" y="2057400"/>
            <a:ext cx="3454298" cy="347472"/>
          </a:xfrm>
          <a:prstGeom prst="rect">
            <a:avLst/>
          </a:prstGeom>
          <a:noFill/>
          <a:ln/>
        </p:spPr>
        <p:txBody>
          <a:bodyPr wrap="square" lIns="0" tIns="0" rIns="0" bIns="0" rtlCol="0" anchor="ctr"/>
          <a:lstStyle/>
          <a:p>
            <a:pPr indent="0" marL="0">
              <a:buNone/>
            </a:pPr>
            <a:r>
              <a:rPr lang="en-US" sz="1200" b="1" dirty="0">
                <a:solidFill>
                  <a:schemeClr val="bg1"/>
                </a:solidFill>
              </a:rPr>
              <a:t>③　ひな型で調べ、共有して残す</a:t>
            </a:r>
            <a:endParaRPr lang="en-US" sz="1200" dirty="0"/>
          </a:p>
        </p:txBody>
      </p:sp>
      <p:sp>
        <p:nvSpPr>
          <p:cNvPr id="17" name="point-body-2"/>
          <p:cNvSpPr txBox="1"/>
          <p:nvPr/>
        </p:nvSpPr>
        <p:spPr>
          <a:xfrm>
            <a:off x="8207045" y="2514600"/>
            <a:ext cx="3417722" cy="132588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chemeClr val="tx1"/>
                </a:solidFill>
              </a:rPr>
              <a:t>確認済みのSPLのひな型（レポート）から調べる</a:t>
            </a:r>
            <a:endParaRPr lang="en-US" sz="1300" dirty="0"/>
          </a:p>
          <a:p>
            <a:pPr marL="152400" indent="-152400">
              <a:spcAft>
                <a:spcPts val="400"/>
              </a:spcAft>
              <a:buSzPct val="100000"/>
              <a:buChar char="•"/>
            </a:pPr>
            <a:r>
              <a:rPr lang="en-US" sz="1300" dirty="0">
                <a:solidFill>
                  <a:schemeClr val="tx1"/>
                </a:solidFill>
              </a:rPr>
              <a:t>AI HubがSPLと結果の読み方を説明し、依頼文を下書きする</a:t>
            </a:r>
            <a:endParaRPr lang="en-US" sz="1300" dirty="0"/>
          </a:p>
        </p:txBody>
      </p:sp>
      <p:sp>
        <p:nvSpPr>
          <p:cNvPr id="18" name="tile-0"/>
          <p:cNvSpPr/>
          <p:nvPr/>
        </p:nvSpPr>
        <p:spPr>
          <a:xfrm>
            <a:off x="457200" y="4206240"/>
            <a:ext cx="2109155" cy="1188720"/>
          </a:xfrm>
          <a:prstGeom prst="rect">
            <a:avLst/>
          </a:prstGeom>
          <a:solidFill>
            <a:schemeClr val="bg2"/>
          </a:solidFill>
          <a:ln w="9525">
            <a:solidFill>
              <a:schemeClr val="accent6"/>
            </a:solidFill>
            <a:prstDash val="solid"/>
          </a:ln>
        </p:spPr>
      </p:sp>
      <p:sp>
        <p:nvSpPr>
          <p:cNvPr id="19" name="tile-cap-0"/>
          <p:cNvSpPr txBox="1"/>
          <p:nvPr/>
        </p:nvSpPr>
        <p:spPr>
          <a:xfrm>
            <a:off x="566928" y="4297680"/>
            <a:ext cx="1889699" cy="274320"/>
          </a:xfrm>
          <a:prstGeom prst="rect">
            <a:avLst/>
          </a:prstGeom>
          <a:noFill/>
          <a:ln/>
        </p:spPr>
        <p:txBody>
          <a:bodyPr wrap="square" lIns="0" tIns="0" rIns="0" bIns="0" rtlCol="0" anchor="t"/>
          <a:lstStyle/>
          <a:p>
            <a:pPr indent="0" marL="0">
              <a:buNone/>
            </a:pPr>
            <a:r>
              <a:rPr lang="en-US" sz="1200" dirty="0">
                <a:solidFill>
                  <a:schemeClr val="accent5"/>
                </a:solidFill>
              </a:rPr>
              <a:t>デモ動画</a:t>
            </a:r>
            <a:endParaRPr lang="en-US" sz="1200" dirty="0"/>
          </a:p>
        </p:txBody>
      </p:sp>
      <p:sp>
        <p:nvSpPr>
          <p:cNvPr id="20" name="tile-big-0"/>
          <p:cNvSpPr txBox="1"/>
          <p:nvPr/>
        </p:nvSpPr>
        <p:spPr>
          <a:xfrm>
            <a:off x="566928" y="4572000"/>
            <a:ext cx="1889699" cy="457200"/>
          </a:xfrm>
          <a:prstGeom prst="rect">
            <a:avLst/>
          </a:prstGeom>
          <a:noFill/>
          <a:ln/>
        </p:spPr>
        <p:txBody>
          <a:bodyPr wrap="square" lIns="0" tIns="0" rIns="0" bIns="0" rtlCol="0" anchor="t"/>
          <a:lstStyle/>
          <a:p>
            <a:pPr indent="0" marL="0">
              <a:buNone/>
            </a:pPr>
            <a:r>
              <a:rPr lang="en-US" sz="2400" b="1" dirty="0">
                <a:solidFill>
                  <a:schemeClr val="tx1"/>
                </a:solidFill>
              </a:rPr>
              <a:t>5分10秒</a:t>
            </a:r>
            <a:endParaRPr lang="en-US" sz="2400" dirty="0"/>
          </a:p>
        </p:txBody>
      </p:sp>
      <p:sp>
        <p:nvSpPr>
          <p:cNvPr id="21" name="tile-sub-0"/>
          <p:cNvSpPr txBox="1"/>
          <p:nvPr/>
        </p:nvSpPr>
        <p:spPr>
          <a:xfrm>
            <a:off x="566928" y="5056632"/>
            <a:ext cx="1889699" cy="274320"/>
          </a:xfrm>
          <a:prstGeom prst="rect">
            <a:avLst/>
          </a:prstGeom>
          <a:noFill/>
          <a:ln/>
        </p:spPr>
        <p:txBody>
          <a:bodyPr wrap="square" lIns="0" tIns="0" rIns="0" bIns="0" rtlCol="0" anchor="t"/>
          <a:lstStyle/>
          <a:p>
            <a:pPr indent="0" marL="0">
              <a:buNone/>
            </a:pPr>
            <a:r>
              <a:rPr lang="en-US" sz="1100" dirty="0">
                <a:solidFill>
                  <a:schemeClr val="accent5"/>
                </a:solidFill>
              </a:rPr>
              <a:t>3章＋振り返り</a:t>
            </a:r>
            <a:endParaRPr lang="en-US" sz="1100" dirty="0"/>
          </a:p>
        </p:txBody>
      </p:sp>
      <p:sp>
        <p:nvSpPr>
          <p:cNvPr id="22" name="tile-1"/>
          <p:cNvSpPr/>
          <p:nvPr/>
        </p:nvSpPr>
        <p:spPr>
          <a:xfrm>
            <a:off x="2749235" y="4206240"/>
            <a:ext cx="2109155" cy="1188720"/>
          </a:xfrm>
          <a:prstGeom prst="rect">
            <a:avLst/>
          </a:prstGeom>
          <a:solidFill>
            <a:schemeClr val="accent1"/>
          </a:solidFill>
          <a:ln/>
        </p:spPr>
      </p:sp>
      <p:sp>
        <p:nvSpPr>
          <p:cNvPr id="23" name="tile-cap-1"/>
          <p:cNvSpPr txBox="1"/>
          <p:nvPr/>
        </p:nvSpPr>
        <p:spPr>
          <a:xfrm>
            <a:off x="2858963" y="4297680"/>
            <a:ext cx="1889699" cy="274320"/>
          </a:xfrm>
          <a:prstGeom prst="rect">
            <a:avLst/>
          </a:prstGeom>
          <a:noFill/>
          <a:ln/>
        </p:spPr>
        <p:txBody>
          <a:bodyPr wrap="square" lIns="0" tIns="0" rIns="0" bIns="0" rtlCol="0" anchor="t"/>
          <a:lstStyle/>
          <a:p>
            <a:pPr indent="0" marL="0">
              <a:buNone/>
            </a:pPr>
            <a:r>
              <a:rPr lang="en-US" sz="1200" dirty="0">
                <a:solidFill>
                  <a:schemeClr val="bg1"/>
                </a:solidFill>
              </a:rPr>
              <a:t>実画面</a:t>
            </a:r>
            <a:endParaRPr lang="en-US" sz="1200" dirty="0"/>
          </a:p>
        </p:txBody>
      </p:sp>
      <p:sp>
        <p:nvSpPr>
          <p:cNvPr id="24" name="tile-big-1"/>
          <p:cNvSpPr txBox="1"/>
          <p:nvPr/>
        </p:nvSpPr>
        <p:spPr>
          <a:xfrm>
            <a:off x="2858963" y="4572000"/>
            <a:ext cx="1889699" cy="457200"/>
          </a:xfrm>
          <a:prstGeom prst="rect">
            <a:avLst/>
          </a:prstGeom>
          <a:noFill/>
          <a:ln/>
        </p:spPr>
        <p:txBody>
          <a:bodyPr wrap="square" lIns="0" tIns="0" rIns="0" bIns="0" rtlCol="0" anchor="t"/>
          <a:lstStyle/>
          <a:p>
            <a:pPr indent="0" marL="0">
              <a:buNone/>
            </a:pPr>
            <a:r>
              <a:rPr lang="en-US" sz="2400" b="1" dirty="0">
                <a:solidFill>
                  <a:schemeClr val="bg1"/>
                </a:solidFill>
              </a:rPr>
              <a:t>第3章</a:t>
            </a:r>
            <a:endParaRPr lang="en-US" sz="2400" dirty="0"/>
          </a:p>
        </p:txBody>
      </p:sp>
      <p:sp>
        <p:nvSpPr>
          <p:cNvPr id="25" name="tile-sub-1"/>
          <p:cNvSpPr txBox="1"/>
          <p:nvPr/>
        </p:nvSpPr>
        <p:spPr>
          <a:xfrm>
            <a:off x="2858963" y="5056632"/>
            <a:ext cx="1889699" cy="274320"/>
          </a:xfrm>
          <a:prstGeom prst="rect">
            <a:avLst/>
          </a:prstGeom>
          <a:noFill/>
          <a:ln/>
        </p:spPr>
        <p:txBody>
          <a:bodyPr wrap="square" lIns="0" tIns="0" rIns="0" bIns="0" rtlCol="0" anchor="t"/>
          <a:lstStyle/>
          <a:p>
            <a:pPr indent="0" marL="0">
              <a:buNone/>
            </a:pPr>
            <a:r>
              <a:rPr lang="en-US" sz="1100" dirty="0">
                <a:solidFill>
                  <a:schemeClr val="bg1"/>
                </a:solidFill>
              </a:rPr>
              <a:t>Splunk Cloud上で再生</a:t>
            </a:r>
            <a:endParaRPr lang="en-US" sz="1100" dirty="0"/>
          </a:p>
        </p:txBody>
      </p:sp>
      <p:sp>
        <p:nvSpPr>
          <p:cNvPr id="26" name="tile-2"/>
          <p:cNvSpPr/>
          <p:nvPr/>
        </p:nvSpPr>
        <p:spPr>
          <a:xfrm>
            <a:off x="5041270" y="4206240"/>
            <a:ext cx="2109155" cy="1188720"/>
          </a:xfrm>
          <a:prstGeom prst="rect">
            <a:avLst/>
          </a:prstGeom>
          <a:solidFill>
            <a:schemeClr val="bg2"/>
          </a:solidFill>
          <a:ln w="9525">
            <a:solidFill>
              <a:schemeClr val="accent6"/>
            </a:solidFill>
            <a:prstDash val="solid"/>
          </a:ln>
        </p:spPr>
      </p:sp>
      <p:sp>
        <p:nvSpPr>
          <p:cNvPr id="27" name="tile-cap-2"/>
          <p:cNvSpPr txBox="1"/>
          <p:nvPr/>
        </p:nvSpPr>
        <p:spPr>
          <a:xfrm>
            <a:off x="5150998" y="4297680"/>
            <a:ext cx="1889699" cy="274320"/>
          </a:xfrm>
          <a:prstGeom prst="rect">
            <a:avLst/>
          </a:prstGeom>
          <a:noFill/>
          <a:ln/>
        </p:spPr>
        <p:txBody>
          <a:bodyPr wrap="square" lIns="0" tIns="0" rIns="0" bIns="0" rtlCol="0" anchor="t"/>
          <a:lstStyle/>
          <a:p>
            <a:pPr indent="0" marL="0">
              <a:buNone/>
            </a:pPr>
            <a:r>
              <a:rPr lang="en-US" sz="1200" dirty="0">
                <a:solidFill>
                  <a:schemeClr val="accent5"/>
                </a:solidFill>
              </a:rPr>
              <a:t>伺いたいこと</a:t>
            </a:r>
            <a:endParaRPr lang="en-US" sz="1200" dirty="0"/>
          </a:p>
        </p:txBody>
      </p:sp>
      <p:sp>
        <p:nvSpPr>
          <p:cNvPr id="28" name="tile-big-2"/>
          <p:cNvSpPr txBox="1"/>
          <p:nvPr/>
        </p:nvSpPr>
        <p:spPr>
          <a:xfrm>
            <a:off x="5150998" y="4572000"/>
            <a:ext cx="1889699" cy="457200"/>
          </a:xfrm>
          <a:prstGeom prst="rect">
            <a:avLst/>
          </a:prstGeom>
          <a:noFill/>
          <a:ln/>
        </p:spPr>
        <p:txBody>
          <a:bodyPr wrap="square" lIns="0" tIns="0" rIns="0" bIns="0" rtlCol="0" anchor="t"/>
          <a:lstStyle/>
          <a:p>
            <a:pPr indent="0" marL="0">
              <a:buNone/>
            </a:pPr>
            <a:r>
              <a:rPr lang="en-US" sz="2400" b="1" dirty="0">
                <a:solidFill>
                  <a:schemeClr val="tx1"/>
                </a:solidFill>
              </a:rPr>
              <a:t>5つ</a:t>
            </a:r>
            <a:endParaRPr lang="en-US" sz="2400" dirty="0"/>
          </a:p>
        </p:txBody>
      </p:sp>
      <p:sp>
        <p:nvSpPr>
          <p:cNvPr id="29" name="tile-sub-2"/>
          <p:cNvSpPr txBox="1"/>
          <p:nvPr/>
        </p:nvSpPr>
        <p:spPr>
          <a:xfrm>
            <a:off x="5150998" y="5056632"/>
            <a:ext cx="1889699" cy="274320"/>
          </a:xfrm>
          <a:prstGeom prst="rect">
            <a:avLst/>
          </a:prstGeom>
          <a:noFill/>
          <a:ln/>
        </p:spPr>
        <p:txBody>
          <a:bodyPr wrap="square" lIns="0" tIns="0" rIns="0" bIns="0" rtlCol="0" anchor="t"/>
          <a:lstStyle/>
          <a:p>
            <a:pPr indent="0" marL="0">
              <a:buNone/>
            </a:pPr>
            <a:r>
              <a:rPr lang="en-US" sz="1100" dirty="0">
                <a:solidFill>
                  <a:schemeClr val="accent5"/>
                </a:solidFill>
              </a:rPr>
              <a:t>章の終わりに伺う</a:t>
            </a:r>
            <a:endParaRPr lang="en-US" sz="1100" dirty="0"/>
          </a:p>
        </p:txBody>
      </p:sp>
      <p:sp>
        <p:nvSpPr>
          <p:cNvPr id="30" name="tile-3"/>
          <p:cNvSpPr/>
          <p:nvPr/>
        </p:nvSpPr>
        <p:spPr>
          <a:xfrm>
            <a:off x="7333305" y="4206240"/>
            <a:ext cx="2109155" cy="1188720"/>
          </a:xfrm>
          <a:prstGeom prst="rect">
            <a:avLst/>
          </a:prstGeom>
          <a:solidFill>
            <a:schemeClr val="bg2"/>
          </a:solidFill>
          <a:ln w="9525">
            <a:solidFill>
              <a:schemeClr val="accent6"/>
            </a:solidFill>
            <a:prstDash val="solid"/>
          </a:ln>
        </p:spPr>
      </p:sp>
      <p:sp>
        <p:nvSpPr>
          <p:cNvPr id="31" name="tile-cap-3"/>
          <p:cNvSpPr txBox="1"/>
          <p:nvPr/>
        </p:nvSpPr>
        <p:spPr>
          <a:xfrm>
            <a:off x="7443033" y="4297680"/>
            <a:ext cx="1889699" cy="274320"/>
          </a:xfrm>
          <a:prstGeom prst="rect">
            <a:avLst/>
          </a:prstGeom>
          <a:noFill/>
          <a:ln/>
        </p:spPr>
        <p:txBody>
          <a:bodyPr wrap="square" lIns="0" tIns="0" rIns="0" bIns="0" rtlCol="0" anchor="t"/>
          <a:lstStyle/>
          <a:p>
            <a:pPr indent="0" marL="0">
              <a:buNone/>
            </a:pPr>
            <a:r>
              <a:rPr lang="en-US" sz="1200" dirty="0">
                <a:solidFill>
                  <a:schemeClr val="accent5"/>
                </a:solidFill>
              </a:rPr>
              <a:t>事前に伺いたいこと</a:t>
            </a:r>
            <a:endParaRPr lang="en-US" sz="1200" dirty="0"/>
          </a:p>
        </p:txBody>
      </p:sp>
      <p:sp>
        <p:nvSpPr>
          <p:cNvPr id="32" name="tile-big-3"/>
          <p:cNvSpPr txBox="1"/>
          <p:nvPr/>
        </p:nvSpPr>
        <p:spPr>
          <a:xfrm>
            <a:off x="7443033" y="4572000"/>
            <a:ext cx="1889699" cy="457200"/>
          </a:xfrm>
          <a:prstGeom prst="rect">
            <a:avLst/>
          </a:prstGeom>
          <a:noFill/>
          <a:ln/>
        </p:spPr>
        <p:txBody>
          <a:bodyPr wrap="square" lIns="0" tIns="0" rIns="0" bIns="0" rtlCol="0" anchor="t"/>
          <a:lstStyle/>
          <a:p>
            <a:pPr indent="0" marL="0">
              <a:buNone/>
            </a:pPr>
            <a:r>
              <a:rPr lang="en-US" sz="2400" b="1" dirty="0">
                <a:solidFill>
                  <a:schemeClr val="tx1"/>
                </a:solidFill>
              </a:rPr>
              <a:t>6項目</a:t>
            </a:r>
            <a:endParaRPr lang="en-US" sz="2400" dirty="0"/>
          </a:p>
        </p:txBody>
      </p:sp>
      <p:sp>
        <p:nvSpPr>
          <p:cNvPr id="33" name="tile-sub-3"/>
          <p:cNvSpPr txBox="1"/>
          <p:nvPr/>
        </p:nvSpPr>
        <p:spPr>
          <a:xfrm>
            <a:off x="7443033" y="5056632"/>
            <a:ext cx="1889699" cy="274320"/>
          </a:xfrm>
          <a:prstGeom prst="rect">
            <a:avLst/>
          </a:prstGeom>
          <a:noFill/>
          <a:ln/>
        </p:spPr>
        <p:txBody>
          <a:bodyPr wrap="square" lIns="0" tIns="0" rIns="0" bIns="0" rtlCol="0" anchor="t"/>
          <a:lstStyle/>
          <a:p>
            <a:pPr indent="0" marL="0">
              <a:buNone/>
            </a:pPr>
            <a:r>
              <a:rPr lang="en-US" sz="1100" dirty="0">
                <a:solidFill>
                  <a:schemeClr val="accent5"/>
                </a:solidFill>
              </a:rPr>
              <a:t>御社の環境に合わせる</a:t>
            </a:r>
            <a:endParaRPr lang="en-US" sz="1100" dirty="0"/>
          </a:p>
        </p:txBody>
      </p:sp>
      <p:sp>
        <p:nvSpPr>
          <p:cNvPr id="34" name="tile-4"/>
          <p:cNvSpPr/>
          <p:nvPr/>
        </p:nvSpPr>
        <p:spPr>
          <a:xfrm>
            <a:off x="9625340" y="4206240"/>
            <a:ext cx="2109155" cy="1188720"/>
          </a:xfrm>
          <a:prstGeom prst="rect">
            <a:avLst/>
          </a:prstGeom>
          <a:solidFill>
            <a:schemeClr val="bg2"/>
          </a:solidFill>
          <a:ln w="9525">
            <a:solidFill>
              <a:schemeClr val="accent6"/>
            </a:solidFill>
            <a:prstDash val="solid"/>
          </a:ln>
        </p:spPr>
      </p:sp>
      <p:sp>
        <p:nvSpPr>
          <p:cNvPr id="35" name="tile-cap-4"/>
          <p:cNvSpPr txBox="1"/>
          <p:nvPr/>
        </p:nvSpPr>
        <p:spPr>
          <a:xfrm>
            <a:off x="9735068" y="4297680"/>
            <a:ext cx="1889699" cy="274320"/>
          </a:xfrm>
          <a:prstGeom prst="rect">
            <a:avLst/>
          </a:prstGeom>
          <a:noFill/>
          <a:ln/>
        </p:spPr>
        <p:txBody>
          <a:bodyPr wrap="square" lIns="0" tIns="0" rIns="0" bIns="0" rtlCol="0" anchor="t"/>
          <a:lstStyle/>
          <a:p>
            <a:pPr indent="0" marL="0">
              <a:buNone/>
            </a:pPr>
            <a:r>
              <a:rPr lang="en-US" sz="1200" dirty="0">
                <a:solidFill>
                  <a:schemeClr val="accent5"/>
                </a:solidFill>
              </a:rPr>
              <a:t>効果の数値</a:t>
            </a:r>
            <a:endParaRPr lang="en-US" sz="1200" dirty="0"/>
          </a:p>
        </p:txBody>
      </p:sp>
      <p:sp>
        <p:nvSpPr>
          <p:cNvPr id="36" name="tile-big-4"/>
          <p:cNvSpPr txBox="1"/>
          <p:nvPr/>
        </p:nvSpPr>
        <p:spPr>
          <a:xfrm>
            <a:off x="9735068" y="4572000"/>
            <a:ext cx="1889699" cy="457200"/>
          </a:xfrm>
          <a:prstGeom prst="rect">
            <a:avLst/>
          </a:prstGeom>
          <a:noFill/>
          <a:ln/>
        </p:spPr>
        <p:txBody>
          <a:bodyPr wrap="square" lIns="0" tIns="0" rIns="0" bIns="0" rtlCol="0" anchor="t"/>
          <a:lstStyle/>
          <a:p>
            <a:pPr indent="0" marL="0">
              <a:buNone/>
            </a:pPr>
            <a:r>
              <a:rPr lang="en-US" sz="2400" b="1" dirty="0">
                <a:solidFill>
                  <a:schemeClr val="tx1"/>
                </a:solidFill>
              </a:rPr>
              <a:t>約束しない</a:t>
            </a:r>
            <a:endParaRPr lang="en-US" sz="2400" dirty="0"/>
          </a:p>
        </p:txBody>
      </p:sp>
      <p:sp>
        <p:nvSpPr>
          <p:cNvPr id="37" name="tile-sub-4"/>
          <p:cNvSpPr txBox="1"/>
          <p:nvPr/>
        </p:nvSpPr>
        <p:spPr>
          <a:xfrm>
            <a:off x="9735068" y="5056632"/>
            <a:ext cx="1889699" cy="274320"/>
          </a:xfrm>
          <a:prstGeom prst="rect">
            <a:avLst/>
          </a:prstGeom>
          <a:noFill/>
          <a:ln/>
        </p:spPr>
        <p:txBody>
          <a:bodyPr wrap="square" lIns="0" tIns="0" rIns="0" bIns="0" rtlCol="0" anchor="t"/>
          <a:lstStyle/>
          <a:p>
            <a:pPr indent="0" marL="0">
              <a:buNone/>
            </a:pPr>
            <a:r>
              <a:rPr lang="en-US" sz="1100" dirty="0">
                <a:solidFill>
                  <a:schemeClr val="accent5"/>
                </a:solidFill>
              </a:rPr>
              <a:t>4つの指標で測る</a:t>
            </a:r>
            <a:endParaRPr lang="en-US" sz="1100" dirty="0"/>
          </a:p>
        </p:txBody>
      </p:sp>
      <p:sp>
        <p:nvSpPr>
          <p:cNvPr id="38" name="partner"/>
          <p:cNvSpPr txBox="1"/>
          <p:nvPr/>
        </p:nvSpPr>
        <p:spPr>
          <a:xfrm>
            <a:off x="457200" y="5623560"/>
            <a:ext cx="11277295" cy="365760"/>
          </a:xfrm>
          <a:prstGeom prst="rect">
            <a:avLst/>
          </a:prstGeom>
          <a:noFill/>
          <a:ln/>
        </p:spPr>
        <p:txBody>
          <a:bodyPr wrap="square" lIns="0" tIns="0" rIns="0" bIns="0" rtlCol="0" anchor="ctr"/>
          <a:lstStyle/>
          <a:p>
            <a:pPr indent="0" marL="0">
              <a:buNone/>
            </a:pPr>
            <a:r>
              <a:rPr lang="en-US" sz="1300" b="1" dirty="0">
                <a:solidFill>
                  <a:schemeClr val="accent4"/>
                </a:solidFill>
              </a:rPr>
              <a:t>原因の調査と対処は、これまでどおり専門チーム・委託先が担います。担当者が自分で確かめ、手順どおりに渡せる範囲を広げる話です。</a:t>
            </a:r>
            <a:endParaRPr lang="en-US" sz="1300" dirty="0"/>
          </a:p>
        </p:txBody>
      </p:sp>
      <p:sp>
        <p:nvSpPr>
          <p:cNvPr id="39" name="footnote"/>
          <p:cNvSpPr txBox="1"/>
          <p:nvPr/>
        </p:nvSpPr>
        <p:spPr>
          <a:xfrm>
            <a:off x="457200" y="6327648"/>
            <a:ext cx="10545775" cy="384048"/>
          </a:xfrm>
          <a:prstGeom prst="rect">
            <a:avLst/>
          </a:prstGeom>
          <a:noFill/>
          <a:ln/>
        </p:spPr>
        <p:txBody>
          <a:bodyPr wrap="square" lIns="0" tIns="0" rIns="0" bIns="0" rtlCol="0" anchor="ctr"/>
          <a:lstStyle/>
          <a:p>
            <a:pPr indent="0" marL="0">
              <a:buNone/>
            </a:pPr>
            <a:r>
              <a:rPr lang="en-US" sz="1100" dirty="0">
                <a:solidFill>
                  <a:schemeClr val="accent5"/>
                </a:solidFill>
              </a:rPr>
              <a:t>人物・企業名・手順・数値は架空です。第3章の画面は実機（デモ環境）、ログはデモ用の架空データです。</a:t>
            </a:r>
            <a:endParaRPr lang="en-US" sz="1100" dirty="0"/>
          </a:p>
        </p:txBody>
      </p:sp>
      <p:sp>
        <p:nvSpPr>
          <p:cNvPr id="25" name="Slide Number Placeholder 0"/>
          <p:cNvSpPr>
            <a:spLocks noGrp="1"/>
          </p:cNvSpPr>
          <p:nvPr>
            <p:ph type="sldNum" sz="quarter" idx="4294967295"/>
          </p:nvPr>
        </p:nvSpPr>
        <p:spPr>
          <a:xfrm>
            <a:off x="1118585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7315200" cy="274320"/>
          </a:xfrm>
          <a:prstGeom prst="rect">
            <a:avLst/>
          </a:prstGeom>
          <a:noFill/>
          <a:ln/>
        </p:spPr>
        <p:txBody>
          <a:bodyPr wrap="square" lIns="0" tIns="0" rIns="0" bIns="0" rtlCol="0" anchor="ctr"/>
          <a:lstStyle/>
          <a:p>
            <a:pPr algn="l" indent="0" marL="0">
              <a:buNone/>
            </a:pPr>
            <a:r>
              <a:rPr lang="en-US" sz="1100" b="1" dirty="0">
                <a:solidFill>
                  <a:schemeClr val="accent2"/>
                </a:solidFill>
              </a:rPr>
              <a:t>シナリオ｜題材</a:t>
            </a:r>
            <a:endParaRPr lang="en-US" sz="1100" dirty="0"/>
          </a:p>
        </p:txBody>
      </p:sp>
      <p:sp>
        <p:nvSpPr>
          <p:cNvPr id="3" name="Text 0"/>
          <p:cNvSpPr/>
          <p:nvPr>
            <p:ph idx="101" type="title" hasCustomPrompt="1"/>
          </p:nvPr>
        </p:nvSpPr>
        <p:spPr>
          <a:xfrm>
            <a:off x="457200" y="457200"/>
            <a:ext cx="11277295" cy="548640"/>
          </a:xfrm>
          <a:prstGeom prst="rect">
            <a:avLst/>
          </a:prstGeom>
          <a:noFill/>
          <a:ln/>
        </p:spPr>
        <p:txBody>
          <a:bodyPr wrap="square" lIns="0" tIns="0" rIns="0" bIns="0" rtlCol="0" anchor="ctr"/>
          <a:lstStyle/>
          <a:p>
            <a:pPr algn="l" indent="0" marL="0">
              <a:buNone/>
            </a:pPr>
            <a:r>
              <a:rPr lang="en-US" sz="2200" b="1" dirty="0">
                <a:solidFill>
                  <a:schemeClr val="tx1"/>
                </a:solidFill>
              </a:rPr>
              <a:t>題材：問い合わせから、ログ分析まで（運用担当者の一日・架空）</a:t>
            </a:r>
            <a:endParaRPr lang="en-US" sz="2200" dirty="0"/>
          </a:p>
        </p:txBody>
      </p:sp>
      <p:sp>
        <p:nvSpPr>
          <p:cNvPr id="4" name="band"/>
          <p:cNvSpPr/>
          <p:nvPr/>
        </p:nvSpPr>
        <p:spPr>
          <a:xfrm>
            <a:off x="457200" y="1097280"/>
            <a:ext cx="11277295" cy="731520"/>
          </a:xfrm>
          <a:prstGeom prst="rect">
            <a:avLst/>
          </a:prstGeom>
          <a:solidFill>
            <a:schemeClr val="accent3"/>
          </a:solidFill>
          <a:ln/>
        </p:spPr>
      </p:sp>
      <p:sp>
        <p:nvSpPr>
          <p:cNvPr id="5" name="band-text"/>
          <p:cNvSpPr txBox="1"/>
          <p:nvPr/>
        </p:nvSpPr>
        <p:spPr>
          <a:xfrm>
            <a:off x="594360" y="1097280"/>
            <a:ext cx="11002975" cy="731520"/>
          </a:xfrm>
          <a:prstGeom prst="rect">
            <a:avLst/>
          </a:prstGeom>
          <a:noFill/>
          <a:ln/>
        </p:spPr>
        <p:txBody>
          <a:bodyPr wrap="square" lIns="0" tIns="0" rIns="0" bIns="0" rtlCol="0" anchor="ctr"/>
          <a:lstStyle/>
          <a:p>
            <a:pPr indent="0" marL="0">
              <a:buNone/>
            </a:pPr>
            <a:r>
              <a:rPr lang="en-US" sz="1300" b="1" dirty="0">
                <a:solidFill>
                  <a:schemeClr val="accent1"/>
                </a:solidFill>
              </a:rPr>
              <a:t>障害の原因を突き止める話ではない。問い合わせを受けた担当者が、状況を確かめ、社内手順どおりに連絡し、ログで手がかりを渡すまでがデモの範囲</a:t>
            </a:r>
            <a:endParaRPr lang="en-US" sz="1300" dirty="0"/>
          </a:p>
        </p:txBody>
      </p:sp>
      <p:sp>
        <p:nvSpPr>
          <p:cNvPr id="6" name="step-0"/>
          <p:cNvSpPr/>
          <p:nvPr/>
        </p:nvSpPr>
        <p:spPr>
          <a:xfrm>
            <a:off x="457200" y="2057400"/>
            <a:ext cx="1681429" cy="1234440"/>
          </a:xfrm>
          <a:prstGeom prst="rect">
            <a:avLst/>
          </a:prstGeom>
          <a:solidFill>
            <a:schemeClr val="bg1"/>
          </a:solidFill>
          <a:ln w="9525">
            <a:solidFill>
              <a:schemeClr val="accent6"/>
            </a:solidFill>
            <a:prstDash val="solid"/>
          </a:ln>
        </p:spPr>
      </p:sp>
      <p:sp>
        <p:nvSpPr>
          <p:cNvPr id="7" name="step-0-head"/>
          <p:cNvSpPr/>
          <p:nvPr/>
        </p:nvSpPr>
        <p:spPr>
          <a:xfrm>
            <a:off x="457200" y="2057400"/>
            <a:ext cx="1681429" cy="347472"/>
          </a:xfrm>
          <a:prstGeom prst="rect">
            <a:avLst/>
          </a:prstGeom>
          <a:solidFill>
            <a:schemeClr val="accent2"/>
          </a:solidFill>
          <a:ln/>
        </p:spPr>
      </p:sp>
      <p:sp>
        <p:nvSpPr>
          <p:cNvPr id="8" name="step-0-head-text"/>
          <p:cNvSpPr txBox="1"/>
          <p:nvPr/>
        </p:nvSpPr>
        <p:spPr>
          <a:xfrm>
            <a:off x="548640" y="2057400"/>
            <a:ext cx="1498549" cy="347472"/>
          </a:xfrm>
          <a:prstGeom prst="rect">
            <a:avLst/>
          </a:prstGeom>
          <a:noFill/>
          <a:ln/>
        </p:spPr>
        <p:txBody>
          <a:bodyPr wrap="square" lIns="0" tIns="0" rIns="0" bIns="0" rtlCol="0" anchor="ctr"/>
          <a:lstStyle/>
          <a:p>
            <a:pPr indent="0" marL="0">
              <a:buNone/>
            </a:pPr>
            <a:r>
              <a:rPr lang="en-US" sz="1200" b="1" dirty="0">
                <a:solidFill>
                  <a:schemeClr val="bg1"/>
                </a:solidFill>
              </a:rPr>
              <a:t>10:16 問い合わせ</a:t>
            </a:r>
            <a:endParaRPr lang="en-US" sz="1200" dirty="0"/>
          </a:p>
        </p:txBody>
      </p:sp>
      <p:sp>
        <p:nvSpPr>
          <p:cNvPr id="9" name="step-body-0"/>
          <p:cNvSpPr txBox="1"/>
          <p:nvPr/>
        </p:nvSpPr>
        <p:spPr>
          <a:xfrm>
            <a:off x="548640" y="2478024"/>
            <a:ext cx="1498549" cy="731520"/>
          </a:xfrm>
          <a:prstGeom prst="rect">
            <a:avLst/>
          </a:prstGeom>
          <a:noFill/>
          <a:ln/>
        </p:spPr>
        <p:txBody>
          <a:bodyPr wrap="square" lIns="0" tIns="0" rIns="0" bIns="0" rtlCol="0" anchor="t"/>
          <a:lstStyle/>
          <a:p>
            <a:pPr indent="0" marL="0">
              <a:buNone/>
            </a:pPr>
            <a:r>
              <a:rPr lang="en-US" sz="1200" dirty="0">
                <a:solidFill>
                  <a:schemeClr val="tx1"/>
                </a:solidFill>
              </a:rPr>
              <a:t>業務部門から「契約照会の画面が遅い」</a:t>
            </a:r>
            <a:endParaRPr lang="en-US" sz="1200" dirty="0"/>
          </a:p>
        </p:txBody>
      </p:sp>
      <p:sp>
        <p:nvSpPr>
          <p:cNvPr id="10" name="step-arrow-0"/>
          <p:cNvSpPr/>
          <p:nvPr/>
        </p:nvSpPr>
        <p:spPr>
          <a:xfrm>
            <a:off x="2202637" y="2093976"/>
            <a:ext cx="109728" cy="274320"/>
          </a:xfrm>
          <a:prstGeom prst="chevron">
            <a:avLst/>
          </a:prstGeom>
          <a:solidFill>
            <a:schemeClr val="accent6"/>
          </a:solidFill>
          <a:ln/>
        </p:spPr>
      </p:sp>
      <p:sp>
        <p:nvSpPr>
          <p:cNvPr id="11" name="step-1"/>
          <p:cNvSpPr/>
          <p:nvPr/>
        </p:nvSpPr>
        <p:spPr>
          <a:xfrm>
            <a:off x="2376373" y="2057400"/>
            <a:ext cx="1681429" cy="1234440"/>
          </a:xfrm>
          <a:prstGeom prst="rect">
            <a:avLst/>
          </a:prstGeom>
          <a:solidFill>
            <a:schemeClr val="bg1"/>
          </a:solidFill>
          <a:ln w="9525">
            <a:solidFill>
              <a:schemeClr val="accent6"/>
            </a:solidFill>
            <a:prstDash val="solid"/>
          </a:ln>
        </p:spPr>
      </p:sp>
      <p:sp>
        <p:nvSpPr>
          <p:cNvPr id="12" name="step-1-head"/>
          <p:cNvSpPr/>
          <p:nvPr/>
        </p:nvSpPr>
        <p:spPr>
          <a:xfrm>
            <a:off x="2376373" y="2057400"/>
            <a:ext cx="1681429" cy="347472"/>
          </a:xfrm>
          <a:prstGeom prst="rect">
            <a:avLst/>
          </a:prstGeom>
          <a:solidFill>
            <a:schemeClr val="accent2"/>
          </a:solidFill>
          <a:ln/>
        </p:spPr>
      </p:sp>
      <p:sp>
        <p:nvSpPr>
          <p:cNvPr id="13" name="step-1-head-text"/>
          <p:cNvSpPr txBox="1"/>
          <p:nvPr/>
        </p:nvSpPr>
        <p:spPr>
          <a:xfrm>
            <a:off x="2467813" y="2057400"/>
            <a:ext cx="1498549" cy="347472"/>
          </a:xfrm>
          <a:prstGeom prst="rect">
            <a:avLst/>
          </a:prstGeom>
          <a:noFill/>
          <a:ln/>
        </p:spPr>
        <p:txBody>
          <a:bodyPr wrap="square" lIns="0" tIns="0" rIns="0" bIns="0" rtlCol="0" anchor="ctr"/>
          <a:lstStyle/>
          <a:p>
            <a:pPr indent="0" marL="0">
              <a:buNone/>
            </a:pPr>
            <a:r>
              <a:rPr lang="en-US" sz="1200" b="1" dirty="0">
                <a:solidFill>
                  <a:schemeClr val="bg1"/>
                </a:solidFill>
              </a:rPr>
              <a:t>10:17 状況確認</a:t>
            </a:r>
            <a:endParaRPr lang="en-US" sz="1200" dirty="0"/>
          </a:p>
        </p:txBody>
      </p:sp>
      <p:sp>
        <p:nvSpPr>
          <p:cNvPr id="14" name="step-body-1"/>
          <p:cNvSpPr txBox="1"/>
          <p:nvPr/>
        </p:nvSpPr>
        <p:spPr>
          <a:xfrm>
            <a:off x="2467813" y="2478024"/>
            <a:ext cx="1498549" cy="731520"/>
          </a:xfrm>
          <a:prstGeom prst="rect">
            <a:avLst/>
          </a:prstGeom>
          <a:noFill/>
          <a:ln/>
        </p:spPr>
        <p:txBody>
          <a:bodyPr wrap="square" lIns="0" tIns="0" rIns="0" bIns="0" rtlCol="0" anchor="t"/>
          <a:lstStyle/>
          <a:p>
            <a:pPr indent="0" marL="0">
              <a:buNone/>
            </a:pPr>
            <a:r>
              <a:rPr lang="en-US" sz="1200" dirty="0">
                <a:solidFill>
                  <a:schemeClr val="tx1"/>
                </a:solidFill>
              </a:rPr>
              <a:t>健全性スコア38。応答時間とDB接続待ちが悪化</a:t>
            </a:r>
            <a:endParaRPr lang="en-US" sz="1200" dirty="0"/>
          </a:p>
        </p:txBody>
      </p:sp>
      <p:sp>
        <p:nvSpPr>
          <p:cNvPr id="15" name="step-arrow-1"/>
          <p:cNvSpPr/>
          <p:nvPr/>
        </p:nvSpPr>
        <p:spPr>
          <a:xfrm>
            <a:off x="4121810" y="2093976"/>
            <a:ext cx="109728" cy="274320"/>
          </a:xfrm>
          <a:prstGeom prst="chevron">
            <a:avLst/>
          </a:prstGeom>
          <a:solidFill>
            <a:schemeClr val="accent6"/>
          </a:solidFill>
          <a:ln/>
        </p:spPr>
      </p:sp>
      <p:sp>
        <p:nvSpPr>
          <p:cNvPr id="16" name="step-2"/>
          <p:cNvSpPr/>
          <p:nvPr/>
        </p:nvSpPr>
        <p:spPr>
          <a:xfrm>
            <a:off x="4295546" y="2057400"/>
            <a:ext cx="1681429" cy="1234440"/>
          </a:xfrm>
          <a:prstGeom prst="rect">
            <a:avLst/>
          </a:prstGeom>
          <a:solidFill>
            <a:schemeClr val="bg1"/>
          </a:solidFill>
          <a:ln w="9525">
            <a:solidFill>
              <a:schemeClr val="accent6"/>
            </a:solidFill>
            <a:prstDash val="solid"/>
          </a:ln>
        </p:spPr>
      </p:sp>
      <p:sp>
        <p:nvSpPr>
          <p:cNvPr id="17" name="step-2-head"/>
          <p:cNvSpPr/>
          <p:nvPr/>
        </p:nvSpPr>
        <p:spPr>
          <a:xfrm>
            <a:off x="4295546" y="2057400"/>
            <a:ext cx="1681429" cy="347472"/>
          </a:xfrm>
          <a:prstGeom prst="rect">
            <a:avLst/>
          </a:prstGeom>
          <a:solidFill>
            <a:schemeClr val="accent2"/>
          </a:solidFill>
          <a:ln/>
        </p:spPr>
      </p:sp>
      <p:sp>
        <p:nvSpPr>
          <p:cNvPr id="18" name="step-2-head-text"/>
          <p:cNvSpPr txBox="1"/>
          <p:nvPr/>
        </p:nvSpPr>
        <p:spPr>
          <a:xfrm>
            <a:off x="4386986" y="2057400"/>
            <a:ext cx="1498549" cy="347472"/>
          </a:xfrm>
          <a:prstGeom prst="rect">
            <a:avLst/>
          </a:prstGeom>
          <a:noFill/>
          <a:ln/>
        </p:spPr>
        <p:txBody>
          <a:bodyPr wrap="square" lIns="0" tIns="0" rIns="0" bIns="0" rtlCol="0" anchor="ctr"/>
          <a:lstStyle/>
          <a:p>
            <a:pPr indent="0" marL="0">
              <a:buNone/>
            </a:pPr>
            <a:r>
              <a:rPr lang="en-US" sz="1200" b="1" dirty="0">
                <a:solidFill>
                  <a:schemeClr val="bg1"/>
                </a:solidFill>
              </a:rPr>
              <a:t>10:18 一次確認</a:t>
            </a:r>
            <a:endParaRPr lang="en-US" sz="1200" dirty="0"/>
          </a:p>
        </p:txBody>
      </p:sp>
      <p:sp>
        <p:nvSpPr>
          <p:cNvPr id="19" name="step-body-2"/>
          <p:cNvSpPr txBox="1"/>
          <p:nvPr/>
        </p:nvSpPr>
        <p:spPr>
          <a:xfrm>
            <a:off x="4386986" y="2478024"/>
            <a:ext cx="1498549" cy="731520"/>
          </a:xfrm>
          <a:prstGeom prst="rect">
            <a:avLst/>
          </a:prstGeom>
          <a:noFill/>
          <a:ln/>
        </p:spPr>
        <p:txBody>
          <a:bodyPr wrap="square" lIns="0" tIns="0" rIns="0" bIns="0" rtlCol="0" anchor="t"/>
          <a:lstStyle/>
          <a:p>
            <a:pPr indent="0" marL="0">
              <a:buNone/>
            </a:pPr>
            <a:r>
              <a:rPr lang="en-US" sz="1200" dirty="0">
                <a:solidFill>
                  <a:schemeClr val="tx1"/>
                </a:solidFill>
              </a:rPr>
              <a:t>エピソードの概要・影響範囲・関連サーバー</a:t>
            </a:r>
            <a:endParaRPr lang="en-US" sz="1200" dirty="0"/>
          </a:p>
        </p:txBody>
      </p:sp>
      <p:sp>
        <p:nvSpPr>
          <p:cNvPr id="20" name="step-arrow-2"/>
          <p:cNvSpPr/>
          <p:nvPr/>
        </p:nvSpPr>
        <p:spPr>
          <a:xfrm>
            <a:off x="6040984" y="2093976"/>
            <a:ext cx="109728" cy="274320"/>
          </a:xfrm>
          <a:prstGeom prst="chevron">
            <a:avLst/>
          </a:prstGeom>
          <a:solidFill>
            <a:schemeClr val="accent6"/>
          </a:solidFill>
          <a:ln/>
        </p:spPr>
      </p:sp>
      <p:sp>
        <p:nvSpPr>
          <p:cNvPr id="21" name="step-3"/>
          <p:cNvSpPr/>
          <p:nvPr/>
        </p:nvSpPr>
        <p:spPr>
          <a:xfrm>
            <a:off x="6214720" y="2057400"/>
            <a:ext cx="1681429" cy="1234440"/>
          </a:xfrm>
          <a:prstGeom prst="rect">
            <a:avLst/>
          </a:prstGeom>
          <a:solidFill>
            <a:schemeClr val="bg1"/>
          </a:solidFill>
          <a:ln w="9525">
            <a:solidFill>
              <a:schemeClr val="accent6"/>
            </a:solidFill>
            <a:prstDash val="solid"/>
          </a:ln>
        </p:spPr>
      </p:sp>
      <p:sp>
        <p:nvSpPr>
          <p:cNvPr id="22" name="step-3-head"/>
          <p:cNvSpPr/>
          <p:nvPr/>
        </p:nvSpPr>
        <p:spPr>
          <a:xfrm>
            <a:off x="6214720" y="2057400"/>
            <a:ext cx="1681429" cy="347472"/>
          </a:xfrm>
          <a:prstGeom prst="rect">
            <a:avLst/>
          </a:prstGeom>
          <a:solidFill>
            <a:schemeClr val="accent2"/>
          </a:solidFill>
          <a:ln/>
        </p:spPr>
      </p:sp>
      <p:sp>
        <p:nvSpPr>
          <p:cNvPr id="23" name="step-3-head-text"/>
          <p:cNvSpPr txBox="1"/>
          <p:nvPr/>
        </p:nvSpPr>
        <p:spPr>
          <a:xfrm>
            <a:off x="6306160" y="2057400"/>
            <a:ext cx="1498549" cy="347472"/>
          </a:xfrm>
          <a:prstGeom prst="rect">
            <a:avLst/>
          </a:prstGeom>
          <a:noFill/>
          <a:ln/>
        </p:spPr>
        <p:txBody>
          <a:bodyPr wrap="square" lIns="0" tIns="0" rIns="0" bIns="0" rtlCol="0" anchor="ctr"/>
          <a:lstStyle/>
          <a:p>
            <a:pPr indent="0" marL="0">
              <a:buNone/>
            </a:pPr>
            <a:r>
              <a:rPr lang="en-US" sz="1200" b="1" dirty="0">
                <a:solidFill>
                  <a:schemeClr val="bg1"/>
                </a:solidFill>
              </a:rPr>
              <a:t>10:22 一次連絡</a:t>
            </a:r>
            <a:endParaRPr lang="en-US" sz="1200" dirty="0"/>
          </a:p>
        </p:txBody>
      </p:sp>
      <p:sp>
        <p:nvSpPr>
          <p:cNvPr id="24" name="step-body-3"/>
          <p:cNvSpPr txBox="1"/>
          <p:nvPr/>
        </p:nvSpPr>
        <p:spPr>
          <a:xfrm>
            <a:off x="6306160" y="2478024"/>
            <a:ext cx="1498549" cy="731520"/>
          </a:xfrm>
          <a:prstGeom prst="rect">
            <a:avLst/>
          </a:prstGeom>
          <a:noFill/>
          <a:ln/>
        </p:spPr>
        <p:txBody>
          <a:bodyPr wrap="square" lIns="0" tIns="0" rIns="0" bIns="0" rtlCol="0" anchor="t"/>
          <a:lstStyle/>
          <a:p>
            <a:pPr indent="0" marL="0">
              <a:buNone/>
            </a:pPr>
            <a:r>
              <a:rPr lang="en-US" sz="1200" dirty="0">
                <a:solidFill>
                  <a:schemeClr val="tx1"/>
                </a:solidFill>
              </a:rPr>
              <a:t>優先度「中」で、社内手順どおりに連絡</a:t>
            </a:r>
            <a:endParaRPr lang="en-US" sz="1200" dirty="0"/>
          </a:p>
        </p:txBody>
      </p:sp>
      <p:sp>
        <p:nvSpPr>
          <p:cNvPr id="25" name="step-arrow-3"/>
          <p:cNvSpPr/>
          <p:nvPr/>
        </p:nvSpPr>
        <p:spPr>
          <a:xfrm>
            <a:off x="7960157" y="2093976"/>
            <a:ext cx="109728" cy="274320"/>
          </a:xfrm>
          <a:prstGeom prst="chevron">
            <a:avLst/>
          </a:prstGeom>
          <a:solidFill>
            <a:schemeClr val="accent6"/>
          </a:solidFill>
          <a:ln/>
        </p:spPr>
      </p:sp>
      <p:sp>
        <p:nvSpPr>
          <p:cNvPr id="26" name="step-4"/>
          <p:cNvSpPr/>
          <p:nvPr/>
        </p:nvSpPr>
        <p:spPr>
          <a:xfrm>
            <a:off x="8133893" y="2057400"/>
            <a:ext cx="1681429" cy="1234440"/>
          </a:xfrm>
          <a:prstGeom prst="rect">
            <a:avLst/>
          </a:prstGeom>
          <a:solidFill>
            <a:schemeClr val="bg1"/>
          </a:solidFill>
          <a:ln w="9525">
            <a:solidFill>
              <a:schemeClr val="accent6"/>
            </a:solidFill>
            <a:prstDash val="solid"/>
          </a:ln>
        </p:spPr>
      </p:sp>
      <p:sp>
        <p:nvSpPr>
          <p:cNvPr id="27" name="step-4-head"/>
          <p:cNvSpPr/>
          <p:nvPr/>
        </p:nvSpPr>
        <p:spPr>
          <a:xfrm>
            <a:off x="8133893" y="2057400"/>
            <a:ext cx="1681429" cy="347472"/>
          </a:xfrm>
          <a:prstGeom prst="rect">
            <a:avLst/>
          </a:prstGeom>
          <a:solidFill>
            <a:schemeClr val="accent1"/>
          </a:solidFill>
          <a:ln/>
        </p:spPr>
      </p:sp>
      <p:sp>
        <p:nvSpPr>
          <p:cNvPr id="28" name="step-4-head-text"/>
          <p:cNvSpPr txBox="1"/>
          <p:nvPr/>
        </p:nvSpPr>
        <p:spPr>
          <a:xfrm>
            <a:off x="8225333" y="2057400"/>
            <a:ext cx="1498549" cy="347472"/>
          </a:xfrm>
          <a:prstGeom prst="rect">
            <a:avLst/>
          </a:prstGeom>
          <a:noFill/>
          <a:ln/>
        </p:spPr>
        <p:txBody>
          <a:bodyPr wrap="square" lIns="0" tIns="0" rIns="0" bIns="0" rtlCol="0" anchor="ctr"/>
          <a:lstStyle/>
          <a:p>
            <a:pPr indent="0" marL="0">
              <a:buNone/>
            </a:pPr>
            <a:r>
              <a:rPr lang="en-US" sz="1200" b="1" dirty="0">
                <a:solidFill>
                  <a:schemeClr val="bg1"/>
                </a:solidFill>
              </a:rPr>
              <a:t>10:30 ログ調査</a:t>
            </a:r>
            <a:endParaRPr lang="en-US" sz="1200" dirty="0"/>
          </a:p>
        </p:txBody>
      </p:sp>
      <p:sp>
        <p:nvSpPr>
          <p:cNvPr id="29" name="step-body-4"/>
          <p:cNvSpPr txBox="1"/>
          <p:nvPr/>
        </p:nvSpPr>
        <p:spPr>
          <a:xfrm>
            <a:off x="8225333" y="2478024"/>
            <a:ext cx="1498549" cy="731520"/>
          </a:xfrm>
          <a:prstGeom prst="rect">
            <a:avLst/>
          </a:prstGeom>
          <a:noFill/>
          <a:ln/>
        </p:spPr>
        <p:txBody>
          <a:bodyPr wrap="square" lIns="0" tIns="0" rIns="0" bIns="0" rtlCol="0" anchor="t"/>
          <a:lstStyle/>
          <a:p>
            <a:pPr indent="0" marL="0">
              <a:buNone/>
            </a:pPr>
            <a:r>
              <a:rPr lang="en-US" sz="1200" dirty="0">
                <a:solidFill>
                  <a:schemeClr val="tx1"/>
                </a:solidFill>
              </a:rPr>
              <a:t>専門チームの依頼で、接続エラーの推移を確認</a:t>
            </a:r>
            <a:endParaRPr lang="en-US" sz="1200" dirty="0"/>
          </a:p>
        </p:txBody>
      </p:sp>
      <p:sp>
        <p:nvSpPr>
          <p:cNvPr id="30" name="step-arrow-4"/>
          <p:cNvSpPr/>
          <p:nvPr/>
        </p:nvSpPr>
        <p:spPr>
          <a:xfrm>
            <a:off x="9879330" y="2093976"/>
            <a:ext cx="109728" cy="274320"/>
          </a:xfrm>
          <a:prstGeom prst="chevron">
            <a:avLst/>
          </a:prstGeom>
          <a:solidFill>
            <a:schemeClr val="accent6"/>
          </a:solidFill>
          <a:ln/>
        </p:spPr>
      </p:sp>
      <p:sp>
        <p:nvSpPr>
          <p:cNvPr id="31" name="step-5"/>
          <p:cNvSpPr/>
          <p:nvPr/>
        </p:nvSpPr>
        <p:spPr>
          <a:xfrm>
            <a:off x="10053066" y="2057400"/>
            <a:ext cx="1681429" cy="1234440"/>
          </a:xfrm>
          <a:prstGeom prst="rect">
            <a:avLst/>
          </a:prstGeom>
          <a:solidFill>
            <a:schemeClr val="bg1"/>
          </a:solidFill>
          <a:ln w="9525">
            <a:solidFill>
              <a:schemeClr val="accent6"/>
            </a:solidFill>
            <a:prstDash val="solid"/>
          </a:ln>
        </p:spPr>
      </p:sp>
      <p:sp>
        <p:nvSpPr>
          <p:cNvPr id="32" name="step-5-head"/>
          <p:cNvSpPr/>
          <p:nvPr/>
        </p:nvSpPr>
        <p:spPr>
          <a:xfrm>
            <a:off x="10053066" y="2057400"/>
            <a:ext cx="1681429" cy="347472"/>
          </a:xfrm>
          <a:prstGeom prst="rect">
            <a:avLst/>
          </a:prstGeom>
          <a:solidFill>
            <a:schemeClr val="accent1"/>
          </a:solidFill>
          <a:ln/>
        </p:spPr>
      </p:sp>
      <p:sp>
        <p:nvSpPr>
          <p:cNvPr id="33" name="step-5-head-text"/>
          <p:cNvSpPr txBox="1"/>
          <p:nvPr/>
        </p:nvSpPr>
        <p:spPr>
          <a:xfrm>
            <a:off x="10144506" y="2057400"/>
            <a:ext cx="1498549" cy="347472"/>
          </a:xfrm>
          <a:prstGeom prst="rect">
            <a:avLst/>
          </a:prstGeom>
          <a:noFill/>
          <a:ln/>
        </p:spPr>
        <p:txBody>
          <a:bodyPr wrap="square" lIns="0" tIns="0" rIns="0" bIns="0" rtlCol="0" anchor="ctr"/>
          <a:lstStyle/>
          <a:p>
            <a:pPr indent="0" marL="0">
              <a:buNone/>
            </a:pPr>
            <a:r>
              <a:rPr lang="en-US" sz="1200" b="1" dirty="0">
                <a:solidFill>
                  <a:schemeClr val="bg1"/>
                </a:solidFill>
              </a:rPr>
              <a:t>10:34 共有・保存</a:t>
            </a:r>
            <a:endParaRPr lang="en-US" sz="1200" dirty="0"/>
          </a:p>
        </p:txBody>
      </p:sp>
      <p:sp>
        <p:nvSpPr>
          <p:cNvPr id="34" name="step-body-5"/>
          <p:cNvSpPr txBox="1"/>
          <p:nvPr/>
        </p:nvSpPr>
        <p:spPr>
          <a:xfrm>
            <a:off x="10144506" y="2478024"/>
            <a:ext cx="1498549" cy="731520"/>
          </a:xfrm>
          <a:prstGeom prst="rect">
            <a:avLst/>
          </a:prstGeom>
          <a:noFill/>
          <a:ln/>
        </p:spPr>
        <p:txBody>
          <a:bodyPr wrap="square" lIns="0" tIns="0" rIns="0" bIns="0" rtlCol="0" anchor="t"/>
          <a:lstStyle/>
          <a:p>
            <a:pPr indent="0" marL="0">
              <a:buNone/>
            </a:pPr>
            <a:r>
              <a:rPr lang="en-US" sz="1200" dirty="0">
                <a:solidFill>
                  <a:schemeClr val="tx1"/>
                </a:solidFill>
              </a:rPr>
              <a:t>確認を依頼し、レポートとして保存</a:t>
            </a:r>
            <a:endParaRPr lang="en-US" sz="1200" dirty="0"/>
          </a:p>
        </p:txBody>
      </p:sp>
      <p:sp>
        <p:nvSpPr>
          <p:cNvPr id="35" name="chapter-0"/>
          <p:cNvSpPr/>
          <p:nvPr/>
        </p:nvSpPr>
        <p:spPr>
          <a:xfrm>
            <a:off x="457200" y="3401568"/>
            <a:ext cx="3600602" cy="365760"/>
          </a:xfrm>
          <a:prstGeom prst="rect">
            <a:avLst/>
          </a:prstGeom>
          <a:solidFill>
            <a:schemeClr val="bg2"/>
          </a:solidFill>
          <a:ln/>
        </p:spPr>
      </p:sp>
      <p:sp>
        <p:nvSpPr>
          <p:cNvPr id="36" name="chapter-text-0"/>
          <p:cNvSpPr txBox="1"/>
          <p:nvPr/>
        </p:nvSpPr>
        <p:spPr>
          <a:xfrm>
            <a:off x="457200" y="3401568"/>
            <a:ext cx="3600602" cy="365760"/>
          </a:xfrm>
          <a:prstGeom prst="rect">
            <a:avLst/>
          </a:prstGeom>
          <a:noFill/>
          <a:ln/>
        </p:spPr>
        <p:txBody>
          <a:bodyPr wrap="square" lIns="0" tIns="0" rIns="0" bIns="0" rtlCol="0" anchor="ctr"/>
          <a:lstStyle/>
          <a:p>
            <a:pPr algn="ctr" indent="0" marL="0">
              <a:buNone/>
            </a:pPr>
            <a:r>
              <a:rPr lang="en-US" sz="1200" dirty="0">
                <a:solidFill>
                  <a:schemeClr val="accent5"/>
                </a:solidFill>
              </a:rPr>
              <a:t>第1章　状況確認（画面イメージ）</a:t>
            </a:r>
            <a:endParaRPr lang="en-US" sz="1200" dirty="0"/>
          </a:p>
        </p:txBody>
      </p:sp>
      <p:sp>
        <p:nvSpPr>
          <p:cNvPr id="37" name="chapter-1"/>
          <p:cNvSpPr/>
          <p:nvPr/>
        </p:nvSpPr>
        <p:spPr>
          <a:xfrm>
            <a:off x="4295546" y="3401568"/>
            <a:ext cx="3600602" cy="365760"/>
          </a:xfrm>
          <a:prstGeom prst="rect">
            <a:avLst/>
          </a:prstGeom>
          <a:solidFill>
            <a:schemeClr val="bg2"/>
          </a:solidFill>
          <a:ln/>
        </p:spPr>
      </p:sp>
      <p:sp>
        <p:nvSpPr>
          <p:cNvPr id="38" name="chapter-text-1"/>
          <p:cNvSpPr txBox="1"/>
          <p:nvPr/>
        </p:nvSpPr>
        <p:spPr>
          <a:xfrm>
            <a:off x="4295546" y="3401568"/>
            <a:ext cx="3600602" cy="365760"/>
          </a:xfrm>
          <a:prstGeom prst="rect">
            <a:avLst/>
          </a:prstGeom>
          <a:noFill/>
          <a:ln/>
        </p:spPr>
        <p:txBody>
          <a:bodyPr wrap="square" lIns="0" tIns="0" rIns="0" bIns="0" rtlCol="0" anchor="ctr"/>
          <a:lstStyle/>
          <a:p>
            <a:pPr algn="ctr" indent="0" marL="0">
              <a:buNone/>
            </a:pPr>
            <a:r>
              <a:rPr lang="en-US" sz="1200" dirty="0">
                <a:solidFill>
                  <a:schemeClr val="accent5"/>
                </a:solidFill>
              </a:rPr>
              <a:t>第2章　一次確認・連絡（画面イメージ）</a:t>
            </a:r>
            <a:endParaRPr lang="en-US" sz="1200" dirty="0"/>
          </a:p>
        </p:txBody>
      </p:sp>
      <p:sp>
        <p:nvSpPr>
          <p:cNvPr id="39" name="chapter-2"/>
          <p:cNvSpPr/>
          <p:nvPr/>
        </p:nvSpPr>
        <p:spPr>
          <a:xfrm>
            <a:off x="8133893" y="3401568"/>
            <a:ext cx="3600602" cy="365760"/>
          </a:xfrm>
          <a:prstGeom prst="rect">
            <a:avLst/>
          </a:prstGeom>
          <a:solidFill>
            <a:schemeClr val="accent1"/>
          </a:solidFill>
          <a:ln/>
        </p:spPr>
      </p:sp>
      <p:sp>
        <p:nvSpPr>
          <p:cNvPr id="40" name="chapter-text-2"/>
          <p:cNvSpPr txBox="1"/>
          <p:nvPr/>
        </p:nvSpPr>
        <p:spPr>
          <a:xfrm>
            <a:off x="8133893" y="3401568"/>
            <a:ext cx="3600602" cy="365760"/>
          </a:xfrm>
          <a:prstGeom prst="rect">
            <a:avLst/>
          </a:prstGeom>
          <a:noFill/>
          <a:ln/>
        </p:spPr>
        <p:txBody>
          <a:bodyPr wrap="square" lIns="0" tIns="0" rIns="0" bIns="0" rtlCol="0" anchor="ctr"/>
          <a:lstStyle/>
          <a:p>
            <a:pPr algn="ctr" indent="0" marL="0">
              <a:buNone/>
            </a:pPr>
            <a:r>
              <a:rPr lang="en-US" sz="1200" b="1" dirty="0">
                <a:solidFill>
                  <a:schemeClr val="bg1"/>
                </a:solidFill>
              </a:rPr>
              <a:t>第3章　ログを調べる（実画面）</a:t>
            </a:r>
            <a:endParaRPr lang="en-US" sz="1200" dirty="0"/>
          </a:p>
        </p:txBody>
      </p:sp>
      <p:sp>
        <p:nvSpPr>
          <p:cNvPr id="41" name="hypo"/>
          <p:cNvSpPr/>
          <p:nvPr/>
        </p:nvSpPr>
        <p:spPr>
          <a:xfrm>
            <a:off x="457200" y="3995928"/>
            <a:ext cx="11277295" cy="2130552"/>
          </a:xfrm>
          <a:prstGeom prst="rect">
            <a:avLst/>
          </a:prstGeom>
          <a:solidFill>
            <a:srgbClr val="FFF3E3"/>
          </a:solidFill>
          <a:ln/>
        </p:spPr>
      </p:sp>
      <p:sp>
        <p:nvSpPr>
          <p:cNvPr id="42" name="hypo-head"/>
          <p:cNvSpPr txBox="1"/>
          <p:nvPr/>
        </p:nvSpPr>
        <p:spPr>
          <a:xfrm>
            <a:off x="640080" y="4105656"/>
            <a:ext cx="4572000" cy="292608"/>
          </a:xfrm>
          <a:prstGeom prst="rect">
            <a:avLst/>
          </a:prstGeom>
          <a:noFill/>
          <a:ln/>
        </p:spPr>
        <p:txBody>
          <a:bodyPr wrap="square" lIns="0" tIns="0" rIns="0" bIns="0" rtlCol="0" anchor="t"/>
          <a:lstStyle/>
          <a:p>
            <a:pPr indent="0" marL="0">
              <a:buNone/>
            </a:pPr>
            <a:r>
              <a:rPr lang="en-US" sz="1300" b="1" dirty="0">
                <a:solidFill>
                  <a:schemeClr val="accent4"/>
                </a:solidFill>
              </a:rPr>
              <a:t>デモが置く仮説（確認必要）</a:t>
            </a:r>
            <a:endParaRPr lang="en-US" sz="1300" dirty="0"/>
          </a:p>
        </p:txBody>
      </p:sp>
      <p:sp>
        <p:nvSpPr>
          <p:cNvPr id="43" name="hypo-body"/>
          <p:cNvSpPr txBox="1"/>
          <p:nvPr/>
        </p:nvSpPr>
        <p:spPr>
          <a:xfrm>
            <a:off x="640080" y="4498848"/>
            <a:ext cx="10911535" cy="1536192"/>
          </a:xfrm>
          <a:prstGeom prst="rect">
            <a:avLst/>
          </a:prstGeom>
          <a:noFill/>
          <a:ln/>
        </p:spPr>
        <p:txBody>
          <a:bodyPr wrap="square" lIns="0" tIns="0" rIns="0" bIns="0" rtlCol="0" anchor="t"/>
          <a:lstStyle/>
          <a:p>
            <a:pPr marL="152400" indent="-152400">
              <a:spcAft>
                <a:spcPts val="1000"/>
              </a:spcAft>
              <a:buSzPct val="100000"/>
              <a:buChar char="•"/>
            </a:pPr>
            <a:r>
              <a:rPr lang="en-US" sz="1400" dirty="0">
                <a:solidFill>
                  <a:schemeClr val="tx1"/>
                </a:solidFill>
              </a:rPr>
              <a:t>仮説1　画面・操作で迷う：Splunkを月に数回しか使わない人は、画面の場所・時間範囲・サービスの選び分けで止まる</a:t>
            </a:r>
            <a:endParaRPr lang="en-US" sz="1400" dirty="0"/>
          </a:p>
          <a:p>
            <a:pPr marL="152400" indent="-152400">
              <a:spcAft>
                <a:spcPts val="1000"/>
              </a:spcAft>
              <a:buSzPct val="100000"/>
              <a:buChar char="•"/>
            </a:pPr>
            <a:r>
              <a:rPr lang="en-US" sz="1400" dirty="0">
                <a:solidFill>
                  <a:schemeClr val="tx1"/>
                </a:solidFill>
              </a:rPr>
              <a:t>仮説3　作成・修正で止まる：SPLを一から書けず、専門チームに依頼して待つ</a:t>
            </a:r>
            <a:endParaRPr lang="en-US" sz="1400" dirty="0"/>
          </a:p>
          <a:p>
            <a:pPr marL="152400" indent="-152400">
              <a:spcAft>
                <a:spcPts val="1000"/>
              </a:spcAft>
              <a:buSzPct val="100000"/>
              <a:buChar char="•"/>
            </a:pPr>
            <a:r>
              <a:rPr lang="en-US" sz="1400" dirty="0">
                <a:solidFill>
                  <a:schemeClr val="tx1"/>
                </a:solidFill>
              </a:rPr>
              <a:t>仮説4・5　実務で再現できない／学びを再利用できない：研修で覚えた一次確認の手順が障害時に再現できず、調べた条件も残らない</a:t>
            </a:r>
            <a:endParaRPr lang="en-US" sz="1400" dirty="0"/>
          </a:p>
        </p:txBody>
      </p:sp>
      <p:sp>
        <p:nvSpPr>
          <p:cNvPr id="44" name="footnote"/>
          <p:cNvSpPr txBox="1"/>
          <p:nvPr/>
        </p:nvSpPr>
        <p:spPr>
          <a:xfrm>
            <a:off x="457200" y="6327648"/>
            <a:ext cx="10545775" cy="384048"/>
          </a:xfrm>
          <a:prstGeom prst="rect">
            <a:avLst/>
          </a:prstGeom>
          <a:noFill/>
          <a:ln/>
        </p:spPr>
        <p:txBody>
          <a:bodyPr wrap="square" lIns="0" tIns="0" rIns="0" bIns="0" rtlCol="0" anchor="ctr"/>
          <a:lstStyle/>
          <a:p>
            <a:pPr indent="0" marL="0">
              <a:buNone/>
            </a:pPr>
            <a:r>
              <a:rPr lang="en-US" sz="1100" dirty="0">
                <a:solidFill>
                  <a:schemeClr val="accent5"/>
                </a:solidFill>
              </a:rPr>
              <a:t>時刻・件数はデモ用の架空の値です。仮説の番号は、動画の章扉と同じ番号です。</a:t>
            </a:r>
            <a:endParaRPr lang="en-US" sz="1100" dirty="0"/>
          </a:p>
        </p:txBody>
      </p:sp>
      <p:sp>
        <p:nvSpPr>
          <p:cNvPr id="25" name="Slide Number Placeholder 0"/>
          <p:cNvSpPr>
            <a:spLocks noGrp="1"/>
          </p:cNvSpPr>
          <p:nvPr>
            <p:ph type="sldNum" sz="quarter" idx="4294967295"/>
          </p:nvPr>
        </p:nvSpPr>
        <p:spPr>
          <a:xfrm>
            <a:off x="1118585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7315200" cy="274320"/>
          </a:xfrm>
          <a:prstGeom prst="rect">
            <a:avLst/>
          </a:prstGeom>
          <a:noFill/>
          <a:ln/>
        </p:spPr>
        <p:txBody>
          <a:bodyPr wrap="square" lIns="0" tIns="0" rIns="0" bIns="0" rtlCol="0" anchor="ctr"/>
          <a:lstStyle/>
          <a:p>
            <a:pPr algn="l" indent="0" marL="0">
              <a:buNone/>
            </a:pPr>
            <a:r>
              <a:rPr lang="en-US" sz="1100" b="1" dirty="0">
                <a:solidFill>
                  <a:schemeClr val="accent2"/>
                </a:solidFill>
              </a:rPr>
              <a:t>シナリオ｜構造</a:t>
            </a:r>
            <a:endParaRPr lang="en-US" sz="1100" dirty="0"/>
          </a:p>
        </p:txBody>
      </p:sp>
      <p:sp>
        <p:nvSpPr>
          <p:cNvPr id="3" name="Text 0"/>
          <p:cNvSpPr/>
          <p:nvPr>
            <p:ph idx="101" type="title" hasCustomPrompt="1"/>
          </p:nvPr>
        </p:nvSpPr>
        <p:spPr>
          <a:xfrm>
            <a:off x="457200" y="457200"/>
            <a:ext cx="11277295" cy="548640"/>
          </a:xfrm>
          <a:prstGeom prst="rect">
            <a:avLst/>
          </a:prstGeom>
          <a:noFill/>
          <a:ln/>
        </p:spPr>
        <p:txBody>
          <a:bodyPr wrap="square" lIns="0" tIns="0" rIns="0" bIns="0" rtlCol="0" anchor="ctr"/>
          <a:lstStyle/>
          <a:p>
            <a:pPr algn="l" indent="0" marL="0">
              <a:buNone/>
            </a:pPr>
            <a:r>
              <a:rPr lang="en-US" sz="2200" b="1" dirty="0">
                <a:solidFill>
                  <a:schemeClr val="tx1"/>
                </a:solidFill>
              </a:rPr>
              <a:t>Splunkは入っているのに、使い切れない構造</a:t>
            </a:r>
            <a:endParaRPr lang="en-US" sz="2200" dirty="0"/>
          </a:p>
        </p:txBody>
      </p:sp>
      <p:sp>
        <p:nvSpPr>
          <p:cNvPr id="4" name="band"/>
          <p:cNvSpPr/>
          <p:nvPr/>
        </p:nvSpPr>
        <p:spPr>
          <a:xfrm>
            <a:off x="457200" y="1097280"/>
            <a:ext cx="11277295" cy="731520"/>
          </a:xfrm>
          <a:prstGeom prst="rect">
            <a:avLst/>
          </a:prstGeom>
          <a:solidFill>
            <a:schemeClr val="accent3"/>
          </a:solidFill>
          <a:ln/>
        </p:spPr>
      </p:sp>
      <p:sp>
        <p:nvSpPr>
          <p:cNvPr id="5" name="band-text"/>
          <p:cNvSpPr txBox="1"/>
          <p:nvPr/>
        </p:nvSpPr>
        <p:spPr>
          <a:xfrm>
            <a:off x="594360" y="1097280"/>
            <a:ext cx="11002975" cy="731520"/>
          </a:xfrm>
          <a:prstGeom prst="rect">
            <a:avLst/>
          </a:prstGeom>
          <a:noFill/>
          <a:ln/>
        </p:spPr>
        <p:txBody>
          <a:bodyPr wrap="square" lIns="0" tIns="0" rIns="0" bIns="0" rtlCol="0" anchor="ctr"/>
          <a:lstStyle/>
          <a:p>
            <a:pPr indent="0" marL="0">
              <a:buNone/>
            </a:pPr>
            <a:r>
              <a:rPr lang="en-US" sz="1300" b="1" dirty="0">
                <a:solidFill>
                  <a:schemeClr val="accent1"/>
                </a:solidFill>
              </a:rPr>
              <a:t>Splunkの画面は、使う人が「どこを・どの順で・何を基準に」見るかを決めて初めて回る。そこが人に依存していると、たまに使う人は止まる</a:t>
            </a:r>
            <a:endParaRPr lang="en-US" sz="1300" dirty="0"/>
          </a:p>
        </p:txBody>
      </p:sp>
      <p:graphicFrame>
        <p:nvGraphicFramePr>
          <p:cNvPr id="5" name="structure-table"/>
          <p:cNvGraphicFramePr>
            <a:graphicFrameLocks noGrp="1"/>
          </p:cNvGraphicFramePr>
          <p:nvPr>
            <p:extLst>
              <p:ext uri="{D42A27DB-BD31-4B8C-83A1-F6EECF244321}">
                <p14:modId xmlns:p14="http://schemas.microsoft.com/office/powerpoint/2010/main" val="1579011935"/>
              </p:ext>
            </p:extLst>
          </p:nvPr>
        </p:nvGraphicFramePr>
        <p:xfrm>
          <a:off x="457200" y="2057400"/>
          <a:ext cx="11277295" cy="914400"/>
        </p:xfrm>
        <a:graphic>
          <a:graphicData uri="http://schemas.openxmlformats.org/drawingml/2006/table">
            <a:tbl>
              <a:tblPr/>
              <a:tblGrid>
                <a:gridCol w="1920240"/>
                <a:gridCol w="3017520"/>
                <a:gridCol w="3291840"/>
                <a:gridCol w="3044952"/>
              </a:tblGrid>
              <a:tr h="411480">
                <a:tc>
                  <a:txBody>
                    <a:bodyPr/>
                    <a:lstStyle/>
                    <a:p>
                      <a:pPr indent="0" marL="0">
                        <a:buNone/>
                      </a:pPr>
                      <a:r>
                        <a:rPr lang="en-US" sz="1200" b="1" dirty="0">
                          <a:solidFill>
                            <a:schemeClr val="bg1"/>
                          </a:solidFill>
                          <a:latin typeface="Yu Gothic" pitchFamily="34" charset="0"/>
                          <a:ea typeface="Yu Gothic" pitchFamily="34" charset="-122"/>
                          <a:cs typeface="Yu Gothic" pitchFamily="34" charset="-120"/>
                        </a:rPr>
                        <a:t>製品</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latin typeface="Yu Gothic" pitchFamily="34" charset="0"/>
                          <a:ea typeface="Yu Gothic" pitchFamily="34" charset="-122"/>
                          <a:cs typeface="Yu Gothic" pitchFamily="34" charset="-120"/>
                        </a:rPr>
                        <a:t>製品がすること</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latin typeface="Yu Gothic" pitchFamily="34" charset="0"/>
                          <a:ea typeface="Yu Gothic" pitchFamily="34" charset="-122"/>
                          <a:cs typeface="Yu Gothic" pitchFamily="34" charset="-120"/>
                        </a:rPr>
                        <a:t>社内が決め続けること</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latin typeface="Yu Gothic" pitchFamily="34" charset="0"/>
                          <a:ea typeface="Yu Gothic" pitchFamily="34" charset="-122"/>
                          <a:cs typeface="Yu Gothic" pitchFamily="34" charset="-120"/>
                        </a:rPr>
                        <a:t>決めていないと起きること（仮説）</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chemeClr val="accent1"/>
                    </a:solidFill>
                  </a:tcPr>
                </a:tc>
              </a:tr>
              <a:tr h="868680">
                <a:tc>
                  <a:txBody>
                    <a:bodyPr/>
                    <a:lstStyle/>
                    <a:p>
                      <a:pPr indent="0" marL="0">
                        <a:buNone/>
                      </a:pPr>
                      <a:r>
                        <a:rPr lang="en-US" sz="1200" b="1" dirty="0">
                          <a:solidFill>
                            <a:schemeClr val="tx1"/>
                          </a:solidFill>
                          <a:latin typeface="Yu Gothic" pitchFamily="34" charset="0"/>
                          <a:ea typeface="Yu Gothic" pitchFamily="34" charset="-122"/>
                          <a:cs typeface="Yu Gothic" pitchFamily="34" charset="-120"/>
                        </a:rPr>
                        <a:t>ITSI</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サービスの健全性スコアとKPI、エピソード（関連するアラートのまとまり）</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どのKPIを見るか、健全性スコアの判断基準、エピソードを確かめる順番と担当</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スコアが下がっても、見る人と手順が決まらず、専門チームへの問い合わせが続く</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tcPr>
                </a:tc>
              </a:tr>
              <a:tr h="685800">
                <a:tc>
                  <a:txBody>
                    <a:bodyPr/>
                    <a:lstStyle/>
                    <a:p>
                      <a:pPr indent="0" marL="0">
                        <a:buNone/>
                      </a:pPr>
                      <a:r>
                        <a:rPr lang="en-US" sz="1200" b="1" dirty="0">
                          <a:solidFill>
                            <a:schemeClr val="tx1"/>
                          </a:solidFill>
                          <a:latin typeface="Yu Gothic" pitchFamily="34" charset="0"/>
                          <a:ea typeface="Yu Gothic" pitchFamily="34" charset="-122"/>
                          <a:cs typeface="Yu Gothic" pitchFamily="34" charset="-120"/>
                        </a:rPr>
                        <a:t>IT Essentials Work</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F0F3F6"/>
                    </a:solidFill>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サーバーなどのエンティティの状態</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F0F3F6"/>
                    </a:solidFill>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一次確認では、どの指標を見れば足りるか</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F0F3F6"/>
                    </a:solidFill>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画面はあっても、どこを見ればよいかが人による</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F0F3F6"/>
                    </a:solidFill>
                  </a:tcPr>
                </a:tc>
              </a:tr>
              <a:tr h="685800">
                <a:tc>
                  <a:txBody>
                    <a:bodyPr/>
                    <a:lstStyle/>
                    <a:p>
                      <a:pPr indent="0" marL="0">
                        <a:buNone/>
                      </a:pPr>
                      <a:r>
                        <a:rPr lang="en-US" sz="1200" b="1" dirty="0">
                          <a:solidFill>
                            <a:schemeClr val="tx1"/>
                          </a:solidFill>
                          <a:latin typeface="Yu Gothic" pitchFamily="34" charset="0"/>
                          <a:ea typeface="Yu Gothic" pitchFamily="34" charset="-122"/>
                          <a:cs typeface="Yu Gothic" pitchFamily="34" charset="-120"/>
                        </a:rPr>
                        <a:t>Search &amp; Reporting</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ログの検索（SPL）、レポートの保存・共有</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確認済みのSPLのひな型、その使い方、共有の範囲</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SPLを書ける人だけが調べられ、調べた条件が残らない</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tcPr>
                </a:tc>
              </a:tr>
            </a:tbl>
          </a:graphicData>
        </a:graphic>
      </p:graphicFrame>
      <p:sp>
        <p:nvSpPr>
          <p:cNvPr id="7" name="structure-note"/>
          <p:cNvSpPr txBox="1"/>
          <p:nvPr/>
        </p:nvSpPr>
        <p:spPr>
          <a:xfrm>
            <a:off x="457200" y="5120640"/>
            <a:ext cx="11277295" cy="548640"/>
          </a:xfrm>
          <a:prstGeom prst="rect">
            <a:avLst/>
          </a:prstGeom>
          <a:noFill/>
          <a:ln/>
        </p:spPr>
        <p:txBody>
          <a:bodyPr wrap="square" lIns="0" tIns="0" rIns="0" bIns="0" rtlCol="0" anchor="ctr"/>
          <a:lstStyle/>
          <a:p>
            <a:pPr indent="0" marL="0">
              <a:buNone/>
            </a:pPr>
            <a:r>
              <a:rPr lang="en-US" sz="1300" b="1" dirty="0">
                <a:solidFill>
                  <a:schemeClr val="accent4"/>
                </a:solidFill>
              </a:rPr>
              <a:t>どれも「入れれば使える」製品ではなく、社内の人が、見る順番・判断基準・ひな型を決め続ける仕事が付いています。</a:t>
            </a:r>
            <a:endParaRPr lang="en-US" sz="1300" dirty="0"/>
          </a:p>
        </p:txBody>
      </p:sp>
      <p:sp>
        <p:nvSpPr>
          <p:cNvPr id="8" name="footnote"/>
          <p:cNvSpPr txBox="1"/>
          <p:nvPr/>
        </p:nvSpPr>
        <p:spPr>
          <a:xfrm>
            <a:off x="457200" y="6327648"/>
            <a:ext cx="10545775" cy="384048"/>
          </a:xfrm>
          <a:prstGeom prst="rect">
            <a:avLst/>
          </a:prstGeom>
          <a:noFill/>
          <a:ln/>
        </p:spPr>
        <p:txBody>
          <a:bodyPr wrap="square" lIns="0" tIns="0" rIns="0" bIns="0" rtlCol="0" anchor="ctr"/>
          <a:lstStyle/>
          <a:p>
            <a:pPr indent="0" marL="0">
              <a:buNone/>
            </a:pPr>
            <a:r>
              <a:rPr lang="en-US" sz="1100" dirty="0">
                <a:solidFill>
                  <a:schemeClr val="accent5"/>
                </a:solidFill>
              </a:rPr>
              <a:t>ITSIは有償の追加製品、IT Essentials Workは無償のアプリです（Splunk公式ドキュメントの抜粋で確認）。</a:t>
            </a:r>
            <a:endParaRPr lang="en-US" sz="1100" dirty="0"/>
          </a:p>
        </p:txBody>
      </p:sp>
      <p:sp>
        <p:nvSpPr>
          <p:cNvPr id="25" name="Slide Number Placeholder 0"/>
          <p:cNvSpPr>
            <a:spLocks noGrp="1"/>
          </p:cNvSpPr>
          <p:nvPr>
            <p:ph type="sldNum" sz="quarter" idx="4294967295"/>
          </p:nvPr>
        </p:nvSpPr>
        <p:spPr>
          <a:xfrm>
            <a:off x="1118585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7315200" cy="274320"/>
          </a:xfrm>
          <a:prstGeom prst="rect">
            <a:avLst/>
          </a:prstGeom>
          <a:noFill/>
          <a:ln/>
        </p:spPr>
        <p:txBody>
          <a:bodyPr wrap="square" lIns="0" tIns="0" rIns="0" bIns="0" rtlCol="0" anchor="ctr"/>
          <a:lstStyle/>
          <a:p>
            <a:pPr algn="l" indent="0" marL="0">
              <a:buNone/>
            </a:pPr>
            <a:r>
              <a:rPr lang="en-US" sz="1100" b="1" dirty="0">
                <a:solidFill>
                  <a:schemeClr val="accent2"/>
                </a:solidFill>
              </a:rPr>
              <a:t>シナリオ｜問い</a:t>
            </a:r>
            <a:endParaRPr lang="en-US" sz="1100" dirty="0"/>
          </a:p>
        </p:txBody>
      </p:sp>
      <p:sp>
        <p:nvSpPr>
          <p:cNvPr id="3" name="Text 0"/>
          <p:cNvSpPr/>
          <p:nvPr>
            <p:ph idx="101" type="title" hasCustomPrompt="1"/>
          </p:nvPr>
        </p:nvSpPr>
        <p:spPr>
          <a:xfrm>
            <a:off x="457200" y="457200"/>
            <a:ext cx="11277295" cy="548640"/>
          </a:xfrm>
          <a:prstGeom prst="rect">
            <a:avLst/>
          </a:prstGeom>
          <a:noFill/>
          <a:ln/>
        </p:spPr>
        <p:txBody>
          <a:bodyPr wrap="square" lIns="0" tIns="0" rIns="0" bIns="0" rtlCol="0" anchor="ctr"/>
          <a:lstStyle/>
          <a:p>
            <a:pPr algn="l" indent="0" marL="0">
              <a:buNone/>
            </a:pPr>
            <a:r>
              <a:rPr lang="en-US" sz="2200" b="1" dirty="0">
                <a:solidFill>
                  <a:schemeClr val="tx1"/>
                </a:solidFill>
              </a:rPr>
              <a:t>事前に考えていただきたい5つの問い</a:t>
            </a:r>
            <a:endParaRPr lang="en-US" sz="2200" dirty="0"/>
          </a:p>
        </p:txBody>
      </p:sp>
      <p:sp>
        <p:nvSpPr>
          <p:cNvPr id="4" name="band"/>
          <p:cNvSpPr/>
          <p:nvPr/>
        </p:nvSpPr>
        <p:spPr>
          <a:xfrm>
            <a:off x="457200" y="1097280"/>
            <a:ext cx="11277295" cy="731520"/>
          </a:xfrm>
          <a:prstGeom prst="rect">
            <a:avLst/>
          </a:prstGeom>
          <a:solidFill>
            <a:schemeClr val="accent3"/>
          </a:solidFill>
          <a:ln/>
        </p:spPr>
      </p:sp>
      <p:sp>
        <p:nvSpPr>
          <p:cNvPr id="5" name="band-text"/>
          <p:cNvSpPr txBox="1"/>
          <p:nvPr/>
        </p:nvSpPr>
        <p:spPr>
          <a:xfrm>
            <a:off x="594360" y="1097280"/>
            <a:ext cx="11002975" cy="731520"/>
          </a:xfrm>
          <a:prstGeom prst="rect">
            <a:avLst/>
          </a:prstGeom>
          <a:noFill/>
          <a:ln/>
        </p:spPr>
        <p:txBody>
          <a:bodyPr wrap="square" lIns="0" tIns="0" rIns="0" bIns="0" rtlCol="0" anchor="ctr"/>
          <a:lstStyle/>
          <a:p>
            <a:pPr indent="0" marL="0">
              <a:buNone/>
            </a:pPr>
            <a:r>
              <a:rPr lang="en-US" sz="1300" b="1" dirty="0">
                <a:solidFill>
                  <a:schemeClr val="accent1"/>
                </a:solidFill>
              </a:rPr>
              <a:t>すぐに答えにくい問いが、デモで一緒に確かめたいところ。動画の章の終わりごとに、この問いに沿って伺います</a:t>
            </a:r>
            <a:endParaRPr lang="en-US" sz="1300" dirty="0"/>
          </a:p>
        </p:txBody>
      </p:sp>
      <p:sp>
        <p:nvSpPr>
          <p:cNvPr id="6" name="q-num-bg-0"/>
          <p:cNvSpPr/>
          <p:nvPr/>
        </p:nvSpPr>
        <p:spPr>
          <a:xfrm>
            <a:off x="457200" y="2057400"/>
            <a:ext cx="658368" cy="658368"/>
          </a:xfrm>
          <a:prstGeom prst="rect">
            <a:avLst/>
          </a:prstGeom>
          <a:solidFill>
            <a:schemeClr val="accent1"/>
          </a:solidFill>
          <a:ln/>
        </p:spPr>
      </p:sp>
      <p:sp>
        <p:nvSpPr>
          <p:cNvPr id="7" name="q-num-0"/>
          <p:cNvSpPr txBox="1"/>
          <p:nvPr/>
        </p:nvSpPr>
        <p:spPr>
          <a:xfrm>
            <a:off x="457200" y="2057400"/>
            <a:ext cx="658368" cy="658368"/>
          </a:xfrm>
          <a:prstGeom prst="rect">
            <a:avLst/>
          </a:prstGeom>
          <a:noFill/>
          <a:ln/>
        </p:spPr>
        <p:txBody>
          <a:bodyPr wrap="square" lIns="0" tIns="0" rIns="0" bIns="0" rtlCol="0" anchor="ctr"/>
          <a:lstStyle/>
          <a:p>
            <a:pPr algn="ctr" indent="0" marL="0">
              <a:buNone/>
            </a:pPr>
            <a:r>
              <a:rPr lang="en-US" sz="1500" b="1" dirty="0">
                <a:solidFill>
                  <a:schemeClr val="bg1"/>
                </a:solidFill>
              </a:rPr>
              <a:t>Q1</a:t>
            </a:r>
            <a:endParaRPr lang="en-US" sz="1500" dirty="0"/>
          </a:p>
        </p:txBody>
      </p:sp>
      <p:sp>
        <p:nvSpPr>
          <p:cNvPr id="8" name="q-row-0"/>
          <p:cNvSpPr/>
          <p:nvPr/>
        </p:nvSpPr>
        <p:spPr>
          <a:xfrm>
            <a:off x="1115568" y="2057400"/>
            <a:ext cx="10618927" cy="658368"/>
          </a:xfrm>
          <a:prstGeom prst="rect">
            <a:avLst/>
          </a:prstGeom>
          <a:solidFill>
            <a:schemeClr val="bg1"/>
          </a:solidFill>
          <a:ln w="9525">
            <a:solidFill>
              <a:schemeClr val="accent6"/>
            </a:solidFill>
            <a:prstDash val="solid"/>
          </a:ln>
        </p:spPr>
      </p:sp>
      <p:sp>
        <p:nvSpPr>
          <p:cNvPr id="9" name="q-text-0"/>
          <p:cNvSpPr txBox="1"/>
          <p:nvPr/>
        </p:nvSpPr>
        <p:spPr>
          <a:xfrm>
            <a:off x="1298448" y="2057400"/>
            <a:ext cx="10271455" cy="658368"/>
          </a:xfrm>
          <a:prstGeom prst="rect">
            <a:avLst/>
          </a:prstGeom>
          <a:noFill/>
          <a:ln/>
        </p:spPr>
        <p:txBody>
          <a:bodyPr wrap="square" lIns="0" tIns="0" rIns="0" bIns="0" rtlCol="0" anchor="ctr"/>
          <a:lstStyle/>
          <a:p>
            <a:pPr indent="0" marL="0">
              <a:buNone/>
            </a:pPr>
            <a:r>
              <a:rPr lang="en-US" sz="1400" dirty="0">
                <a:solidFill>
                  <a:schemeClr val="tx1"/>
                </a:solidFill>
              </a:rPr>
              <a:t>Service Analyzerなどの画面の探し方、時間範囲の指定、サービスの選び分けのどこで迷いますか</a:t>
            </a:r>
            <a:endParaRPr lang="en-US" sz="1400" dirty="0"/>
          </a:p>
        </p:txBody>
      </p:sp>
      <p:sp>
        <p:nvSpPr>
          <p:cNvPr id="10" name="q-num-bg-1"/>
          <p:cNvSpPr/>
          <p:nvPr/>
        </p:nvSpPr>
        <p:spPr>
          <a:xfrm>
            <a:off x="457200" y="2825496"/>
            <a:ext cx="658368" cy="658368"/>
          </a:xfrm>
          <a:prstGeom prst="rect">
            <a:avLst/>
          </a:prstGeom>
          <a:solidFill>
            <a:schemeClr val="accent1"/>
          </a:solidFill>
          <a:ln/>
        </p:spPr>
      </p:sp>
      <p:sp>
        <p:nvSpPr>
          <p:cNvPr id="11" name="q-num-1"/>
          <p:cNvSpPr txBox="1"/>
          <p:nvPr/>
        </p:nvSpPr>
        <p:spPr>
          <a:xfrm>
            <a:off x="457200" y="2825496"/>
            <a:ext cx="658368" cy="658368"/>
          </a:xfrm>
          <a:prstGeom prst="rect">
            <a:avLst/>
          </a:prstGeom>
          <a:noFill/>
          <a:ln/>
        </p:spPr>
        <p:txBody>
          <a:bodyPr wrap="square" lIns="0" tIns="0" rIns="0" bIns="0" rtlCol="0" anchor="ctr"/>
          <a:lstStyle/>
          <a:p>
            <a:pPr algn="ctr" indent="0" marL="0">
              <a:buNone/>
            </a:pPr>
            <a:r>
              <a:rPr lang="en-US" sz="1500" b="1" dirty="0">
                <a:solidFill>
                  <a:schemeClr val="bg1"/>
                </a:solidFill>
              </a:rPr>
              <a:t>Q2</a:t>
            </a:r>
            <a:endParaRPr lang="en-US" sz="1500" dirty="0"/>
          </a:p>
        </p:txBody>
      </p:sp>
      <p:sp>
        <p:nvSpPr>
          <p:cNvPr id="12" name="q-row-1"/>
          <p:cNvSpPr/>
          <p:nvPr/>
        </p:nvSpPr>
        <p:spPr>
          <a:xfrm>
            <a:off x="1115568" y="2825496"/>
            <a:ext cx="10618927" cy="658368"/>
          </a:xfrm>
          <a:prstGeom prst="rect">
            <a:avLst/>
          </a:prstGeom>
          <a:solidFill>
            <a:schemeClr val="bg1"/>
          </a:solidFill>
          <a:ln w="9525">
            <a:solidFill>
              <a:schemeClr val="accent6"/>
            </a:solidFill>
            <a:prstDash val="solid"/>
          </a:ln>
        </p:spPr>
      </p:sp>
      <p:sp>
        <p:nvSpPr>
          <p:cNvPr id="13" name="q-text-1"/>
          <p:cNvSpPr txBox="1"/>
          <p:nvPr/>
        </p:nvSpPr>
        <p:spPr>
          <a:xfrm>
            <a:off x="1298448" y="2825496"/>
            <a:ext cx="10271455" cy="658368"/>
          </a:xfrm>
          <a:prstGeom prst="rect">
            <a:avLst/>
          </a:prstGeom>
          <a:noFill/>
          <a:ln/>
        </p:spPr>
        <p:txBody>
          <a:bodyPr wrap="square" lIns="0" tIns="0" rIns="0" bIns="0" rtlCol="0" anchor="ctr"/>
          <a:lstStyle/>
          <a:p>
            <a:pPr indent="0" marL="0">
              <a:buNone/>
            </a:pPr>
            <a:r>
              <a:rPr lang="en-US" sz="1400" dirty="0">
                <a:solidFill>
                  <a:schemeClr val="tx1"/>
                </a:solidFill>
              </a:rPr>
              <a:t>障害時の一次確認で、人によって手順（見る順番・優先度の決め方・連絡先）がばらつくのはどこですか</a:t>
            </a:r>
            <a:endParaRPr lang="en-US" sz="1400" dirty="0"/>
          </a:p>
        </p:txBody>
      </p:sp>
      <p:sp>
        <p:nvSpPr>
          <p:cNvPr id="14" name="q-num-bg-2"/>
          <p:cNvSpPr/>
          <p:nvPr/>
        </p:nvSpPr>
        <p:spPr>
          <a:xfrm>
            <a:off x="457200" y="3593592"/>
            <a:ext cx="658368" cy="658368"/>
          </a:xfrm>
          <a:prstGeom prst="rect">
            <a:avLst/>
          </a:prstGeom>
          <a:solidFill>
            <a:schemeClr val="accent1"/>
          </a:solidFill>
          <a:ln/>
        </p:spPr>
      </p:sp>
      <p:sp>
        <p:nvSpPr>
          <p:cNvPr id="15" name="q-num-2"/>
          <p:cNvSpPr txBox="1"/>
          <p:nvPr/>
        </p:nvSpPr>
        <p:spPr>
          <a:xfrm>
            <a:off x="457200" y="3593592"/>
            <a:ext cx="658368" cy="658368"/>
          </a:xfrm>
          <a:prstGeom prst="rect">
            <a:avLst/>
          </a:prstGeom>
          <a:noFill/>
          <a:ln/>
        </p:spPr>
        <p:txBody>
          <a:bodyPr wrap="square" lIns="0" tIns="0" rIns="0" bIns="0" rtlCol="0" anchor="ctr"/>
          <a:lstStyle/>
          <a:p>
            <a:pPr algn="ctr" indent="0" marL="0">
              <a:buNone/>
            </a:pPr>
            <a:r>
              <a:rPr lang="en-US" sz="1500" b="1" dirty="0">
                <a:solidFill>
                  <a:schemeClr val="bg1"/>
                </a:solidFill>
              </a:rPr>
              <a:t>Q3</a:t>
            </a:r>
            <a:endParaRPr lang="en-US" sz="1500" dirty="0"/>
          </a:p>
        </p:txBody>
      </p:sp>
      <p:sp>
        <p:nvSpPr>
          <p:cNvPr id="16" name="q-row-2"/>
          <p:cNvSpPr/>
          <p:nvPr/>
        </p:nvSpPr>
        <p:spPr>
          <a:xfrm>
            <a:off x="1115568" y="3593592"/>
            <a:ext cx="10618927" cy="658368"/>
          </a:xfrm>
          <a:prstGeom prst="rect">
            <a:avLst/>
          </a:prstGeom>
          <a:solidFill>
            <a:schemeClr val="bg1"/>
          </a:solidFill>
          <a:ln w="9525">
            <a:solidFill>
              <a:schemeClr val="accent6"/>
            </a:solidFill>
            <a:prstDash val="solid"/>
          </a:ln>
        </p:spPr>
      </p:sp>
      <p:sp>
        <p:nvSpPr>
          <p:cNvPr id="17" name="q-text-2"/>
          <p:cNvSpPr txBox="1"/>
          <p:nvPr/>
        </p:nvSpPr>
        <p:spPr>
          <a:xfrm>
            <a:off x="1298448" y="3593592"/>
            <a:ext cx="10271455" cy="658368"/>
          </a:xfrm>
          <a:prstGeom prst="rect">
            <a:avLst/>
          </a:prstGeom>
          <a:noFill/>
          <a:ln/>
        </p:spPr>
        <p:txBody>
          <a:bodyPr wrap="square" lIns="0" tIns="0" rIns="0" bIns="0" rtlCol="0" anchor="ctr"/>
          <a:lstStyle/>
          <a:p>
            <a:pPr indent="0" marL="0">
              <a:buNone/>
            </a:pPr>
            <a:r>
              <a:rPr lang="en-US" sz="1400" dirty="0">
                <a:solidFill>
                  <a:schemeClr val="tx1"/>
                </a:solidFill>
              </a:rPr>
              <a:t>ログを調べるとき、ひな型選び、時間範囲の確認、結果の読み方のどこで手が止まりますか</a:t>
            </a:r>
            <a:endParaRPr lang="en-US" sz="1400" dirty="0"/>
          </a:p>
        </p:txBody>
      </p:sp>
      <p:sp>
        <p:nvSpPr>
          <p:cNvPr id="18" name="q-num-bg-3"/>
          <p:cNvSpPr/>
          <p:nvPr/>
        </p:nvSpPr>
        <p:spPr>
          <a:xfrm>
            <a:off x="457200" y="4361688"/>
            <a:ext cx="658368" cy="658368"/>
          </a:xfrm>
          <a:prstGeom prst="rect">
            <a:avLst/>
          </a:prstGeom>
          <a:solidFill>
            <a:schemeClr val="accent1"/>
          </a:solidFill>
          <a:ln/>
        </p:spPr>
      </p:sp>
      <p:sp>
        <p:nvSpPr>
          <p:cNvPr id="19" name="q-num-3"/>
          <p:cNvSpPr txBox="1"/>
          <p:nvPr/>
        </p:nvSpPr>
        <p:spPr>
          <a:xfrm>
            <a:off x="457200" y="4361688"/>
            <a:ext cx="658368" cy="658368"/>
          </a:xfrm>
          <a:prstGeom prst="rect">
            <a:avLst/>
          </a:prstGeom>
          <a:noFill/>
          <a:ln/>
        </p:spPr>
        <p:txBody>
          <a:bodyPr wrap="square" lIns="0" tIns="0" rIns="0" bIns="0" rtlCol="0" anchor="ctr"/>
          <a:lstStyle/>
          <a:p>
            <a:pPr algn="ctr" indent="0" marL="0">
              <a:buNone/>
            </a:pPr>
            <a:r>
              <a:rPr lang="en-US" sz="1500" b="1" dirty="0">
                <a:solidFill>
                  <a:schemeClr val="bg1"/>
                </a:solidFill>
              </a:rPr>
              <a:t>Q4</a:t>
            </a:r>
            <a:endParaRPr lang="en-US" sz="1500" dirty="0"/>
          </a:p>
        </p:txBody>
      </p:sp>
      <p:sp>
        <p:nvSpPr>
          <p:cNvPr id="20" name="q-row-3"/>
          <p:cNvSpPr/>
          <p:nvPr/>
        </p:nvSpPr>
        <p:spPr>
          <a:xfrm>
            <a:off x="1115568" y="4361688"/>
            <a:ext cx="10618927" cy="658368"/>
          </a:xfrm>
          <a:prstGeom prst="rect">
            <a:avLst/>
          </a:prstGeom>
          <a:solidFill>
            <a:schemeClr val="bg1"/>
          </a:solidFill>
          <a:ln w="9525">
            <a:solidFill>
              <a:schemeClr val="accent6"/>
            </a:solidFill>
            <a:prstDash val="solid"/>
          </a:ln>
        </p:spPr>
      </p:sp>
      <p:sp>
        <p:nvSpPr>
          <p:cNvPr id="21" name="q-text-3"/>
          <p:cNvSpPr txBox="1"/>
          <p:nvPr/>
        </p:nvSpPr>
        <p:spPr>
          <a:xfrm>
            <a:off x="1298448" y="4361688"/>
            <a:ext cx="10271455" cy="658368"/>
          </a:xfrm>
          <a:prstGeom prst="rect">
            <a:avLst/>
          </a:prstGeom>
          <a:noFill/>
          <a:ln/>
        </p:spPr>
        <p:txBody>
          <a:bodyPr wrap="square" lIns="0" tIns="0" rIns="0" bIns="0" rtlCol="0" anchor="ctr"/>
          <a:lstStyle/>
          <a:p>
            <a:pPr indent="0" marL="0">
              <a:buNone/>
            </a:pPr>
            <a:r>
              <a:rPr lang="en-US" sz="1400" dirty="0">
                <a:solidFill>
                  <a:schemeClr val="tx1"/>
                </a:solidFill>
              </a:rPr>
              <a:t>迷ったとき、今は誰に聞いていますか（専門チーム・委託先・マニュアル）</a:t>
            </a:r>
            <a:endParaRPr lang="en-US" sz="1400" dirty="0"/>
          </a:p>
        </p:txBody>
      </p:sp>
      <p:sp>
        <p:nvSpPr>
          <p:cNvPr id="22" name="q-num-bg-4"/>
          <p:cNvSpPr/>
          <p:nvPr/>
        </p:nvSpPr>
        <p:spPr>
          <a:xfrm>
            <a:off x="457200" y="5129784"/>
            <a:ext cx="658368" cy="658368"/>
          </a:xfrm>
          <a:prstGeom prst="rect">
            <a:avLst/>
          </a:prstGeom>
          <a:solidFill>
            <a:schemeClr val="accent1"/>
          </a:solidFill>
          <a:ln/>
        </p:spPr>
      </p:sp>
      <p:sp>
        <p:nvSpPr>
          <p:cNvPr id="23" name="q-num-4"/>
          <p:cNvSpPr txBox="1"/>
          <p:nvPr/>
        </p:nvSpPr>
        <p:spPr>
          <a:xfrm>
            <a:off x="457200" y="5129784"/>
            <a:ext cx="658368" cy="658368"/>
          </a:xfrm>
          <a:prstGeom prst="rect">
            <a:avLst/>
          </a:prstGeom>
          <a:noFill/>
          <a:ln/>
        </p:spPr>
        <p:txBody>
          <a:bodyPr wrap="square" lIns="0" tIns="0" rIns="0" bIns="0" rtlCol="0" anchor="ctr"/>
          <a:lstStyle/>
          <a:p>
            <a:pPr algn="ctr" indent="0" marL="0">
              <a:buNone/>
            </a:pPr>
            <a:r>
              <a:rPr lang="en-US" sz="1500" b="1" dirty="0">
                <a:solidFill>
                  <a:schemeClr val="bg1"/>
                </a:solidFill>
              </a:rPr>
              <a:t>Q5</a:t>
            </a:r>
            <a:endParaRPr lang="en-US" sz="1500" dirty="0"/>
          </a:p>
        </p:txBody>
      </p:sp>
      <p:sp>
        <p:nvSpPr>
          <p:cNvPr id="24" name="q-row-4"/>
          <p:cNvSpPr/>
          <p:nvPr/>
        </p:nvSpPr>
        <p:spPr>
          <a:xfrm>
            <a:off x="1115568" y="5129784"/>
            <a:ext cx="10618927" cy="658368"/>
          </a:xfrm>
          <a:prstGeom prst="rect">
            <a:avLst/>
          </a:prstGeom>
          <a:solidFill>
            <a:schemeClr val="bg1"/>
          </a:solidFill>
          <a:ln w="9525">
            <a:solidFill>
              <a:schemeClr val="accent6"/>
            </a:solidFill>
            <a:prstDash val="solid"/>
          </a:ln>
        </p:spPr>
      </p:sp>
      <p:sp>
        <p:nvSpPr>
          <p:cNvPr id="25" name="q-text-4"/>
          <p:cNvSpPr txBox="1"/>
          <p:nvPr/>
        </p:nvSpPr>
        <p:spPr>
          <a:xfrm>
            <a:off x="1298448" y="5129784"/>
            <a:ext cx="10271455" cy="658368"/>
          </a:xfrm>
          <a:prstGeom prst="rect">
            <a:avLst/>
          </a:prstGeom>
          <a:noFill/>
          <a:ln/>
        </p:spPr>
        <p:txBody>
          <a:bodyPr wrap="square" lIns="0" tIns="0" rIns="0" bIns="0" rtlCol="0" anchor="ctr"/>
          <a:lstStyle/>
          <a:p>
            <a:pPr indent="0" marL="0">
              <a:buNone/>
            </a:pPr>
            <a:r>
              <a:rPr lang="en-US" sz="1400" dirty="0">
                <a:solidFill>
                  <a:schemeClr val="tx1"/>
                </a:solidFill>
              </a:rPr>
              <a:t>担当者が「自分で調べ切れた」と判断する基準はありますか</a:t>
            </a:r>
            <a:endParaRPr lang="en-US" sz="1400" dirty="0"/>
          </a:p>
        </p:txBody>
      </p:sp>
      <p:sp>
        <p:nvSpPr>
          <p:cNvPr id="26" name="footnote"/>
          <p:cNvSpPr txBox="1"/>
          <p:nvPr/>
        </p:nvSpPr>
        <p:spPr>
          <a:xfrm>
            <a:off x="457200" y="6327648"/>
            <a:ext cx="10545775" cy="384048"/>
          </a:xfrm>
          <a:prstGeom prst="rect">
            <a:avLst/>
          </a:prstGeom>
          <a:noFill/>
          <a:ln/>
        </p:spPr>
        <p:txBody>
          <a:bodyPr wrap="square" lIns="0" tIns="0" rIns="0" bIns="0" rtlCol="0" anchor="ctr"/>
          <a:lstStyle/>
          <a:p>
            <a:pPr indent="0" marL="0">
              <a:buNone/>
            </a:pPr>
            <a:r>
              <a:rPr lang="en-US" sz="1100" dirty="0">
                <a:solidFill>
                  <a:schemeClr val="accent5"/>
                </a:solidFill>
              </a:rPr>
              <a:t>Q1〜Q3は、動画の各章の終わりに出す問いと同じです。</a:t>
            </a:r>
            <a:endParaRPr lang="en-US" sz="1100" dirty="0"/>
          </a:p>
        </p:txBody>
      </p:sp>
      <p:sp>
        <p:nvSpPr>
          <p:cNvPr id="25" name="Slide Number Placeholder 0"/>
          <p:cNvSpPr>
            <a:spLocks noGrp="1"/>
          </p:cNvSpPr>
          <p:nvPr>
            <p:ph type="sldNum" sz="quarter" idx="4294967295"/>
          </p:nvPr>
        </p:nvSpPr>
        <p:spPr>
          <a:xfrm>
            <a:off x="1118585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7315200" cy="274320"/>
          </a:xfrm>
          <a:prstGeom prst="rect">
            <a:avLst/>
          </a:prstGeom>
          <a:noFill/>
          <a:ln/>
        </p:spPr>
        <p:txBody>
          <a:bodyPr wrap="square" lIns="0" tIns="0" rIns="0" bIns="0" rtlCol="0" anchor="ctr"/>
          <a:lstStyle/>
          <a:p>
            <a:pPr algn="l" indent="0" marL="0">
              <a:buNone/>
            </a:pPr>
            <a:r>
              <a:rPr lang="en-US" sz="1100" b="1" dirty="0">
                <a:solidFill>
                  <a:schemeClr val="accent2"/>
                </a:solidFill>
              </a:rPr>
              <a:t>シナリオ｜役割</a:t>
            </a:r>
            <a:endParaRPr lang="en-US" sz="1100" dirty="0"/>
          </a:p>
        </p:txBody>
      </p:sp>
      <p:sp>
        <p:nvSpPr>
          <p:cNvPr id="3" name="Text 0"/>
          <p:cNvSpPr/>
          <p:nvPr>
            <p:ph idx="101" type="title" hasCustomPrompt="1"/>
          </p:nvPr>
        </p:nvSpPr>
        <p:spPr>
          <a:xfrm>
            <a:off x="457200" y="457200"/>
            <a:ext cx="11277295" cy="548640"/>
          </a:xfrm>
          <a:prstGeom prst="rect">
            <a:avLst/>
          </a:prstGeom>
          <a:noFill/>
          <a:ln/>
        </p:spPr>
        <p:txBody>
          <a:bodyPr wrap="square" lIns="0" tIns="0" rIns="0" bIns="0" rtlCol="0" anchor="ctr"/>
          <a:lstStyle/>
          <a:p>
            <a:pPr algn="l" indent="0" marL="0">
              <a:buNone/>
            </a:pPr>
            <a:r>
              <a:rPr lang="en-US" sz="2200" b="1" dirty="0">
                <a:solidFill>
                  <a:schemeClr val="tx1"/>
                </a:solidFill>
              </a:rPr>
              <a:t>誰が何を担うか</a:t>
            </a:r>
            <a:endParaRPr lang="en-US" sz="2200" dirty="0"/>
          </a:p>
        </p:txBody>
      </p:sp>
      <p:sp>
        <p:nvSpPr>
          <p:cNvPr id="4" name="band"/>
          <p:cNvSpPr/>
          <p:nvPr/>
        </p:nvSpPr>
        <p:spPr>
          <a:xfrm>
            <a:off x="457200" y="1097280"/>
            <a:ext cx="11277295" cy="731520"/>
          </a:xfrm>
          <a:prstGeom prst="rect">
            <a:avLst/>
          </a:prstGeom>
          <a:solidFill>
            <a:schemeClr val="accent3"/>
          </a:solidFill>
          <a:ln/>
        </p:spPr>
      </p:sp>
      <p:sp>
        <p:nvSpPr>
          <p:cNvPr id="5" name="band-text"/>
          <p:cNvSpPr txBox="1"/>
          <p:nvPr/>
        </p:nvSpPr>
        <p:spPr>
          <a:xfrm>
            <a:off x="594360" y="1097280"/>
            <a:ext cx="11002975" cy="731520"/>
          </a:xfrm>
          <a:prstGeom prst="rect">
            <a:avLst/>
          </a:prstGeom>
          <a:noFill/>
          <a:ln/>
        </p:spPr>
        <p:txBody>
          <a:bodyPr wrap="square" lIns="0" tIns="0" rIns="0" bIns="0" rtlCol="0" anchor="ctr"/>
          <a:lstStyle/>
          <a:p>
            <a:pPr indent="0" marL="0">
              <a:buNone/>
            </a:pPr>
            <a:r>
              <a:rPr lang="en-US" sz="1300" b="1" dirty="0">
                <a:solidFill>
                  <a:schemeClr val="accent1"/>
                </a:solidFill>
              </a:rPr>
              <a:t>製品・テックタッチ・人の役割を固定してから、デモを組んでいます</a:t>
            </a:r>
            <a:endParaRPr lang="en-US" sz="1300" dirty="0"/>
          </a:p>
        </p:txBody>
      </p:sp>
      <p:sp>
        <p:nvSpPr>
          <p:cNvPr id="6" name="role-0"/>
          <p:cNvSpPr/>
          <p:nvPr/>
        </p:nvSpPr>
        <p:spPr>
          <a:xfrm>
            <a:off x="457200" y="2057400"/>
            <a:ext cx="4069080" cy="4069080"/>
          </a:xfrm>
          <a:prstGeom prst="rect">
            <a:avLst/>
          </a:prstGeom>
          <a:solidFill>
            <a:schemeClr val="bg1"/>
          </a:solidFill>
          <a:ln w="9525">
            <a:solidFill>
              <a:schemeClr val="accent6"/>
            </a:solidFill>
            <a:prstDash val="solid"/>
          </a:ln>
        </p:spPr>
      </p:sp>
      <p:sp>
        <p:nvSpPr>
          <p:cNvPr id="7" name="role-0-head"/>
          <p:cNvSpPr/>
          <p:nvPr/>
        </p:nvSpPr>
        <p:spPr>
          <a:xfrm>
            <a:off x="457200" y="2057400"/>
            <a:ext cx="4069080" cy="347472"/>
          </a:xfrm>
          <a:prstGeom prst="rect">
            <a:avLst/>
          </a:prstGeom>
          <a:solidFill>
            <a:schemeClr val="tx1"/>
          </a:solidFill>
          <a:ln/>
        </p:spPr>
      </p:sp>
      <p:sp>
        <p:nvSpPr>
          <p:cNvPr id="8" name="role-0-head-text"/>
          <p:cNvSpPr txBox="1"/>
          <p:nvPr/>
        </p:nvSpPr>
        <p:spPr>
          <a:xfrm>
            <a:off x="548640" y="2057400"/>
            <a:ext cx="3886200" cy="347472"/>
          </a:xfrm>
          <a:prstGeom prst="rect">
            <a:avLst/>
          </a:prstGeom>
          <a:noFill/>
          <a:ln/>
        </p:spPr>
        <p:txBody>
          <a:bodyPr wrap="square" lIns="0" tIns="0" rIns="0" bIns="0" rtlCol="0" anchor="ctr"/>
          <a:lstStyle/>
          <a:p>
            <a:pPr indent="0" marL="0">
              <a:buNone/>
            </a:pPr>
            <a:r>
              <a:rPr lang="en-US" sz="1200" b="1" dirty="0">
                <a:solidFill>
                  <a:schemeClr val="bg1"/>
                </a:solidFill>
              </a:rPr>
              <a:t>Splunk（入っている製品）</a:t>
            </a:r>
            <a:endParaRPr lang="en-US" sz="1200" dirty="0"/>
          </a:p>
        </p:txBody>
      </p:sp>
      <p:sp>
        <p:nvSpPr>
          <p:cNvPr id="9" name="role-name-0-0"/>
          <p:cNvSpPr txBox="1"/>
          <p:nvPr/>
        </p:nvSpPr>
        <p:spPr>
          <a:xfrm>
            <a:off x="594360" y="2514600"/>
            <a:ext cx="3794760" cy="274320"/>
          </a:xfrm>
          <a:prstGeom prst="rect">
            <a:avLst/>
          </a:prstGeom>
          <a:noFill/>
          <a:ln/>
        </p:spPr>
        <p:txBody>
          <a:bodyPr wrap="square" lIns="0" tIns="0" rIns="0" bIns="0" rtlCol="0" anchor="t"/>
          <a:lstStyle/>
          <a:p>
            <a:pPr indent="0" marL="0">
              <a:buNone/>
            </a:pPr>
            <a:r>
              <a:rPr lang="en-US" sz="1300" b="1" dirty="0">
                <a:solidFill>
                  <a:schemeClr val="tx1"/>
                </a:solidFill>
              </a:rPr>
              <a:t>ITSI</a:t>
            </a:r>
            <a:endParaRPr lang="en-US" sz="1300" dirty="0"/>
          </a:p>
        </p:txBody>
      </p:sp>
      <p:sp>
        <p:nvSpPr>
          <p:cNvPr id="10" name="role-desc-0-0"/>
          <p:cNvSpPr txBox="1"/>
          <p:nvPr/>
        </p:nvSpPr>
        <p:spPr>
          <a:xfrm>
            <a:off x="594360" y="2816352"/>
            <a:ext cx="3794760" cy="427482"/>
          </a:xfrm>
          <a:prstGeom prst="rect">
            <a:avLst/>
          </a:prstGeom>
          <a:noFill/>
          <a:ln/>
        </p:spPr>
        <p:txBody>
          <a:bodyPr wrap="square" lIns="0" tIns="0" rIns="0" bIns="0" rtlCol="0" anchor="t"/>
          <a:lstStyle/>
          <a:p>
            <a:pPr indent="0" marL="0">
              <a:buNone/>
            </a:pPr>
            <a:r>
              <a:rPr lang="en-US" sz="1200" dirty="0">
                <a:solidFill>
                  <a:schemeClr val="tx1"/>
                </a:solidFill>
              </a:rPr>
              <a:t>サービスの健全性スコア・KPI・エピソード（Service Analyzer、Episode Review）</a:t>
            </a:r>
            <a:endParaRPr lang="en-US" sz="1200" dirty="0"/>
          </a:p>
        </p:txBody>
      </p:sp>
      <p:sp>
        <p:nvSpPr>
          <p:cNvPr id="11" name="role-sep-0-1"/>
          <p:cNvSpPr/>
          <p:nvPr/>
        </p:nvSpPr>
        <p:spPr>
          <a:xfrm>
            <a:off x="566928" y="3335274"/>
            <a:ext cx="3849624" cy="0"/>
          </a:xfrm>
          <a:prstGeom prst="line">
            <a:avLst/>
          </a:prstGeom>
          <a:noFill/>
          <a:ln w="9525">
            <a:solidFill>
              <a:schemeClr val="accent6"/>
            </a:solidFill>
            <a:prstDash val="solid"/>
          </a:ln>
        </p:spPr>
      </p:sp>
      <p:sp>
        <p:nvSpPr>
          <p:cNvPr id="12" name="role-name-0-1"/>
          <p:cNvSpPr txBox="1"/>
          <p:nvPr/>
        </p:nvSpPr>
        <p:spPr>
          <a:xfrm>
            <a:off x="594360" y="3445002"/>
            <a:ext cx="3794760" cy="274320"/>
          </a:xfrm>
          <a:prstGeom prst="rect">
            <a:avLst/>
          </a:prstGeom>
          <a:noFill/>
          <a:ln/>
        </p:spPr>
        <p:txBody>
          <a:bodyPr wrap="square" lIns="0" tIns="0" rIns="0" bIns="0" rtlCol="0" anchor="t"/>
          <a:lstStyle/>
          <a:p>
            <a:pPr indent="0" marL="0">
              <a:buNone/>
            </a:pPr>
            <a:r>
              <a:rPr lang="en-US" sz="1300" b="1" dirty="0">
                <a:solidFill>
                  <a:schemeClr val="tx1"/>
                </a:solidFill>
              </a:rPr>
              <a:t>IT Essentials Work</a:t>
            </a:r>
            <a:endParaRPr lang="en-US" sz="1300" dirty="0"/>
          </a:p>
        </p:txBody>
      </p:sp>
      <p:sp>
        <p:nvSpPr>
          <p:cNvPr id="13" name="role-desc-0-1"/>
          <p:cNvSpPr txBox="1"/>
          <p:nvPr/>
        </p:nvSpPr>
        <p:spPr>
          <a:xfrm>
            <a:off x="594360" y="3746754"/>
            <a:ext cx="3794760" cy="427482"/>
          </a:xfrm>
          <a:prstGeom prst="rect">
            <a:avLst/>
          </a:prstGeom>
          <a:noFill/>
          <a:ln/>
        </p:spPr>
        <p:txBody>
          <a:bodyPr wrap="square" lIns="0" tIns="0" rIns="0" bIns="0" rtlCol="0" anchor="t"/>
          <a:lstStyle/>
          <a:p>
            <a:pPr indent="0" marL="0">
              <a:buNone/>
            </a:pPr>
            <a:r>
              <a:rPr lang="en-US" sz="1200" dirty="0">
                <a:solidFill>
                  <a:schemeClr val="tx1"/>
                </a:solidFill>
              </a:rPr>
              <a:t>サーバーなどのエンティティの状態（Entity Overview）</a:t>
            </a:r>
            <a:endParaRPr lang="en-US" sz="1200" dirty="0"/>
          </a:p>
        </p:txBody>
      </p:sp>
      <p:sp>
        <p:nvSpPr>
          <p:cNvPr id="14" name="role-sep-0-2"/>
          <p:cNvSpPr/>
          <p:nvPr/>
        </p:nvSpPr>
        <p:spPr>
          <a:xfrm>
            <a:off x="566928" y="4265676"/>
            <a:ext cx="3849624" cy="0"/>
          </a:xfrm>
          <a:prstGeom prst="line">
            <a:avLst/>
          </a:prstGeom>
          <a:noFill/>
          <a:ln w="9525">
            <a:solidFill>
              <a:schemeClr val="accent6"/>
            </a:solidFill>
            <a:prstDash val="solid"/>
          </a:ln>
        </p:spPr>
      </p:sp>
      <p:sp>
        <p:nvSpPr>
          <p:cNvPr id="15" name="role-name-0-2"/>
          <p:cNvSpPr txBox="1"/>
          <p:nvPr/>
        </p:nvSpPr>
        <p:spPr>
          <a:xfrm>
            <a:off x="594360" y="4375404"/>
            <a:ext cx="3794760" cy="274320"/>
          </a:xfrm>
          <a:prstGeom prst="rect">
            <a:avLst/>
          </a:prstGeom>
          <a:noFill/>
          <a:ln/>
        </p:spPr>
        <p:txBody>
          <a:bodyPr wrap="square" lIns="0" tIns="0" rIns="0" bIns="0" rtlCol="0" anchor="t"/>
          <a:lstStyle/>
          <a:p>
            <a:pPr indent="0" marL="0">
              <a:buNone/>
            </a:pPr>
            <a:r>
              <a:rPr lang="en-US" sz="1300" b="1" dirty="0">
                <a:solidFill>
                  <a:schemeClr val="tx1"/>
                </a:solidFill>
              </a:rPr>
              <a:t>Search &amp; Reporting</a:t>
            </a:r>
            <a:endParaRPr lang="en-US" sz="1300" dirty="0"/>
          </a:p>
        </p:txBody>
      </p:sp>
      <p:sp>
        <p:nvSpPr>
          <p:cNvPr id="16" name="role-desc-0-2"/>
          <p:cNvSpPr txBox="1"/>
          <p:nvPr/>
        </p:nvSpPr>
        <p:spPr>
          <a:xfrm>
            <a:off x="594360" y="4677156"/>
            <a:ext cx="3794760" cy="427482"/>
          </a:xfrm>
          <a:prstGeom prst="rect">
            <a:avLst/>
          </a:prstGeom>
          <a:noFill/>
          <a:ln/>
        </p:spPr>
        <p:txBody>
          <a:bodyPr wrap="square" lIns="0" tIns="0" rIns="0" bIns="0" rtlCol="0" anchor="t"/>
          <a:lstStyle/>
          <a:p>
            <a:pPr indent="0" marL="0">
              <a:buNone/>
            </a:pPr>
            <a:r>
              <a:rPr lang="en-US" sz="1200" dirty="0">
                <a:solidFill>
                  <a:schemeClr val="tx1"/>
                </a:solidFill>
              </a:rPr>
              <a:t>ログの検索（SPL）と、レポートの保存・共有</a:t>
            </a:r>
            <a:endParaRPr lang="en-US" sz="1200" dirty="0"/>
          </a:p>
        </p:txBody>
      </p:sp>
      <p:sp>
        <p:nvSpPr>
          <p:cNvPr id="17" name="role-sep-0-3"/>
          <p:cNvSpPr/>
          <p:nvPr/>
        </p:nvSpPr>
        <p:spPr>
          <a:xfrm>
            <a:off x="566928" y="5196078"/>
            <a:ext cx="3849624" cy="0"/>
          </a:xfrm>
          <a:prstGeom prst="line">
            <a:avLst/>
          </a:prstGeom>
          <a:noFill/>
          <a:ln w="9525">
            <a:solidFill>
              <a:schemeClr val="accent6"/>
            </a:solidFill>
            <a:prstDash val="solid"/>
          </a:ln>
        </p:spPr>
      </p:sp>
      <p:sp>
        <p:nvSpPr>
          <p:cNvPr id="18" name="role-name-0-3"/>
          <p:cNvSpPr txBox="1"/>
          <p:nvPr/>
        </p:nvSpPr>
        <p:spPr>
          <a:xfrm>
            <a:off x="594360" y="5305806"/>
            <a:ext cx="3794760" cy="274320"/>
          </a:xfrm>
          <a:prstGeom prst="rect">
            <a:avLst/>
          </a:prstGeom>
          <a:noFill/>
          <a:ln/>
        </p:spPr>
        <p:txBody>
          <a:bodyPr wrap="square" lIns="0" tIns="0" rIns="0" bIns="0" rtlCol="0" anchor="t"/>
          <a:lstStyle/>
          <a:p>
            <a:pPr indent="0" marL="0">
              <a:buNone/>
            </a:pPr>
            <a:r>
              <a:rPr lang="en-US" sz="1300" b="1" dirty="0">
                <a:solidFill>
                  <a:schemeClr val="tx1"/>
                </a:solidFill>
              </a:rPr>
              <a:t>Splunk AI Assistant</a:t>
            </a:r>
            <a:endParaRPr lang="en-US" sz="1300" dirty="0"/>
          </a:p>
        </p:txBody>
      </p:sp>
      <p:sp>
        <p:nvSpPr>
          <p:cNvPr id="19" name="role-desc-0-3"/>
          <p:cNvSpPr txBox="1"/>
          <p:nvPr/>
        </p:nvSpPr>
        <p:spPr>
          <a:xfrm>
            <a:off x="594360" y="5607558"/>
            <a:ext cx="3794760" cy="427482"/>
          </a:xfrm>
          <a:prstGeom prst="rect">
            <a:avLst/>
          </a:prstGeom>
          <a:noFill/>
          <a:ln/>
        </p:spPr>
        <p:txBody>
          <a:bodyPr wrap="square" lIns="0" tIns="0" rIns="0" bIns="0" rtlCol="0" anchor="t"/>
          <a:lstStyle/>
          <a:p>
            <a:pPr indent="0" marL="0">
              <a:buNone/>
            </a:pPr>
            <a:r>
              <a:rPr lang="en-US" sz="1200" dirty="0">
                <a:solidFill>
                  <a:schemeClr val="tx1"/>
                </a:solidFill>
              </a:rPr>
              <a:t>自然言語からSPL案を作り、SPLを説明する（デモでは使っていない）</a:t>
            </a:r>
            <a:endParaRPr lang="en-US" sz="1200" dirty="0"/>
          </a:p>
        </p:txBody>
      </p:sp>
      <p:sp>
        <p:nvSpPr>
          <p:cNvPr id="20" name="role-1"/>
          <p:cNvSpPr/>
          <p:nvPr/>
        </p:nvSpPr>
        <p:spPr>
          <a:xfrm>
            <a:off x="4709160" y="2057400"/>
            <a:ext cx="3566160" cy="4069080"/>
          </a:xfrm>
          <a:prstGeom prst="rect">
            <a:avLst/>
          </a:prstGeom>
          <a:solidFill>
            <a:schemeClr val="bg1"/>
          </a:solidFill>
          <a:ln w="9525">
            <a:solidFill>
              <a:schemeClr val="accent6"/>
            </a:solidFill>
            <a:prstDash val="solid"/>
          </a:ln>
        </p:spPr>
      </p:sp>
      <p:sp>
        <p:nvSpPr>
          <p:cNvPr id="21" name="role-1-head"/>
          <p:cNvSpPr/>
          <p:nvPr/>
        </p:nvSpPr>
        <p:spPr>
          <a:xfrm>
            <a:off x="4709160" y="2057400"/>
            <a:ext cx="3566160" cy="347472"/>
          </a:xfrm>
          <a:prstGeom prst="rect">
            <a:avLst/>
          </a:prstGeom>
          <a:solidFill>
            <a:schemeClr val="accent1"/>
          </a:solidFill>
          <a:ln/>
        </p:spPr>
      </p:sp>
      <p:sp>
        <p:nvSpPr>
          <p:cNvPr id="22" name="role-1-head-text"/>
          <p:cNvSpPr txBox="1"/>
          <p:nvPr/>
        </p:nvSpPr>
        <p:spPr>
          <a:xfrm>
            <a:off x="4800600" y="2057400"/>
            <a:ext cx="3383280" cy="347472"/>
          </a:xfrm>
          <a:prstGeom prst="rect">
            <a:avLst/>
          </a:prstGeom>
          <a:noFill/>
          <a:ln/>
        </p:spPr>
        <p:txBody>
          <a:bodyPr wrap="square" lIns="0" tIns="0" rIns="0" bIns="0" rtlCol="0" anchor="ctr"/>
          <a:lstStyle/>
          <a:p>
            <a:pPr indent="0" marL="0">
              <a:buNone/>
            </a:pPr>
            <a:r>
              <a:rPr lang="en-US" sz="1200" b="1" dirty="0">
                <a:solidFill>
                  <a:schemeClr val="bg1"/>
                </a:solidFill>
              </a:rPr>
              <a:t>テックタッチ</a:t>
            </a:r>
            <a:endParaRPr lang="en-US" sz="1200" dirty="0"/>
          </a:p>
        </p:txBody>
      </p:sp>
      <p:sp>
        <p:nvSpPr>
          <p:cNvPr id="23" name="role-name-1-0"/>
          <p:cNvSpPr txBox="1"/>
          <p:nvPr/>
        </p:nvSpPr>
        <p:spPr>
          <a:xfrm>
            <a:off x="4846320" y="2514600"/>
            <a:ext cx="3291840" cy="274320"/>
          </a:xfrm>
          <a:prstGeom prst="rect">
            <a:avLst/>
          </a:prstGeom>
          <a:noFill/>
          <a:ln/>
        </p:spPr>
        <p:txBody>
          <a:bodyPr wrap="square" lIns="0" tIns="0" rIns="0" bIns="0" rtlCol="0" anchor="t"/>
          <a:lstStyle/>
          <a:p>
            <a:pPr indent="0" marL="0">
              <a:buNone/>
            </a:pPr>
            <a:r>
              <a:rPr lang="en-US" sz="1300" b="1" dirty="0">
                <a:solidFill>
                  <a:schemeClr val="accent1"/>
                </a:solidFill>
              </a:rPr>
              <a:t>DAP（ガイド）</a:t>
            </a:r>
            <a:endParaRPr lang="en-US" sz="1300" dirty="0"/>
          </a:p>
        </p:txBody>
      </p:sp>
      <p:sp>
        <p:nvSpPr>
          <p:cNvPr id="24" name="role-desc-1-0"/>
          <p:cNvSpPr txBox="1"/>
          <p:nvPr/>
        </p:nvSpPr>
        <p:spPr>
          <a:xfrm>
            <a:off x="4846320" y="2816352"/>
            <a:ext cx="3291840" cy="1357884"/>
          </a:xfrm>
          <a:prstGeom prst="rect">
            <a:avLst/>
          </a:prstGeom>
          <a:noFill/>
          <a:ln/>
        </p:spPr>
        <p:txBody>
          <a:bodyPr wrap="square" lIns="0" tIns="0" rIns="0" bIns="0" rtlCol="0" anchor="t"/>
          <a:lstStyle/>
          <a:p>
            <a:pPr indent="0" marL="0">
              <a:buNone/>
            </a:pPr>
            <a:r>
              <a:rPr lang="en-US" sz="1200" dirty="0">
                <a:solidFill>
                  <a:schemeClr val="tx1"/>
                </a:solidFill>
              </a:rPr>
              <a:t>ガイド・ポップアップ・ツールチップで、Splunkの画面の上に操作の順番・選び直し・社内の判断基準を示す</a:t>
            </a:r>
            <a:endParaRPr lang="en-US" sz="1200" dirty="0"/>
          </a:p>
        </p:txBody>
      </p:sp>
      <p:sp>
        <p:nvSpPr>
          <p:cNvPr id="25" name="role-sep-1-1"/>
          <p:cNvSpPr/>
          <p:nvPr/>
        </p:nvSpPr>
        <p:spPr>
          <a:xfrm>
            <a:off x="4818888" y="4265676"/>
            <a:ext cx="3346704" cy="0"/>
          </a:xfrm>
          <a:prstGeom prst="line">
            <a:avLst/>
          </a:prstGeom>
          <a:noFill/>
          <a:ln w="9525">
            <a:solidFill>
              <a:schemeClr val="accent6"/>
            </a:solidFill>
            <a:prstDash val="solid"/>
          </a:ln>
        </p:spPr>
      </p:sp>
      <p:sp>
        <p:nvSpPr>
          <p:cNvPr id="26" name="role-name-1-1"/>
          <p:cNvSpPr txBox="1"/>
          <p:nvPr/>
        </p:nvSpPr>
        <p:spPr>
          <a:xfrm>
            <a:off x="4846320" y="4375404"/>
            <a:ext cx="3291840" cy="274320"/>
          </a:xfrm>
          <a:prstGeom prst="rect">
            <a:avLst/>
          </a:prstGeom>
          <a:noFill/>
          <a:ln/>
        </p:spPr>
        <p:txBody>
          <a:bodyPr wrap="square" lIns="0" tIns="0" rIns="0" bIns="0" rtlCol="0" anchor="t"/>
          <a:lstStyle/>
          <a:p>
            <a:pPr indent="0" marL="0">
              <a:buNone/>
            </a:pPr>
            <a:r>
              <a:rPr lang="en-US" sz="1300" b="1" dirty="0">
                <a:solidFill>
                  <a:srgbClr val="5A3EA6"/>
                </a:solidFill>
              </a:rPr>
              <a:t>AI Hub（構想）</a:t>
            </a:r>
            <a:endParaRPr lang="en-US" sz="1300" dirty="0"/>
          </a:p>
        </p:txBody>
      </p:sp>
      <p:sp>
        <p:nvSpPr>
          <p:cNvPr id="27" name="role-desc-1-1"/>
          <p:cNvSpPr txBox="1"/>
          <p:nvPr/>
        </p:nvSpPr>
        <p:spPr>
          <a:xfrm>
            <a:off x="4846320" y="4677156"/>
            <a:ext cx="3291840" cy="1357884"/>
          </a:xfrm>
          <a:prstGeom prst="rect">
            <a:avLst/>
          </a:prstGeom>
          <a:noFill/>
          <a:ln/>
        </p:spPr>
        <p:txBody>
          <a:bodyPr wrap="square" lIns="0" tIns="0" rIns="0" bIns="0" rtlCol="0" anchor="t"/>
          <a:lstStyle/>
          <a:p>
            <a:pPr indent="0" marL="0">
              <a:buNone/>
            </a:pPr>
            <a:r>
              <a:rPr lang="en-US" sz="1200" dirty="0">
                <a:solidFill>
                  <a:schemeClr val="tx1"/>
                </a:solidFill>
              </a:rPr>
              <a:t>社内のナレッジ（ログ辞書・SPLのひな型・判断基準・連絡の形）を参照し、説明・照合・下書きをする</a:t>
            </a:r>
            <a:endParaRPr lang="en-US" sz="1200" dirty="0"/>
          </a:p>
        </p:txBody>
      </p:sp>
      <p:sp>
        <p:nvSpPr>
          <p:cNvPr id="28" name="role-2"/>
          <p:cNvSpPr/>
          <p:nvPr/>
        </p:nvSpPr>
        <p:spPr>
          <a:xfrm>
            <a:off x="8458200" y="2057400"/>
            <a:ext cx="3273552" cy="4069080"/>
          </a:xfrm>
          <a:prstGeom prst="rect">
            <a:avLst/>
          </a:prstGeom>
          <a:solidFill>
            <a:schemeClr val="bg1"/>
          </a:solidFill>
          <a:ln w="9525">
            <a:solidFill>
              <a:schemeClr val="accent6"/>
            </a:solidFill>
            <a:prstDash val="solid"/>
          </a:ln>
        </p:spPr>
      </p:sp>
      <p:sp>
        <p:nvSpPr>
          <p:cNvPr id="29" name="role-2-head"/>
          <p:cNvSpPr/>
          <p:nvPr/>
        </p:nvSpPr>
        <p:spPr>
          <a:xfrm>
            <a:off x="8458200" y="2057400"/>
            <a:ext cx="3273552" cy="347472"/>
          </a:xfrm>
          <a:prstGeom prst="rect">
            <a:avLst/>
          </a:prstGeom>
          <a:solidFill>
            <a:schemeClr val="accent5"/>
          </a:solidFill>
          <a:ln/>
        </p:spPr>
      </p:sp>
      <p:sp>
        <p:nvSpPr>
          <p:cNvPr id="30" name="role-2-head-text"/>
          <p:cNvSpPr txBox="1"/>
          <p:nvPr/>
        </p:nvSpPr>
        <p:spPr>
          <a:xfrm>
            <a:off x="8549640" y="2057400"/>
            <a:ext cx="3090672" cy="347472"/>
          </a:xfrm>
          <a:prstGeom prst="rect">
            <a:avLst/>
          </a:prstGeom>
          <a:noFill/>
          <a:ln/>
        </p:spPr>
        <p:txBody>
          <a:bodyPr wrap="square" lIns="0" tIns="0" rIns="0" bIns="0" rtlCol="0" anchor="ctr"/>
          <a:lstStyle/>
          <a:p>
            <a:pPr indent="0" marL="0">
              <a:buNone/>
            </a:pPr>
            <a:r>
              <a:rPr lang="en-US" sz="1200" b="1" dirty="0">
                <a:solidFill>
                  <a:schemeClr val="bg1"/>
                </a:solidFill>
              </a:rPr>
              <a:t>人（架空）</a:t>
            </a:r>
            <a:endParaRPr lang="en-US" sz="1200" dirty="0"/>
          </a:p>
        </p:txBody>
      </p:sp>
      <p:sp>
        <p:nvSpPr>
          <p:cNvPr id="31" name="role-name-2-0"/>
          <p:cNvSpPr txBox="1"/>
          <p:nvPr/>
        </p:nvSpPr>
        <p:spPr>
          <a:xfrm>
            <a:off x="8595360" y="2514600"/>
            <a:ext cx="2999232" cy="274320"/>
          </a:xfrm>
          <a:prstGeom prst="rect">
            <a:avLst/>
          </a:prstGeom>
          <a:noFill/>
          <a:ln/>
        </p:spPr>
        <p:txBody>
          <a:bodyPr wrap="square" lIns="0" tIns="0" rIns="0" bIns="0" rtlCol="0" anchor="t"/>
          <a:lstStyle/>
          <a:p>
            <a:pPr indent="0" marL="0">
              <a:buNone/>
            </a:pPr>
            <a:r>
              <a:rPr lang="en-US" sz="1300" b="1" dirty="0">
                <a:solidFill>
                  <a:schemeClr val="tx1"/>
                </a:solidFill>
              </a:rPr>
              <a:t>運用担当者</a:t>
            </a:r>
            <a:endParaRPr lang="en-US" sz="1300" dirty="0"/>
          </a:p>
        </p:txBody>
      </p:sp>
      <p:sp>
        <p:nvSpPr>
          <p:cNvPr id="32" name="role-desc-2-0"/>
          <p:cNvSpPr txBox="1"/>
          <p:nvPr/>
        </p:nvSpPr>
        <p:spPr>
          <a:xfrm>
            <a:off x="8595360" y="2816352"/>
            <a:ext cx="2999232" cy="737616"/>
          </a:xfrm>
          <a:prstGeom prst="rect">
            <a:avLst/>
          </a:prstGeom>
          <a:noFill/>
          <a:ln/>
        </p:spPr>
        <p:txBody>
          <a:bodyPr wrap="square" lIns="0" tIns="0" rIns="0" bIns="0" rtlCol="0" anchor="t"/>
          <a:lstStyle/>
          <a:p>
            <a:pPr indent="0" marL="0">
              <a:buNone/>
            </a:pPr>
            <a:r>
              <a:rPr lang="en-US" sz="1200" dirty="0">
                <a:solidFill>
                  <a:schemeClr val="tx1"/>
                </a:solidFill>
              </a:rPr>
              <a:t>問い合わせを受け、状況確認・一次確認・連絡・ログ調査を行う</a:t>
            </a:r>
            <a:endParaRPr lang="en-US" sz="1200" dirty="0"/>
          </a:p>
        </p:txBody>
      </p:sp>
      <p:sp>
        <p:nvSpPr>
          <p:cNvPr id="33" name="role-sep-2-1"/>
          <p:cNvSpPr/>
          <p:nvPr/>
        </p:nvSpPr>
        <p:spPr>
          <a:xfrm>
            <a:off x="8567928" y="3645408"/>
            <a:ext cx="3054096" cy="0"/>
          </a:xfrm>
          <a:prstGeom prst="line">
            <a:avLst/>
          </a:prstGeom>
          <a:noFill/>
          <a:ln w="9525">
            <a:solidFill>
              <a:schemeClr val="accent6"/>
            </a:solidFill>
            <a:prstDash val="solid"/>
          </a:ln>
        </p:spPr>
      </p:sp>
      <p:sp>
        <p:nvSpPr>
          <p:cNvPr id="34" name="role-name-2-1"/>
          <p:cNvSpPr txBox="1"/>
          <p:nvPr/>
        </p:nvSpPr>
        <p:spPr>
          <a:xfrm>
            <a:off x="8595360" y="3755136"/>
            <a:ext cx="2999232" cy="274320"/>
          </a:xfrm>
          <a:prstGeom prst="rect">
            <a:avLst/>
          </a:prstGeom>
          <a:noFill/>
          <a:ln/>
        </p:spPr>
        <p:txBody>
          <a:bodyPr wrap="square" lIns="0" tIns="0" rIns="0" bIns="0" rtlCol="0" anchor="t"/>
          <a:lstStyle/>
          <a:p>
            <a:pPr indent="0" marL="0">
              <a:buNone/>
            </a:pPr>
            <a:r>
              <a:rPr lang="en-US" sz="1300" b="1" dirty="0">
                <a:solidFill>
                  <a:schemeClr val="tx1"/>
                </a:solidFill>
              </a:rPr>
              <a:t>専門チーム</a:t>
            </a:r>
            <a:endParaRPr lang="en-US" sz="1300" dirty="0"/>
          </a:p>
        </p:txBody>
      </p:sp>
      <p:sp>
        <p:nvSpPr>
          <p:cNvPr id="35" name="role-desc-2-1"/>
          <p:cNvSpPr txBox="1"/>
          <p:nvPr/>
        </p:nvSpPr>
        <p:spPr>
          <a:xfrm>
            <a:off x="8595360" y="4056888"/>
            <a:ext cx="2999232" cy="737616"/>
          </a:xfrm>
          <a:prstGeom prst="rect">
            <a:avLst/>
          </a:prstGeom>
          <a:noFill/>
          <a:ln/>
        </p:spPr>
        <p:txBody>
          <a:bodyPr wrap="square" lIns="0" tIns="0" rIns="0" bIns="0" rtlCol="0" anchor="t"/>
          <a:lstStyle/>
          <a:p>
            <a:pPr indent="0" marL="0">
              <a:buNone/>
            </a:pPr>
            <a:r>
              <a:rPr lang="en-US" sz="1200" dirty="0">
                <a:solidFill>
                  <a:schemeClr val="tx1"/>
                </a:solidFill>
              </a:rPr>
              <a:t>原因の調査と対処。SPLのひな型を作り、確認依頼に答える</a:t>
            </a:r>
            <a:endParaRPr lang="en-US" sz="1200" dirty="0"/>
          </a:p>
        </p:txBody>
      </p:sp>
      <p:sp>
        <p:nvSpPr>
          <p:cNvPr id="36" name="role-sep-2-2"/>
          <p:cNvSpPr/>
          <p:nvPr/>
        </p:nvSpPr>
        <p:spPr>
          <a:xfrm>
            <a:off x="8567928" y="4885944"/>
            <a:ext cx="3054096" cy="0"/>
          </a:xfrm>
          <a:prstGeom prst="line">
            <a:avLst/>
          </a:prstGeom>
          <a:noFill/>
          <a:ln w="9525">
            <a:solidFill>
              <a:schemeClr val="accent6"/>
            </a:solidFill>
            <a:prstDash val="solid"/>
          </a:ln>
        </p:spPr>
      </p:sp>
      <p:sp>
        <p:nvSpPr>
          <p:cNvPr id="37" name="role-name-2-2"/>
          <p:cNvSpPr txBox="1"/>
          <p:nvPr/>
        </p:nvSpPr>
        <p:spPr>
          <a:xfrm>
            <a:off x="8595360" y="4995672"/>
            <a:ext cx="2999232" cy="274320"/>
          </a:xfrm>
          <a:prstGeom prst="rect">
            <a:avLst/>
          </a:prstGeom>
          <a:noFill/>
          <a:ln/>
        </p:spPr>
        <p:txBody>
          <a:bodyPr wrap="square" lIns="0" tIns="0" rIns="0" bIns="0" rtlCol="0" anchor="t"/>
          <a:lstStyle/>
          <a:p>
            <a:pPr indent="0" marL="0">
              <a:buNone/>
            </a:pPr>
            <a:r>
              <a:rPr lang="en-US" sz="1300" b="1" dirty="0">
                <a:solidFill>
                  <a:schemeClr val="tx1"/>
                </a:solidFill>
              </a:rPr>
              <a:t>業務部門</a:t>
            </a:r>
            <a:endParaRPr lang="en-US" sz="1300" dirty="0"/>
          </a:p>
        </p:txBody>
      </p:sp>
      <p:sp>
        <p:nvSpPr>
          <p:cNvPr id="38" name="role-desc-2-2"/>
          <p:cNvSpPr txBox="1"/>
          <p:nvPr/>
        </p:nvSpPr>
        <p:spPr>
          <a:xfrm>
            <a:off x="8595360" y="5297424"/>
            <a:ext cx="2999232" cy="737616"/>
          </a:xfrm>
          <a:prstGeom prst="rect">
            <a:avLst/>
          </a:prstGeom>
          <a:noFill/>
          <a:ln/>
        </p:spPr>
        <p:txBody>
          <a:bodyPr wrap="square" lIns="0" tIns="0" rIns="0" bIns="0" rtlCol="0" anchor="t"/>
          <a:lstStyle/>
          <a:p>
            <a:pPr indent="0" marL="0">
              <a:buNone/>
            </a:pPr>
            <a:r>
              <a:rPr lang="en-US" sz="1200" dirty="0">
                <a:solidFill>
                  <a:schemeClr val="tx1"/>
                </a:solidFill>
              </a:rPr>
              <a:t>問い合わせの起点。影響の連絡先</a:t>
            </a:r>
            <a:endParaRPr lang="en-US" sz="1200" dirty="0"/>
          </a:p>
        </p:txBody>
      </p:sp>
      <p:sp>
        <p:nvSpPr>
          <p:cNvPr id="25" name="Slide Number Placeholder 0"/>
          <p:cNvSpPr>
            <a:spLocks noGrp="1"/>
          </p:cNvSpPr>
          <p:nvPr>
            <p:ph type="sldNum" sz="quarter" idx="4294967295"/>
          </p:nvPr>
        </p:nvSpPr>
        <p:spPr>
          <a:xfrm>
            <a:off x="1118585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7315200" cy="274320"/>
          </a:xfrm>
          <a:prstGeom prst="rect">
            <a:avLst/>
          </a:prstGeom>
          <a:noFill/>
          <a:ln/>
        </p:spPr>
        <p:txBody>
          <a:bodyPr wrap="square" lIns="0" tIns="0" rIns="0" bIns="0" rtlCol="0" anchor="ctr"/>
          <a:lstStyle/>
          <a:p>
            <a:pPr algn="l" indent="0" marL="0">
              <a:buNone/>
            </a:pPr>
            <a:r>
              <a:rPr lang="en-US" sz="1100" b="1" dirty="0">
                <a:solidFill>
                  <a:schemeClr val="accent2"/>
                </a:solidFill>
              </a:rPr>
              <a:t>シナリオ｜Before → After</a:t>
            </a:r>
            <a:endParaRPr lang="en-US" sz="1100" dirty="0"/>
          </a:p>
        </p:txBody>
      </p:sp>
      <p:sp>
        <p:nvSpPr>
          <p:cNvPr id="3" name="Text 0"/>
          <p:cNvSpPr/>
          <p:nvPr>
            <p:ph idx="101" type="title" hasCustomPrompt="1"/>
          </p:nvPr>
        </p:nvSpPr>
        <p:spPr>
          <a:xfrm>
            <a:off x="457200" y="457200"/>
            <a:ext cx="11277295" cy="548640"/>
          </a:xfrm>
          <a:prstGeom prst="rect">
            <a:avLst/>
          </a:prstGeom>
          <a:noFill/>
          <a:ln/>
        </p:spPr>
        <p:txBody>
          <a:bodyPr wrap="square" lIns="0" tIns="0" rIns="0" bIns="0" rtlCol="0" anchor="ctr"/>
          <a:lstStyle/>
          <a:p>
            <a:pPr algn="l" indent="0" marL="0">
              <a:buNone/>
            </a:pPr>
            <a:r>
              <a:rPr lang="en-US" sz="2200" b="1" dirty="0">
                <a:solidFill>
                  <a:schemeClr val="tx1"/>
                </a:solidFill>
              </a:rPr>
              <a:t>工程ごとの Before → After</a:t>
            </a:r>
            <a:endParaRPr lang="en-US" sz="2200" dirty="0"/>
          </a:p>
        </p:txBody>
      </p:sp>
      <p:sp>
        <p:nvSpPr>
          <p:cNvPr id="4" name="band"/>
          <p:cNvSpPr/>
          <p:nvPr/>
        </p:nvSpPr>
        <p:spPr>
          <a:xfrm>
            <a:off x="457200" y="1097280"/>
            <a:ext cx="11277295" cy="731520"/>
          </a:xfrm>
          <a:prstGeom prst="rect">
            <a:avLst/>
          </a:prstGeom>
          <a:solidFill>
            <a:schemeClr val="accent3"/>
          </a:solidFill>
          <a:ln/>
        </p:spPr>
      </p:sp>
      <p:sp>
        <p:nvSpPr>
          <p:cNvPr id="5" name="band-text"/>
          <p:cNvSpPr txBox="1"/>
          <p:nvPr/>
        </p:nvSpPr>
        <p:spPr>
          <a:xfrm>
            <a:off x="594360" y="1097280"/>
            <a:ext cx="11002975" cy="731520"/>
          </a:xfrm>
          <a:prstGeom prst="rect">
            <a:avLst/>
          </a:prstGeom>
          <a:noFill/>
          <a:ln/>
        </p:spPr>
        <p:txBody>
          <a:bodyPr wrap="square" lIns="0" tIns="0" rIns="0" bIns="0" rtlCol="0" anchor="ctr"/>
          <a:lstStyle/>
          <a:p>
            <a:pPr indent="0" marL="0">
              <a:buNone/>
            </a:pPr>
            <a:r>
              <a:rPr lang="en-US" sz="1300" b="1" dirty="0">
                <a:solidFill>
                  <a:schemeClr val="accent1"/>
                </a:solidFill>
              </a:rPr>
              <a:t>人によって止まっていたところを、画面の上の案内と社内の基準で進める</a:t>
            </a:r>
            <a:endParaRPr lang="en-US" sz="1300" dirty="0"/>
          </a:p>
        </p:txBody>
      </p:sp>
      <p:graphicFrame>
        <p:nvGraphicFramePr>
          <p:cNvPr id="8" name="ba-table"/>
          <p:cNvGraphicFramePr>
            <a:graphicFrameLocks noGrp="1"/>
          </p:cNvGraphicFramePr>
          <p:nvPr>
            <p:extLst>
              <p:ext uri="{D42A27DB-BD31-4B8C-83A1-F6EECF244321}">
                <p14:modId xmlns:p14="http://schemas.microsoft.com/office/powerpoint/2010/main" val="1579011935"/>
              </p:ext>
            </p:extLst>
          </p:nvPr>
        </p:nvGraphicFramePr>
        <p:xfrm>
          <a:off x="457200" y="2057400"/>
          <a:ext cx="11277295" cy="914400"/>
        </p:xfrm>
        <a:graphic>
          <a:graphicData uri="http://schemas.openxmlformats.org/drawingml/2006/table">
            <a:tbl>
              <a:tblPr/>
              <a:tblGrid>
                <a:gridCol w="1828800"/>
                <a:gridCol w="4206240"/>
                <a:gridCol w="5239512"/>
              </a:tblGrid>
              <a:tr h="411480">
                <a:tc>
                  <a:txBody>
                    <a:bodyPr/>
                    <a:lstStyle/>
                    <a:p>
                      <a:pPr indent="0" marL="0">
                        <a:buNone/>
                      </a:pPr>
                      <a:r>
                        <a:rPr lang="en-US" sz="1200" b="1" dirty="0">
                          <a:solidFill>
                            <a:schemeClr val="bg1"/>
                          </a:solidFill>
                          <a:latin typeface="Yu Gothic" pitchFamily="34" charset="0"/>
                          <a:ea typeface="Yu Gothic" pitchFamily="34" charset="-122"/>
                          <a:cs typeface="Yu Gothic" pitchFamily="34" charset="-120"/>
                        </a:rPr>
                        <a:t>工程</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latin typeface="Yu Gothic" pitchFamily="34" charset="0"/>
                          <a:ea typeface="Yu Gothic" pitchFamily="34" charset="-122"/>
                          <a:cs typeface="Yu Gothic" pitchFamily="34" charset="-120"/>
                        </a:rPr>
                        <a:t>Before（仮説）</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latin typeface="Yu Gothic" pitchFamily="34" charset="0"/>
                          <a:ea typeface="Yu Gothic" pitchFamily="34" charset="-122"/>
                          <a:cs typeface="Yu Gothic" pitchFamily="34" charset="-120"/>
                        </a:rPr>
                        <a:t>After（デモで見せる姿）</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chemeClr val="accent1"/>
                    </a:solidFill>
                  </a:tcPr>
                </a:tc>
              </a:tr>
              <a:tr h="658368">
                <a:tc>
                  <a:txBody>
                    <a:bodyPr/>
                    <a:lstStyle/>
                    <a:p>
                      <a:pPr indent="0" marL="0">
                        <a:buNone/>
                      </a:pPr>
                      <a:r>
                        <a:rPr lang="en-US" sz="1200" b="1" dirty="0">
                          <a:solidFill>
                            <a:schemeClr val="tx1"/>
                          </a:solidFill>
                          <a:latin typeface="Yu Gothic" pitchFamily="34" charset="0"/>
                          <a:ea typeface="Yu Gothic" pitchFamily="34" charset="-122"/>
                          <a:cs typeface="Yu Gothic" pitchFamily="34" charset="-120"/>
                        </a:rPr>
                        <a:t>状況確認</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アプリ・時間範囲・サービスの選び分けで迷い、専門チームに聞く</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F0F3F6"/>
                    </a:solidFill>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ガイドが順に案内し、似た名前のサービスは選び直しを案内する</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EEF7FD"/>
                    </a:solidFill>
                  </a:tcPr>
                </a:tc>
              </a:tr>
              <a:tr h="658368">
                <a:tc>
                  <a:txBody>
                    <a:bodyPr/>
                    <a:lstStyle/>
                    <a:p>
                      <a:pPr indent="0" marL="0">
                        <a:buNone/>
                      </a:pPr>
                      <a:r>
                        <a:rPr lang="en-US" sz="1200" b="1" dirty="0">
                          <a:solidFill>
                            <a:schemeClr val="tx1"/>
                          </a:solidFill>
                          <a:latin typeface="Yu Gothic" pitchFamily="34" charset="0"/>
                          <a:ea typeface="Yu Gothic" pitchFamily="34" charset="-122"/>
                          <a:cs typeface="Yu Gothic" pitchFamily="34" charset="-120"/>
                        </a:rPr>
                        <a:t>一次確認</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見る順番が人によってばらつく（イベントから見始めるなど）</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F0F3F6"/>
                    </a:solidFill>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社内手順の順番（概要→影響範囲→関連エンティティ→連絡）で案内する</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EEF7FD"/>
                    </a:solidFill>
                  </a:tcPr>
                </a:tc>
              </a:tr>
              <a:tr h="658368">
                <a:tc>
                  <a:txBody>
                    <a:bodyPr/>
                    <a:lstStyle/>
                    <a:p>
                      <a:pPr indent="0" marL="0">
                        <a:buNone/>
                      </a:pPr>
                      <a:r>
                        <a:rPr lang="en-US" sz="1200" b="1" dirty="0">
                          <a:solidFill>
                            <a:schemeClr val="tx1"/>
                          </a:solidFill>
                          <a:latin typeface="Yu Gothic" pitchFamily="34" charset="0"/>
                          <a:ea typeface="Yu Gothic" pitchFamily="34" charset="-122"/>
                          <a:cs typeface="Yu Gothic" pitchFamily="34" charset="-120"/>
                        </a:rPr>
                        <a:t>一次連絡</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優先度・宛先・書き方が人による</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F0F3F6"/>
                    </a:solidFill>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ツールチップで優先度の基準を示し、AI Hubが社内の形で下書きする（構想）</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EEF7FD"/>
                    </a:solidFill>
                  </a:tcPr>
                </a:tc>
              </a:tr>
              <a:tr h="658368">
                <a:tc>
                  <a:txBody>
                    <a:bodyPr/>
                    <a:lstStyle/>
                    <a:p>
                      <a:pPr indent="0" marL="0">
                        <a:buNone/>
                      </a:pPr>
                      <a:r>
                        <a:rPr lang="en-US" sz="1200" b="1" dirty="0">
                          <a:solidFill>
                            <a:schemeClr val="tx1"/>
                          </a:solidFill>
                          <a:latin typeface="Yu Gothic" pitchFamily="34" charset="0"/>
                          <a:ea typeface="Yu Gothic" pitchFamily="34" charset="-122"/>
                          <a:cs typeface="Yu Gothic" pitchFamily="34" charset="-120"/>
                        </a:rPr>
                        <a:t>ログ調査</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SPLを一から書けず、専門チームに依頼して待つ</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F0F3F6"/>
                    </a:solidFill>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確認済みのひな型から調べ、AI HubがSPLと結果の読み方を説明する（構想）</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EEF7FD"/>
                    </a:solidFill>
                  </a:tcPr>
                </a:tc>
              </a:tr>
              <a:tr h="658368">
                <a:tc>
                  <a:txBody>
                    <a:bodyPr/>
                    <a:lstStyle/>
                    <a:p>
                      <a:pPr indent="0" marL="0">
                        <a:buNone/>
                      </a:pPr>
                      <a:r>
                        <a:rPr lang="en-US" sz="1200" b="1" dirty="0">
                          <a:solidFill>
                            <a:schemeClr val="tx1"/>
                          </a:solidFill>
                          <a:latin typeface="Yu Gothic" pitchFamily="34" charset="0"/>
                          <a:ea typeface="Yu Gothic" pitchFamily="34" charset="-122"/>
                          <a:cs typeface="Yu Gothic" pitchFamily="34" charset="-120"/>
                        </a:rPr>
                        <a:t>共有・再利用</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調べた条件が残らず、次も同じ依頼になる</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F0F3F6"/>
                    </a:solidFill>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確認依頼を送り、レポートとして保存して次回に使う</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EEF7FD"/>
                    </a:solidFill>
                  </a:tcPr>
                </a:tc>
              </a:tr>
            </a:tbl>
          </a:graphicData>
        </a:graphic>
      </p:graphicFrame>
      <p:sp>
        <p:nvSpPr>
          <p:cNvPr id="7" name="footnote"/>
          <p:cNvSpPr txBox="1"/>
          <p:nvPr/>
        </p:nvSpPr>
        <p:spPr>
          <a:xfrm>
            <a:off x="457200" y="6327648"/>
            <a:ext cx="10545775" cy="384048"/>
          </a:xfrm>
          <a:prstGeom prst="rect">
            <a:avLst/>
          </a:prstGeom>
          <a:noFill/>
          <a:ln/>
        </p:spPr>
        <p:txBody>
          <a:bodyPr wrap="square" lIns="0" tIns="0" rIns="0" bIns="0" rtlCol="0" anchor="ctr"/>
          <a:lstStyle/>
          <a:p>
            <a:pPr indent="0" marL="0">
              <a:buNone/>
            </a:pPr>
            <a:r>
              <a:rPr lang="en-US" sz="1100" dirty="0">
                <a:solidFill>
                  <a:schemeClr val="accent5"/>
                </a:solidFill>
              </a:rPr>
              <a:t>Beforeはデモが置く仮説（確認必要）です。社内手順・判断基準はデモ用の架空の例です。</a:t>
            </a:r>
            <a:endParaRPr lang="en-US" sz="1100" dirty="0"/>
          </a:p>
        </p:txBody>
      </p:sp>
      <p:sp>
        <p:nvSpPr>
          <p:cNvPr id="25" name="Slide Number Placeholder 0"/>
          <p:cNvSpPr>
            <a:spLocks noGrp="1"/>
          </p:cNvSpPr>
          <p:nvPr>
            <p:ph type="sldNum" sz="quarter" idx="4294967295"/>
          </p:nvPr>
        </p:nvSpPr>
        <p:spPr>
          <a:xfrm>
            <a:off x="1118585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7315200" cy="274320"/>
          </a:xfrm>
          <a:prstGeom prst="rect">
            <a:avLst/>
          </a:prstGeom>
          <a:noFill/>
          <a:ln/>
        </p:spPr>
        <p:txBody>
          <a:bodyPr wrap="square" lIns="0" tIns="0" rIns="0" bIns="0" rtlCol="0" anchor="ctr"/>
          <a:lstStyle/>
          <a:p>
            <a:pPr algn="l" indent="0" marL="0">
              <a:buNone/>
            </a:pPr>
            <a:r>
              <a:rPr lang="en-US" sz="1100" b="1" dirty="0">
                <a:solidFill>
                  <a:schemeClr val="accent2"/>
                </a:solidFill>
              </a:rPr>
              <a:t>デモ｜流れ</a:t>
            </a:r>
            <a:endParaRPr lang="en-US" sz="1100" dirty="0"/>
          </a:p>
        </p:txBody>
      </p:sp>
      <p:sp>
        <p:nvSpPr>
          <p:cNvPr id="3" name="Text 0"/>
          <p:cNvSpPr/>
          <p:nvPr>
            <p:ph idx="101" type="title" hasCustomPrompt="1"/>
          </p:nvPr>
        </p:nvSpPr>
        <p:spPr>
          <a:xfrm>
            <a:off x="457200" y="457200"/>
            <a:ext cx="11277295" cy="548640"/>
          </a:xfrm>
          <a:prstGeom prst="rect">
            <a:avLst/>
          </a:prstGeom>
          <a:noFill/>
          <a:ln/>
        </p:spPr>
        <p:txBody>
          <a:bodyPr wrap="square" lIns="0" tIns="0" rIns="0" bIns="0" rtlCol="0" anchor="ctr"/>
          <a:lstStyle/>
          <a:p>
            <a:pPr algn="l" indent="0" marL="0">
              <a:buNone/>
            </a:pPr>
            <a:r>
              <a:rPr lang="en-US" sz="2200" b="1" dirty="0">
                <a:solidFill>
                  <a:schemeClr val="tx1"/>
                </a:solidFill>
              </a:rPr>
              <a:t>デモ動画の流れ：3章＋振り返り（5分10秒）</a:t>
            </a:r>
            <a:endParaRPr lang="en-US" sz="2200" dirty="0"/>
          </a:p>
        </p:txBody>
      </p:sp>
      <p:sp>
        <p:nvSpPr>
          <p:cNvPr id="4" name="band"/>
          <p:cNvSpPr/>
          <p:nvPr/>
        </p:nvSpPr>
        <p:spPr>
          <a:xfrm>
            <a:off x="457200" y="1097280"/>
            <a:ext cx="11277295" cy="731520"/>
          </a:xfrm>
          <a:prstGeom prst="rect">
            <a:avLst/>
          </a:prstGeom>
          <a:solidFill>
            <a:schemeClr val="accent3"/>
          </a:solidFill>
          <a:ln/>
        </p:spPr>
      </p:sp>
      <p:sp>
        <p:nvSpPr>
          <p:cNvPr id="5" name="band-text"/>
          <p:cNvSpPr txBox="1"/>
          <p:nvPr/>
        </p:nvSpPr>
        <p:spPr>
          <a:xfrm>
            <a:off x="594360" y="1097280"/>
            <a:ext cx="11002975" cy="731520"/>
          </a:xfrm>
          <a:prstGeom prst="rect">
            <a:avLst/>
          </a:prstGeom>
          <a:noFill/>
          <a:ln/>
        </p:spPr>
        <p:txBody>
          <a:bodyPr wrap="square" lIns="0" tIns="0" rIns="0" bIns="0" rtlCol="0" anchor="ctr"/>
          <a:lstStyle/>
          <a:p>
            <a:pPr indent="0" marL="0">
              <a:buNone/>
            </a:pPr>
            <a:r>
              <a:rPr lang="en-US" sz="1300" b="1" dirty="0">
                <a:solidFill>
                  <a:schemeClr val="accent1"/>
                </a:solidFill>
              </a:rPr>
              <a:t>運用担当者（架空）が、問い合わせから一次確認・ログ分析までを一人で進める。各章の終わりに「伺いたいこと」を出します</a:t>
            </a:r>
            <a:endParaRPr lang="en-US" sz="1300" dirty="0"/>
          </a:p>
        </p:txBody>
      </p:sp>
      <p:sp>
        <p:nvSpPr>
          <p:cNvPr id="6" name="scene-0"/>
          <p:cNvSpPr/>
          <p:nvPr/>
        </p:nvSpPr>
        <p:spPr>
          <a:xfrm>
            <a:off x="457200" y="2057400"/>
            <a:ext cx="3637178" cy="2240280"/>
          </a:xfrm>
          <a:prstGeom prst="rect">
            <a:avLst/>
          </a:prstGeom>
          <a:solidFill>
            <a:schemeClr val="bg1"/>
          </a:solidFill>
          <a:ln w="9525">
            <a:solidFill>
              <a:schemeClr val="accent6"/>
            </a:solidFill>
            <a:prstDash val="solid"/>
          </a:ln>
        </p:spPr>
      </p:sp>
      <p:sp>
        <p:nvSpPr>
          <p:cNvPr id="7" name="scene-0-head"/>
          <p:cNvSpPr/>
          <p:nvPr/>
        </p:nvSpPr>
        <p:spPr>
          <a:xfrm>
            <a:off x="457200" y="2057400"/>
            <a:ext cx="3637178" cy="347472"/>
          </a:xfrm>
          <a:prstGeom prst="rect">
            <a:avLst/>
          </a:prstGeom>
          <a:solidFill>
            <a:schemeClr val="accent2"/>
          </a:solidFill>
          <a:ln/>
        </p:spPr>
      </p:sp>
      <p:sp>
        <p:nvSpPr>
          <p:cNvPr id="8" name="scene-0-head-text"/>
          <p:cNvSpPr txBox="1"/>
          <p:nvPr/>
        </p:nvSpPr>
        <p:spPr>
          <a:xfrm>
            <a:off x="548640" y="2057400"/>
            <a:ext cx="3454298" cy="347472"/>
          </a:xfrm>
          <a:prstGeom prst="rect">
            <a:avLst/>
          </a:prstGeom>
          <a:noFill/>
          <a:ln/>
        </p:spPr>
        <p:txBody>
          <a:bodyPr wrap="square" lIns="0" tIns="0" rIns="0" bIns="0" rtlCol="0" anchor="ctr"/>
          <a:lstStyle/>
          <a:p>
            <a:pPr indent="0" marL="0">
              <a:buNone/>
            </a:pPr>
            <a:r>
              <a:rPr lang="en-US" sz="1200" b="1" dirty="0">
                <a:solidFill>
                  <a:schemeClr val="bg1"/>
                </a:solidFill>
              </a:rPr>
              <a:t>第1章　問い合わせ・状況確認</a:t>
            </a:r>
            <a:endParaRPr lang="en-US" sz="1200" dirty="0"/>
          </a:p>
        </p:txBody>
      </p:sp>
      <p:sp>
        <p:nvSpPr>
          <p:cNvPr id="9" name="scene-time-0"/>
          <p:cNvSpPr txBox="1"/>
          <p:nvPr/>
        </p:nvSpPr>
        <p:spPr>
          <a:xfrm>
            <a:off x="2997098" y="2057400"/>
            <a:ext cx="1005840" cy="347472"/>
          </a:xfrm>
          <a:prstGeom prst="rect">
            <a:avLst/>
          </a:prstGeom>
          <a:noFill/>
          <a:ln/>
        </p:spPr>
        <p:txBody>
          <a:bodyPr wrap="square" lIns="0" tIns="0" rIns="0" bIns="0" rtlCol="0" anchor="ctr"/>
          <a:lstStyle/>
          <a:p>
            <a:pPr algn="r" indent="0" marL="0">
              <a:buNone/>
            </a:pPr>
            <a:r>
              <a:rPr lang="en-US" sz="1200" b="1" dirty="0">
                <a:solidFill>
                  <a:schemeClr val="bg1"/>
                </a:solidFill>
              </a:rPr>
              <a:t>約1分10秒</a:t>
            </a:r>
            <a:endParaRPr lang="en-US" sz="1200" dirty="0"/>
          </a:p>
        </p:txBody>
      </p:sp>
      <p:sp>
        <p:nvSpPr>
          <p:cNvPr id="10" name="scene-screen-0"/>
          <p:cNvSpPr txBox="1"/>
          <p:nvPr/>
        </p:nvSpPr>
        <p:spPr>
          <a:xfrm>
            <a:off x="566928" y="2514600"/>
            <a:ext cx="3417722" cy="292608"/>
          </a:xfrm>
          <a:prstGeom prst="rect">
            <a:avLst/>
          </a:prstGeom>
          <a:noFill/>
          <a:ln/>
        </p:spPr>
        <p:txBody>
          <a:bodyPr wrap="square" lIns="0" tIns="0" rIns="0" bIns="0" rtlCol="0" anchor="t"/>
          <a:lstStyle/>
          <a:p>
            <a:pPr indent="0" marL="0">
              <a:buNone/>
            </a:pPr>
            <a:r>
              <a:rPr lang="en-US" sz="1200" b="1" dirty="0">
                <a:solidFill>
                  <a:schemeClr val="accent1"/>
                </a:solidFill>
              </a:rPr>
              <a:t>画面：Service Analyzer（ITSI）</a:t>
            </a:r>
            <a:endParaRPr lang="en-US" sz="1200" dirty="0"/>
          </a:p>
        </p:txBody>
      </p:sp>
      <p:sp>
        <p:nvSpPr>
          <p:cNvPr id="11" name="scene-desc-0"/>
          <p:cNvSpPr txBox="1"/>
          <p:nvPr/>
        </p:nvSpPr>
        <p:spPr>
          <a:xfrm>
            <a:off x="566928" y="2843784"/>
            <a:ext cx="3417722" cy="914400"/>
          </a:xfrm>
          <a:prstGeom prst="rect">
            <a:avLst/>
          </a:prstGeom>
          <a:noFill/>
          <a:ln/>
        </p:spPr>
        <p:txBody>
          <a:bodyPr wrap="square" lIns="0" tIns="0" rIns="0" bIns="0" rtlCol="0" anchor="t"/>
          <a:lstStyle/>
          <a:p>
            <a:pPr indent="0" marL="0">
              <a:buNone/>
            </a:pPr>
            <a:r>
              <a:rPr lang="en-US" sz="1300" dirty="0">
                <a:solidFill>
                  <a:schemeClr val="tx1"/>
                </a:solidFill>
              </a:rPr>
              <a:t>ガイド6ステップ。時間範囲の指定、サービスの選び直し、健全性スコアの判断基準</a:t>
            </a:r>
            <a:endParaRPr lang="en-US" sz="1300" dirty="0"/>
          </a:p>
        </p:txBody>
      </p:sp>
      <p:sp>
        <p:nvSpPr>
          <p:cNvPr id="12" name="scene-badge-0"/>
          <p:cNvSpPr/>
          <p:nvPr/>
        </p:nvSpPr>
        <p:spPr>
          <a:xfrm>
            <a:off x="566928" y="3913632"/>
            <a:ext cx="987552" cy="256032"/>
          </a:xfrm>
          <a:prstGeom prst="rect">
            <a:avLst/>
          </a:prstGeom>
          <a:solidFill>
            <a:srgbClr val="8A96A6"/>
          </a:solidFill>
          <a:ln/>
        </p:spPr>
      </p:sp>
      <p:sp>
        <p:nvSpPr>
          <p:cNvPr id="13" name="scene-badge-0-text"/>
          <p:cNvSpPr txBox="1"/>
          <p:nvPr/>
        </p:nvSpPr>
        <p:spPr>
          <a:xfrm>
            <a:off x="566928" y="3913632"/>
            <a:ext cx="987552" cy="256032"/>
          </a:xfrm>
          <a:prstGeom prst="rect">
            <a:avLst/>
          </a:prstGeom>
          <a:noFill/>
          <a:ln/>
        </p:spPr>
        <p:txBody>
          <a:bodyPr wrap="square" lIns="0" tIns="0" rIns="0" bIns="0" rtlCol="0" anchor="ctr"/>
          <a:lstStyle/>
          <a:p>
            <a:pPr algn="ctr" indent="0" marL="0">
              <a:buNone/>
            </a:pPr>
            <a:r>
              <a:rPr lang="en-US" sz="1100" b="1" dirty="0">
                <a:solidFill>
                  <a:schemeClr val="bg1"/>
                </a:solidFill>
              </a:rPr>
              <a:t>画面イメージ</a:t>
            </a:r>
            <a:endParaRPr lang="en-US" sz="1100" dirty="0"/>
          </a:p>
        </p:txBody>
      </p:sp>
      <p:sp>
        <p:nvSpPr>
          <p:cNvPr id="14" name="scene-1"/>
          <p:cNvSpPr/>
          <p:nvPr/>
        </p:nvSpPr>
        <p:spPr>
          <a:xfrm>
            <a:off x="4277258" y="2057400"/>
            <a:ext cx="3637178" cy="2240280"/>
          </a:xfrm>
          <a:prstGeom prst="rect">
            <a:avLst/>
          </a:prstGeom>
          <a:solidFill>
            <a:schemeClr val="bg1"/>
          </a:solidFill>
          <a:ln w="9525">
            <a:solidFill>
              <a:schemeClr val="accent6"/>
            </a:solidFill>
            <a:prstDash val="solid"/>
          </a:ln>
        </p:spPr>
      </p:sp>
      <p:sp>
        <p:nvSpPr>
          <p:cNvPr id="15" name="scene-1-head"/>
          <p:cNvSpPr/>
          <p:nvPr/>
        </p:nvSpPr>
        <p:spPr>
          <a:xfrm>
            <a:off x="4277258" y="2057400"/>
            <a:ext cx="3637178" cy="347472"/>
          </a:xfrm>
          <a:prstGeom prst="rect">
            <a:avLst/>
          </a:prstGeom>
          <a:solidFill>
            <a:schemeClr val="accent2"/>
          </a:solidFill>
          <a:ln/>
        </p:spPr>
      </p:sp>
      <p:sp>
        <p:nvSpPr>
          <p:cNvPr id="16" name="scene-1-head-text"/>
          <p:cNvSpPr txBox="1"/>
          <p:nvPr/>
        </p:nvSpPr>
        <p:spPr>
          <a:xfrm>
            <a:off x="4368698" y="2057400"/>
            <a:ext cx="3454298" cy="347472"/>
          </a:xfrm>
          <a:prstGeom prst="rect">
            <a:avLst/>
          </a:prstGeom>
          <a:noFill/>
          <a:ln/>
        </p:spPr>
        <p:txBody>
          <a:bodyPr wrap="square" lIns="0" tIns="0" rIns="0" bIns="0" rtlCol="0" anchor="ctr"/>
          <a:lstStyle/>
          <a:p>
            <a:pPr indent="0" marL="0">
              <a:buNone/>
            </a:pPr>
            <a:r>
              <a:rPr lang="en-US" sz="1200" b="1" dirty="0">
                <a:solidFill>
                  <a:schemeClr val="bg1"/>
                </a:solidFill>
              </a:rPr>
              <a:t>第2章　一次確認・連絡</a:t>
            </a:r>
            <a:endParaRPr lang="en-US" sz="1200" dirty="0"/>
          </a:p>
        </p:txBody>
      </p:sp>
      <p:sp>
        <p:nvSpPr>
          <p:cNvPr id="17" name="scene-time-1"/>
          <p:cNvSpPr txBox="1"/>
          <p:nvPr/>
        </p:nvSpPr>
        <p:spPr>
          <a:xfrm>
            <a:off x="6817157" y="2057400"/>
            <a:ext cx="1005840" cy="347472"/>
          </a:xfrm>
          <a:prstGeom prst="rect">
            <a:avLst/>
          </a:prstGeom>
          <a:noFill/>
          <a:ln/>
        </p:spPr>
        <p:txBody>
          <a:bodyPr wrap="square" lIns="0" tIns="0" rIns="0" bIns="0" rtlCol="0" anchor="ctr"/>
          <a:lstStyle/>
          <a:p>
            <a:pPr algn="r" indent="0" marL="0">
              <a:buNone/>
            </a:pPr>
            <a:r>
              <a:rPr lang="en-US" sz="1200" b="1" dirty="0">
                <a:solidFill>
                  <a:schemeClr val="bg1"/>
                </a:solidFill>
              </a:rPr>
              <a:t>約1分30秒</a:t>
            </a:r>
            <a:endParaRPr lang="en-US" sz="1200" dirty="0"/>
          </a:p>
        </p:txBody>
      </p:sp>
      <p:sp>
        <p:nvSpPr>
          <p:cNvPr id="18" name="scene-screen-1"/>
          <p:cNvSpPr txBox="1"/>
          <p:nvPr/>
        </p:nvSpPr>
        <p:spPr>
          <a:xfrm>
            <a:off x="4386986" y="2514600"/>
            <a:ext cx="3417722" cy="292608"/>
          </a:xfrm>
          <a:prstGeom prst="rect">
            <a:avLst/>
          </a:prstGeom>
          <a:noFill/>
          <a:ln/>
        </p:spPr>
        <p:txBody>
          <a:bodyPr wrap="square" lIns="0" tIns="0" rIns="0" bIns="0" rtlCol="0" anchor="t"/>
          <a:lstStyle/>
          <a:p>
            <a:pPr indent="0" marL="0">
              <a:buNone/>
            </a:pPr>
            <a:r>
              <a:rPr lang="en-US" sz="1200" b="1" dirty="0">
                <a:solidFill>
                  <a:schemeClr val="accent1"/>
                </a:solidFill>
              </a:rPr>
              <a:t>画面：Episode Review → Entity Overview</a:t>
            </a:r>
            <a:endParaRPr lang="en-US" sz="1200" dirty="0"/>
          </a:p>
        </p:txBody>
      </p:sp>
      <p:sp>
        <p:nvSpPr>
          <p:cNvPr id="19" name="scene-desc-1"/>
          <p:cNvSpPr txBox="1"/>
          <p:nvPr/>
        </p:nvSpPr>
        <p:spPr>
          <a:xfrm>
            <a:off x="4386986" y="2843784"/>
            <a:ext cx="3417722" cy="914400"/>
          </a:xfrm>
          <a:prstGeom prst="rect">
            <a:avLst/>
          </a:prstGeom>
          <a:noFill/>
          <a:ln/>
        </p:spPr>
        <p:txBody>
          <a:bodyPr wrap="square" lIns="0" tIns="0" rIns="0" bIns="0" rtlCol="0" anchor="t"/>
          <a:lstStyle/>
          <a:p>
            <a:pPr indent="0" marL="0">
              <a:buNone/>
            </a:pPr>
            <a:r>
              <a:rPr lang="en-US" sz="1300" dirty="0">
                <a:solidFill>
                  <a:schemeClr val="tx1"/>
                </a:solidFill>
              </a:rPr>
              <a:t>社内手順の4ステップ。順番の案内、優先度の基準、AI Hubが連絡文を下書き</a:t>
            </a:r>
            <a:endParaRPr lang="en-US" sz="1300" dirty="0"/>
          </a:p>
        </p:txBody>
      </p:sp>
      <p:sp>
        <p:nvSpPr>
          <p:cNvPr id="20" name="scene-badge-1"/>
          <p:cNvSpPr/>
          <p:nvPr/>
        </p:nvSpPr>
        <p:spPr>
          <a:xfrm>
            <a:off x="4386986" y="3913632"/>
            <a:ext cx="987552" cy="256032"/>
          </a:xfrm>
          <a:prstGeom prst="rect">
            <a:avLst/>
          </a:prstGeom>
          <a:solidFill>
            <a:srgbClr val="8A96A6"/>
          </a:solidFill>
          <a:ln/>
        </p:spPr>
      </p:sp>
      <p:sp>
        <p:nvSpPr>
          <p:cNvPr id="21" name="scene-badge-1-text"/>
          <p:cNvSpPr txBox="1"/>
          <p:nvPr/>
        </p:nvSpPr>
        <p:spPr>
          <a:xfrm>
            <a:off x="4386986" y="3913632"/>
            <a:ext cx="987552" cy="256032"/>
          </a:xfrm>
          <a:prstGeom prst="rect">
            <a:avLst/>
          </a:prstGeom>
          <a:noFill/>
          <a:ln/>
        </p:spPr>
        <p:txBody>
          <a:bodyPr wrap="square" lIns="0" tIns="0" rIns="0" bIns="0" rtlCol="0" anchor="ctr"/>
          <a:lstStyle/>
          <a:p>
            <a:pPr algn="ctr" indent="0" marL="0">
              <a:buNone/>
            </a:pPr>
            <a:r>
              <a:rPr lang="en-US" sz="1100" b="1" dirty="0">
                <a:solidFill>
                  <a:schemeClr val="bg1"/>
                </a:solidFill>
              </a:rPr>
              <a:t>画面イメージ</a:t>
            </a:r>
            <a:endParaRPr lang="en-US" sz="1100" dirty="0"/>
          </a:p>
        </p:txBody>
      </p:sp>
      <p:sp>
        <p:nvSpPr>
          <p:cNvPr id="22" name="scene-2"/>
          <p:cNvSpPr/>
          <p:nvPr/>
        </p:nvSpPr>
        <p:spPr>
          <a:xfrm>
            <a:off x="8097317" y="2057400"/>
            <a:ext cx="3637178" cy="2240280"/>
          </a:xfrm>
          <a:prstGeom prst="rect">
            <a:avLst/>
          </a:prstGeom>
          <a:solidFill>
            <a:schemeClr val="bg1"/>
          </a:solidFill>
          <a:ln w="9525">
            <a:solidFill>
              <a:schemeClr val="accent6"/>
            </a:solidFill>
            <a:prstDash val="solid"/>
          </a:ln>
        </p:spPr>
      </p:sp>
      <p:sp>
        <p:nvSpPr>
          <p:cNvPr id="23" name="scene-2-head"/>
          <p:cNvSpPr/>
          <p:nvPr/>
        </p:nvSpPr>
        <p:spPr>
          <a:xfrm>
            <a:off x="8097317" y="2057400"/>
            <a:ext cx="3637178" cy="347472"/>
          </a:xfrm>
          <a:prstGeom prst="rect">
            <a:avLst/>
          </a:prstGeom>
          <a:solidFill>
            <a:schemeClr val="accent1"/>
          </a:solidFill>
          <a:ln/>
        </p:spPr>
      </p:sp>
      <p:sp>
        <p:nvSpPr>
          <p:cNvPr id="24" name="scene-2-head-text"/>
          <p:cNvSpPr txBox="1"/>
          <p:nvPr/>
        </p:nvSpPr>
        <p:spPr>
          <a:xfrm>
            <a:off x="8188757" y="2057400"/>
            <a:ext cx="3454298" cy="347472"/>
          </a:xfrm>
          <a:prstGeom prst="rect">
            <a:avLst/>
          </a:prstGeom>
          <a:noFill/>
          <a:ln/>
        </p:spPr>
        <p:txBody>
          <a:bodyPr wrap="square" lIns="0" tIns="0" rIns="0" bIns="0" rtlCol="0" anchor="ctr"/>
          <a:lstStyle/>
          <a:p>
            <a:pPr indent="0" marL="0">
              <a:buNone/>
            </a:pPr>
            <a:r>
              <a:rPr lang="en-US" sz="1200" b="1" dirty="0">
                <a:solidFill>
                  <a:schemeClr val="bg1"/>
                </a:solidFill>
              </a:rPr>
              <a:t>第3章　ログを調べる</a:t>
            </a:r>
            <a:endParaRPr lang="en-US" sz="1200" dirty="0"/>
          </a:p>
        </p:txBody>
      </p:sp>
      <p:sp>
        <p:nvSpPr>
          <p:cNvPr id="25" name="scene-time-2"/>
          <p:cNvSpPr txBox="1"/>
          <p:nvPr/>
        </p:nvSpPr>
        <p:spPr>
          <a:xfrm>
            <a:off x="10637215" y="2057400"/>
            <a:ext cx="1005840" cy="347472"/>
          </a:xfrm>
          <a:prstGeom prst="rect">
            <a:avLst/>
          </a:prstGeom>
          <a:noFill/>
          <a:ln/>
        </p:spPr>
        <p:txBody>
          <a:bodyPr wrap="square" lIns="0" tIns="0" rIns="0" bIns="0" rtlCol="0" anchor="ctr"/>
          <a:lstStyle/>
          <a:p>
            <a:pPr algn="r" indent="0" marL="0">
              <a:buNone/>
            </a:pPr>
            <a:r>
              <a:rPr lang="en-US" sz="1200" b="1" dirty="0">
                <a:solidFill>
                  <a:schemeClr val="bg1"/>
                </a:solidFill>
              </a:rPr>
              <a:t>約1分30秒</a:t>
            </a:r>
            <a:endParaRPr lang="en-US" sz="1200" dirty="0"/>
          </a:p>
        </p:txBody>
      </p:sp>
      <p:sp>
        <p:nvSpPr>
          <p:cNvPr id="26" name="scene-screen-2"/>
          <p:cNvSpPr txBox="1"/>
          <p:nvPr/>
        </p:nvSpPr>
        <p:spPr>
          <a:xfrm>
            <a:off x="8207045" y="2514600"/>
            <a:ext cx="3417722" cy="292608"/>
          </a:xfrm>
          <a:prstGeom prst="rect">
            <a:avLst/>
          </a:prstGeom>
          <a:noFill/>
          <a:ln/>
        </p:spPr>
        <p:txBody>
          <a:bodyPr wrap="square" lIns="0" tIns="0" rIns="0" bIns="0" rtlCol="0" anchor="t"/>
          <a:lstStyle/>
          <a:p>
            <a:pPr indent="0" marL="0">
              <a:buNone/>
            </a:pPr>
            <a:r>
              <a:rPr lang="en-US" sz="1200" b="1" dirty="0">
                <a:solidFill>
                  <a:schemeClr val="accent1"/>
                </a:solidFill>
              </a:rPr>
              <a:t>画面：Search &amp; Reporting（Splunk Cloud）</a:t>
            </a:r>
            <a:endParaRPr lang="en-US" sz="1200" dirty="0"/>
          </a:p>
        </p:txBody>
      </p:sp>
      <p:sp>
        <p:nvSpPr>
          <p:cNvPr id="27" name="scene-desc-2"/>
          <p:cNvSpPr txBox="1"/>
          <p:nvPr/>
        </p:nvSpPr>
        <p:spPr>
          <a:xfrm>
            <a:off x="8207045" y="2843784"/>
            <a:ext cx="3417722" cy="914400"/>
          </a:xfrm>
          <a:prstGeom prst="rect">
            <a:avLst/>
          </a:prstGeom>
          <a:noFill/>
          <a:ln/>
        </p:spPr>
        <p:txBody>
          <a:bodyPr wrap="square" lIns="0" tIns="0" rIns="0" bIns="0" rtlCol="0" anchor="t"/>
          <a:lstStyle/>
          <a:p>
            <a:pPr indent="0" marL="0">
              <a:buNone/>
            </a:pPr>
            <a:r>
              <a:rPr lang="en-US" sz="1300" dirty="0">
                <a:solidFill>
                  <a:schemeClr val="tx1"/>
                </a:solidFill>
              </a:rPr>
              <a:t>公開したガイド7ステップを再生。AI HubがSPLと結果を説明し、依頼文を下書き</a:t>
            </a:r>
            <a:endParaRPr lang="en-US" sz="1300" dirty="0"/>
          </a:p>
        </p:txBody>
      </p:sp>
      <p:sp>
        <p:nvSpPr>
          <p:cNvPr id="28" name="scene-badge-2"/>
          <p:cNvSpPr/>
          <p:nvPr/>
        </p:nvSpPr>
        <p:spPr>
          <a:xfrm>
            <a:off x="8207045" y="3913632"/>
            <a:ext cx="630936" cy="256032"/>
          </a:xfrm>
          <a:prstGeom prst="rect">
            <a:avLst/>
          </a:prstGeom>
          <a:solidFill>
            <a:schemeClr val="accent1"/>
          </a:solidFill>
          <a:ln/>
        </p:spPr>
      </p:sp>
      <p:sp>
        <p:nvSpPr>
          <p:cNvPr id="29" name="scene-badge-2-text"/>
          <p:cNvSpPr txBox="1"/>
          <p:nvPr/>
        </p:nvSpPr>
        <p:spPr>
          <a:xfrm>
            <a:off x="8207045" y="3913632"/>
            <a:ext cx="630936" cy="256032"/>
          </a:xfrm>
          <a:prstGeom prst="rect">
            <a:avLst/>
          </a:prstGeom>
          <a:noFill/>
          <a:ln/>
        </p:spPr>
        <p:txBody>
          <a:bodyPr wrap="square" lIns="0" tIns="0" rIns="0" bIns="0" rtlCol="0" anchor="ctr"/>
          <a:lstStyle/>
          <a:p>
            <a:pPr algn="ctr" indent="0" marL="0">
              <a:buNone/>
            </a:pPr>
            <a:r>
              <a:rPr lang="en-US" sz="1100" b="1" dirty="0">
                <a:solidFill>
                  <a:schemeClr val="bg1"/>
                </a:solidFill>
              </a:rPr>
              <a:t>実画面</a:t>
            </a:r>
            <a:endParaRPr lang="en-US" sz="1100" dirty="0"/>
          </a:p>
        </p:txBody>
      </p:sp>
      <p:sp>
        <p:nvSpPr>
          <p:cNvPr id="30" name="sub-0"/>
          <p:cNvSpPr/>
          <p:nvPr/>
        </p:nvSpPr>
        <p:spPr>
          <a:xfrm>
            <a:off x="457200" y="4480560"/>
            <a:ext cx="5547208" cy="1371600"/>
          </a:xfrm>
          <a:prstGeom prst="rect">
            <a:avLst/>
          </a:prstGeom>
          <a:solidFill>
            <a:schemeClr val="bg1"/>
          </a:solidFill>
          <a:ln w="9525">
            <a:solidFill>
              <a:schemeClr val="accent6"/>
            </a:solidFill>
            <a:prstDash val="solid"/>
          </a:ln>
        </p:spPr>
      </p:sp>
      <p:sp>
        <p:nvSpPr>
          <p:cNvPr id="31" name="sub-0-head"/>
          <p:cNvSpPr/>
          <p:nvPr/>
        </p:nvSpPr>
        <p:spPr>
          <a:xfrm>
            <a:off x="457200" y="4480560"/>
            <a:ext cx="5547208" cy="347472"/>
          </a:xfrm>
          <a:prstGeom prst="rect">
            <a:avLst/>
          </a:prstGeom>
          <a:solidFill>
            <a:schemeClr val="accent5"/>
          </a:solidFill>
          <a:ln/>
        </p:spPr>
      </p:sp>
      <p:sp>
        <p:nvSpPr>
          <p:cNvPr id="32" name="sub-0-head-text"/>
          <p:cNvSpPr txBox="1"/>
          <p:nvPr/>
        </p:nvSpPr>
        <p:spPr>
          <a:xfrm>
            <a:off x="548640" y="4480560"/>
            <a:ext cx="5364328" cy="347472"/>
          </a:xfrm>
          <a:prstGeom prst="rect">
            <a:avLst/>
          </a:prstGeom>
          <a:noFill/>
          <a:ln/>
        </p:spPr>
        <p:txBody>
          <a:bodyPr wrap="square" lIns="0" tIns="0" rIns="0" bIns="0" rtlCol="0" anchor="ctr"/>
          <a:lstStyle/>
          <a:p>
            <a:pPr indent="0" marL="0">
              <a:buNone/>
            </a:pPr>
            <a:r>
              <a:rPr lang="en-US" sz="1200" b="1" dirty="0">
                <a:solidFill>
                  <a:schemeClr val="bg1"/>
                </a:solidFill>
              </a:rPr>
              <a:t>ガイドの作り方（実機）</a:t>
            </a:r>
            <a:endParaRPr lang="en-US" sz="1200" dirty="0"/>
          </a:p>
        </p:txBody>
      </p:sp>
      <p:sp>
        <p:nvSpPr>
          <p:cNvPr id="33" name="sub-time-0"/>
          <p:cNvSpPr txBox="1"/>
          <p:nvPr/>
        </p:nvSpPr>
        <p:spPr>
          <a:xfrm>
            <a:off x="4907128" y="4480560"/>
            <a:ext cx="1005840" cy="347472"/>
          </a:xfrm>
          <a:prstGeom prst="rect">
            <a:avLst/>
          </a:prstGeom>
          <a:noFill/>
          <a:ln/>
        </p:spPr>
        <p:txBody>
          <a:bodyPr wrap="square" lIns="0" tIns="0" rIns="0" bIns="0" rtlCol="0" anchor="ctr"/>
          <a:lstStyle/>
          <a:p>
            <a:pPr algn="r" indent="0" marL="0">
              <a:buNone/>
            </a:pPr>
            <a:r>
              <a:rPr lang="en-US" sz="1200" b="1" dirty="0">
                <a:solidFill>
                  <a:schemeClr val="bg1"/>
                </a:solidFill>
              </a:rPr>
              <a:t>約20秒</a:t>
            </a:r>
            <a:endParaRPr lang="en-US" sz="1200" dirty="0"/>
          </a:p>
        </p:txBody>
      </p:sp>
      <p:sp>
        <p:nvSpPr>
          <p:cNvPr id="34" name="sub-desc-0"/>
          <p:cNvSpPr txBox="1"/>
          <p:nvPr/>
        </p:nvSpPr>
        <p:spPr>
          <a:xfrm>
            <a:off x="566928" y="4937760"/>
            <a:ext cx="5327752" cy="502920"/>
          </a:xfrm>
          <a:prstGeom prst="rect">
            <a:avLst/>
          </a:prstGeom>
          <a:noFill/>
          <a:ln/>
        </p:spPr>
        <p:txBody>
          <a:bodyPr wrap="square" lIns="0" tIns="0" rIns="0" bIns="0" rtlCol="0" anchor="t"/>
          <a:lstStyle/>
          <a:p>
            <a:pPr indent="0" marL="0">
              <a:buNone/>
            </a:pPr>
            <a:r>
              <a:rPr lang="en-US" sz="1300" dirty="0">
                <a:solidFill>
                  <a:schemeClr val="tx1"/>
                </a:solidFill>
              </a:rPr>
              <a:t>Splunk Cloudの実画面の上で吹き出しをつなげ、テックタッチの管理画面で公開する</a:t>
            </a:r>
            <a:endParaRPr lang="en-US" sz="1300" dirty="0"/>
          </a:p>
        </p:txBody>
      </p:sp>
      <p:sp>
        <p:nvSpPr>
          <p:cNvPr id="35" name="sub-badge-0"/>
          <p:cNvSpPr/>
          <p:nvPr/>
        </p:nvSpPr>
        <p:spPr>
          <a:xfrm>
            <a:off x="566928" y="5486400"/>
            <a:ext cx="630936" cy="256032"/>
          </a:xfrm>
          <a:prstGeom prst="rect">
            <a:avLst/>
          </a:prstGeom>
          <a:solidFill>
            <a:schemeClr val="accent1"/>
          </a:solidFill>
          <a:ln/>
        </p:spPr>
      </p:sp>
      <p:sp>
        <p:nvSpPr>
          <p:cNvPr id="36" name="sub-badge-0-text"/>
          <p:cNvSpPr txBox="1"/>
          <p:nvPr/>
        </p:nvSpPr>
        <p:spPr>
          <a:xfrm>
            <a:off x="566928" y="5486400"/>
            <a:ext cx="630936" cy="256032"/>
          </a:xfrm>
          <a:prstGeom prst="rect">
            <a:avLst/>
          </a:prstGeom>
          <a:noFill/>
          <a:ln/>
        </p:spPr>
        <p:txBody>
          <a:bodyPr wrap="square" lIns="0" tIns="0" rIns="0" bIns="0" rtlCol="0" anchor="ctr"/>
          <a:lstStyle/>
          <a:p>
            <a:pPr algn="ctr" indent="0" marL="0">
              <a:buNone/>
            </a:pPr>
            <a:r>
              <a:rPr lang="en-US" sz="1100" b="1" dirty="0">
                <a:solidFill>
                  <a:schemeClr val="bg1"/>
                </a:solidFill>
              </a:rPr>
              <a:t>実画面</a:t>
            </a:r>
            <a:endParaRPr lang="en-US" sz="1100" dirty="0"/>
          </a:p>
        </p:txBody>
      </p:sp>
      <p:sp>
        <p:nvSpPr>
          <p:cNvPr id="37" name="sub-1"/>
          <p:cNvSpPr/>
          <p:nvPr/>
        </p:nvSpPr>
        <p:spPr>
          <a:xfrm>
            <a:off x="6187288" y="4480560"/>
            <a:ext cx="5547208" cy="1371600"/>
          </a:xfrm>
          <a:prstGeom prst="rect">
            <a:avLst/>
          </a:prstGeom>
          <a:solidFill>
            <a:schemeClr val="bg1"/>
          </a:solidFill>
          <a:ln w="9525">
            <a:solidFill>
              <a:schemeClr val="accent6"/>
            </a:solidFill>
            <a:prstDash val="solid"/>
          </a:ln>
        </p:spPr>
      </p:sp>
      <p:sp>
        <p:nvSpPr>
          <p:cNvPr id="38" name="sub-1-head"/>
          <p:cNvSpPr/>
          <p:nvPr/>
        </p:nvSpPr>
        <p:spPr>
          <a:xfrm>
            <a:off x="6187288" y="4480560"/>
            <a:ext cx="5547208" cy="347472"/>
          </a:xfrm>
          <a:prstGeom prst="rect">
            <a:avLst/>
          </a:prstGeom>
          <a:solidFill>
            <a:schemeClr val="accent5"/>
          </a:solidFill>
          <a:ln/>
        </p:spPr>
      </p:sp>
      <p:sp>
        <p:nvSpPr>
          <p:cNvPr id="39" name="sub-1-head-text"/>
          <p:cNvSpPr txBox="1"/>
          <p:nvPr/>
        </p:nvSpPr>
        <p:spPr>
          <a:xfrm>
            <a:off x="6278728" y="4480560"/>
            <a:ext cx="5364328" cy="347472"/>
          </a:xfrm>
          <a:prstGeom prst="rect">
            <a:avLst/>
          </a:prstGeom>
          <a:noFill/>
          <a:ln/>
        </p:spPr>
        <p:txBody>
          <a:bodyPr wrap="square" lIns="0" tIns="0" rIns="0" bIns="0" rtlCol="0" anchor="ctr"/>
          <a:lstStyle/>
          <a:p>
            <a:pPr indent="0" marL="0">
              <a:buNone/>
            </a:pPr>
            <a:r>
              <a:rPr lang="en-US" sz="1200" b="1" dirty="0">
                <a:solidFill>
                  <a:schemeClr val="bg1"/>
                </a:solidFill>
              </a:rPr>
              <a:t>振り返り</a:t>
            </a:r>
            <a:endParaRPr lang="en-US" sz="1200" dirty="0"/>
          </a:p>
        </p:txBody>
      </p:sp>
      <p:sp>
        <p:nvSpPr>
          <p:cNvPr id="40" name="sub-time-1"/>
          <p:cNvSpPr txBox="1"/>
          <p:nvPr/>
        </p:nvSpPr>
        <p:spPr>
          <a:xfrm>
            <a:off x="10637215" y="4480560"/>
            <a:ext cx="1005840" cy="347472"/>
          </a:xfrm>
          <a:prstGeom prst="rect">
            <a:avLst/>
          </a:prstGeom>
          <a:noFill/>
          <a:ln/>
        </p:spPr>
        <p:txBody>
          <a:bodyPr wrap="square" lIns="0" tIns="0" rIns="0" bIns="0" rtlCol="0" anchor="ctr"/>
          <a:lstStyle/>
          <a:p>
            <a:pPr algn="r" indent="0" marL="0">
              <a:buNone/>
            </a:pPr>
            <a:r>
              <a:rPr lang="en-US" sz="1200" b="1" dirty="0">
                <a:solidFill>
                  <a:schemeClr val="bg1"/>
                </a:solidFill>
              </a:rPr>
              <a:t>約30秒</a:t>
            </a:r>
            <a:endParaRPr lang="en-US" sz="1200" dirty="0"/>
          </a:p>
        </p:txBody>
      </p:sp>
      <p:sp>
        <p:nvSpPr>
          <p:cNvPr id="41" name="sub-desc-1"/>
          <p:cNvSpPr txBox="1"/>
          <p:nvPr/>
        </p:nvSpPr>
        <p:spPr>
          <a:xfrm>
            <a:off x="6297016" y="4937760"/>
            <a:ext cx="5327752" cy="502920"/>
          </a:xfrm>
          <a:prstGeom prst="rect">
            <a:avLst/>
          </a:prstGeom>
          <a:noFill/>
          <a:ln/>
        </p:spPr>
        <p:txBody>
          <a:bodyPr wrap="square" lIns="0" tIns="0" rIns="0" bIns="0" rtlCol="0" anchor="t"/>
          <a:lstStyle/>
          <a:p>
            <a:pPr indent="0" marL="0">
              <a:buNone/>
            </a:pPr>
            <a:r>
              <a:rPr lang="en-US" sz="1300" dirty="0">
                <a:solidFill>
                  <a:schemeClr val="tx1"/>
                </a:solidFill>
              </a:rPr>
              <a:t>今日の流れ、テックタッチが手当てした場面、確かめ方、本日伺いたいこと</a:t>
            </a:r>
            <a:endParaRPr lang="en-US" sz="1300" dirty="0"/>
          </a:p>
        </p:txBody>
      </p:sp>
      <p:sp>
        <p:nvSpPr>
          <p:cNvPr id="42" name="footnote"/>
          <p:cNvSpPr txBox="1"/>
          <p:nvPr/>
        </p:nvSpPr>
        <p:spPr>
          <a:xfrm>
            <a:off x="457200" y="6327648"/>
            <a:ext cx="10545775" cy="384048"/>
          </a:xfrm>
          <a:prstGeom prst="rect">
            <a:avLst/>
          </a:prstGeom>
          <a:noFill/>
          <a:ln/>
        </p:spPr>
        <p:txBody>
          <a:bodyPr wrap="square" lIns="0" tIns="0" rIns="0" bIns="0" rtlCol="0" anchor="ctr"/>
          <a:lstStyle/>
          <a:p>
            <a:pPr indent="0" marL="0">
              <a:buNone/>
            </a:pPr>
            <a:r>
              <a:rPr lang="en-US" sz="1100" dirty="0">
                <a:solidFill>
                  <a:schemeClr val="accent5"/>
                </a:solidFill>
              </a:rPr>
              <a:t>時間は動画の目安です。見出しが濃い青の第3章は、Splunk Cloudとテックタッチの実画面です。</a:t>
            </a:r>
            <a:endParaRPr lang="en-US" sz="1100" dirty="0"/>
          </a:p>
        </p:txBody>
      </p:sp>
      <p:sp>
        <p:nvSpPr>
          <p:cNvPr id="25" name="Slide Number Placeholder 0"/>
          <p:cNvSpPr>
            <a:spLocks noGrp="1"/>
          </p:cNvSpPr>
          <p:nvPr>
            <p:ph type="sldNum" sz="quarter" idx="4294967295"/>
          </p:nvPr>
        </p:nvSpPr>
        <p:spPr>
          <a:xfrm>
            <a:off x="1118585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7315200" cy="274320"/>
          </a:xfrm>
          <a:prstGeom prst="rect">
            <a:avLst/>
          </a:prstGeom>
          <a:noFill/>
          <a:ln/>
        </p:spPr>
        <p:txBody>
          <a:bodyPr wrap="square" lIns="0" tIns="0" rIns="0" bIns="0" rtlCol="0" anchor="ctr"/>
          <a:lstStyle/>
          <a:p>
            <a:pPr algn="l" indent="0" marL="0">
              <a:buNone/>
            </a:pPr>
            <a:r>
              <a:rPr lang="en-US" sz="1100" b="1" dirty="0">
                <a:solidFill>
                  <a:schemeClr val="accent2"/>
                </a:solidFill>
              </a:rPr>
              <a:t>デモ｜画面</a:t>
            </a:r>
            <a:endParaRPr lang="en-US" sz="1100" dirty="0"/>
          </a:p>
        </p:txBody>
      </p:sp>
      <p:sp>
        <p:nvSpPr>
          <p:cNvPr id="3" name="Text 0"/>
          <p:cNvSpPr/>
          <p:nvPr>
            <p:ph idx="101" type="title" hasCustomPrompt="1"/>
          </p:nvPr>
        </p:nvSpPr>
        <p:spPr>
          <a:xfrm>
            <a:off x="457200" y="457200"/>
            <a:ext cx="11277295" cy="548640"/>
          </a:xfrm>
          <a:prstGeom prst="rect">
            <a:avLst/>
          </a:prstGeom>
          <a:noFill/>
          <a:ln/>
        </p:spPr>
        <p:txBody>
          <a:bodyPr wrap="square" lIns="0" tIns="0" rIns="0" bIns="0" rtlCol="0" anchor="ctr"/>
          <a:lstStyle/>
          <a:p>
            <a:pPr algn="l" indent="0" marL="0">
              <a:buNone/>
            </a:pPr>
            <a:r>
              <a:rPr lang="en-US" sz="2200" b="1" dirty="0">
                <a:solidFill>
                  <a:schemeClr val="tx1"/>
                </a:solidFill>
              </a:rPr>
              <a:t>デモ動画の画面</a:t>
            </a:r>
            <a:endParaRPr lang="en-US" sz="2200" dirty="0"/>
          </a:p>
        </p:txBody>
      </p:sp>
      <p:sp>
        <p:nvSpPr>
          <p:cNvPr id="4" name="band"/>
          <p:cNvSpPr/>
          <p:nvPr/>
        </p:nvSpPr>
        <p:spPr>
          <a:xfrm>
            <a:off x="457200" y="1097280"/>
            <a:ext cx="11277295" cy="731520"/>
          </a:xfrm>
          <a:prstGeom prst="rect">
            <a:avLst/>
          </a:prstGeom>
          <a:solidFill>
            <a:schemeClr val="accent3"/>
          </a:solidFill>
          <a:ln/>
        </p:spPr>
      </p:sp>
      <p:sp>
        <p:nvSpPr>
          <p:cNvPr id="5" name="band-text"/>
          <p:cNvSpPr txBox="1"/>
          <p:nvPr/>
        </p:nvSpPr>
        <p:spPr>
          <a:xfrm>
            <a:off x="594360" y="1097280"/>
            <a:ext cx="11002975" cy="731520"/>
          </a:xfrm>
          <a:prstGeom prst="rect">
            <a:avLst/>
          </a:prstGeom>
          <a:noFill/>
          <a:ln/>
        </p:spPr>
        <p:txBody>
          <a:bodyPr wrap="square" lIns="0" tIns="0" rIns="0" bIns="0" rtlCol="0" anchor="ctr"/>
          <a:lstStyle/>
          <a:p>
            <a:pPr indent="0" marL="0">
              <a:buNone/>
            </a:pPr>
            <a:r>
              <a:rPr lang="en-US" sz="1300" b="1" dirty="0">
                <a:solidFill>
                  <a:schemeClr val="accent1"/>
                </a:solidFill>
              </a:rPr>
              <a:t>第1・2章はSplunkの画面イメージ、第3章はSplunk Cloud（デモ環境）とテックタッチの実画面。AI Hubは構想の画面イメージ</a:t>
            </a:r>
            <a:endParaRPr lang="en-US" sz="1300" dirty="0"/>
          </a:p>
        </p:txBody>
      </p:sp>
      <p:pic>
        <p:nvPicPr>
          <p:cNvPr id="6" name="shot-0" descr="/home/user/000/splunk-techtouch-demo/slides/img/ch1_service_analyzer.jpg">    </p:cNvPr>
          <p:cNvPicPr>
            <a:picLocks noChangeAspect="1"/>
          </p:cNvPicPr>
          <p:nvPr/>
        </p:nvPicPr>
        <p:blipFill>
          <a:blip r:embed="rId1"/>
          <a:stretch>
            <a:fillRect/>
          </a:stretch>
        </p:blipFill>
        <p:spPr>
          <a:xfrm>
            <a:off x="457200" y="2057400"/>
            <a:ext cx="3637178" cy="1447049"/>
          </a:xfrm>
          <a:prstGeom prst="rect">
            <a:avLst/>
          </a:prstGeom>
        </p:spPr>
      </p:pic>
      <p:sp>
        <p:nvSpPr>
          <p:cNvPr id="7" name="shot-0-frame"/>
          <p:cNvSpPr/>
          <p:nvPr/>
        </p:nvSpPr>
        <p:spPr>
          <a:xfrm>
            <a:off x="457200" y="2057400"/>
            <a:ext cx="3637178" cy="1447049"/>
          </a:xfrm>
          <a:prstGeom prst="rect">
            <a:avLst/>
          </a:prstGeom>
          <a:ln w="9525">
            <a:solidFill>
              <a:schemeClr val="accent6"/>
            </a:solidFill>
            <a:prstDash val="solid"/>
          </a:ln>
        </p:spPr>
      </p:sp>
      <p:sp>
        <p:nvSpPr>
          <p:cNvPr id="8" name="shot-badge-0-0"/>
          <p:cNvSpPr/>
          <p:nvPr/>
        </p:nvSpPr>
        <p:spPr>
          <a:xfrm>
            <a:off x="457200" y="3614177"/>
            <a:ext cx="987552" cy="256032"/>
          </a:xfrm>
          <a:prstGeom prst="rect">
            <a:avLst/>
          </a:prstGeom>
          <a:solidFill>
            <a:srgbClr val="8A96A6"/>
          </a:solidFill>
          <a:ln/>
        </p:spPr>
      </p:sp>
      <p:sp>
        <p:nvSpPr>
          <p:cNvPr id="9" name="shot-badge-0-0-text"/>
          <p:cNvSpPr txBox="1"/>
          <p:nvPr/>
        </p:nvSpPr>
        <p:spPr>
          <a:xfrm>
            <a:off x="457200" y="3614177"/>
            <a:ext cx="987552" cy="256032"/>
          </a:xfrm>
          <a:prstGeom prst="rect">
            <a:avLst/>
          </a:prstGeom>
          <a:noFill/>
          <a:ln/>
        </p:spPr>
        <p:txBody>
          <a:bodyPr wrap="square" lIns="0" tIns="0" rIns="0" bIns="0" rtlCol="0" anchor="ctr"/>
          <a:lstStyle/>
          <a:p>
            <a:pPr algn="ctr" indent="0" marL="0">
              <a:buNone/>
            </a:pPr>
            <a:r>
              <a:rPr lang="en-US" sz="1100" b="1" dirty="0">
                <a:solidFill>
                  <a:schemeClr val="bg1"/>
                </a:solidFill>
              </a:rPr>
              <a:t>画面イメージ</a:t>
            </a:r>
            <a:endParaRPr lang="en-US" sz="1100" dirty="0"/>
          </a:p>
        </p:txBody>
      </p:sp>
      <p:sp>
        <p:nvSpPr>
          <p:cNvPr id="10" name="shot-title-0"/>
          <p:cNvSpPr txBox="1"/>
          <p:nvPr/>
        </p:nvSpPr>
        <p:spPr>
          <a:xfrm>
            <a:off x="457200" y="3961649"/>
            <a:ext cx="3637178" cy="292608"/>
          </a:xfrm>
          <a:prstGeom prst="rect">
            <a:avLst/>
          </a:prstGeom>
          <a:noFill/>
          <a:ln/>
        </p:spPr>
        <p:txBody>
          <a:bodyPr wrap="square" lIns="0" tIns="0" rIns="0" bIns="0" rtlCol="0" anchor="t"/>
          <a:lstStyle/>
          <a:p>
            <a:pPr indent="0" marL="0">
              <a:buNone/>
            </a:pPr>
            <a:r>
              <a:rPr lang="en-US" sz="1300" b="1" dirty="0">
                <a:solidFill>
                  <a:schemeClr val="accent1"/>
                </a:solidFill>
              </a:rPr>
              <a:t>第1章　Service Analyzer</a:t>
            </a:r>
            <a:endParaRPr lang="en-US" sz="1300" dirty="0"/>
          </a:p>
        </p:txBody>
      </p:sp>
      <p:sp>
        <p:nvSpPr>
          <p:cNvPr id="11" name="shot-desc-0"/>
          <p:cNvSpPr txBox="1"/>
          <p:nvPr/>
        </p:nvSpPr>
        <p:spPr>
          <a:xfrm>
            <a:off x="457200" y="4272545"/>
            <a:ext cx="3637178" cy="502920"/>
          </a:xfrm>
          <a:prstGeom prst="rect">
            <a:avLst/>
          </a:prstGeom>
          <a:noFill/>
          <a:ln/>
        </p:spPr>
        <p:txBody>
          <a:bodyPr wrap="square" lIns="0" tIns="0" rIns="0" bIns="0" rtlCol="0" anchor="t"/>
          <a:lstStyle/>
          <a:p>
            <a:pPr indent="0" marL="0">
              <a:buNone/>
            </a:pPr>
            <a:r>
              <a:rPr lang="en-US" sz="1200" dirty="0">
                <a:solidFill>
                  <a:schemeClr val="tx1"/>
                </a:solidFill>
              </a:rPr>
              <a:t>悪化したKPIを、テックタッチのガイド（案）で確かめる</a:t>
            </a:r>
            <a:endParaRPr lang="en-US" sz="1200" dirty="0"/>
          </a:p>
        </p:txBody>
      </p:sp>
      <p:pic>
        <p:nvPicPr>
          <p:cNvPr id="12" name="shot-1" descr="/home/user/000/splunk-techtouch-demo/slides/img/ch2_aihub_notice.jpg">    </p:cNvPr>
          <p:cNvPicPr>
            <a:picLocks noChangeAspect="1"/>
          </p:cNvPicPr>
          <p:nvPr/>
        </p:nvPicPr>
        <p:blipFill>
          <a:blip r:embed="rId2"/>
          <a:stretch>
            <a:fillRect/>
          </a:stretch>
        </p:blipFill>
        <p:spPr>
          <a:xfrm>
            <a:off x="4277258" y="2057400"/>
            <a:ext cx="3637178" cy="1447049"/>
          </a:xfrm>
          <a:prstGeom prst="rect">
            <a:avLst/>
          </a:prstGeom>
        </p:spPr>
      </p:pic>
      <p:sp>
        <p:nvSpPr>
          <p:cNvPr id="13" name="shot-1-frame"/>
          <p:cNvSpPr/>
          <p:nvPr/>
        </p:nvSpPr>
        <p:spPr>
          <a:xfrm>
            <a:off x="4277258" y="2057400"/>
            <a:ext cx="3637178" cy="1447049"/>
          </a:xfrm>
          <a:prstGeom prst="rect">
            <a:avLst/>
          </a:prstGeom>
          <a:ln w="9525">
            <a:solidFill>
              <a:schemeClr val="accent6"/>
            </a:solidFill>
            <a:prstDash val="solid"/>
          </a:ln>
        </p:spPr>
      </p:sp>
      <p:sp>
        <p:nvSpPr>
          <p:cNvPr id="14" name="shot-badge-1-0"/>
          <p:cNvSpPr/>
          <p:nvPr/>
        </p:nvSpPr>
        <p:spPr>
          <a:xfrm>
            <a:off x="4277258" y="3614177"/>
            <a:ext cx="987552" cy="256032"/>
          </a:xfrm>
          <a:prstGeom prst="rect">
            <a:avLst/>
          </a:prstGeom>
          <a:solidFill>
            <a:srgbClr val="8A96A6"/>
          </a:solidFill>
          <a:ln/>
        </p:spPr>
      </p:sp>
      <p:sp>
        <p:nvSpPr>
          <p:cNvPr id="15" name="shot-badge-1-0-text"/>
          <p:cNvSpPr txBox="1"/>
          <p:nvPr/>
        </p:nvSpPr>
        <p:spPr>
          <a:xfrm>
            <a:off x="4277258" y="3614177"/>
            <a:ext cx="987552" cy="256032"/>
          </a:xfrm>
          <a:prstGeom prst="rect">
            <a:avLst/>
          </a:prstGeom>
          <a:noFill/>
          <a:ln/>
        </p:spPr>
        <p:txBody>
          <a:bodyPr wrap="square" lIns="0" tIns="0" rIns="0" bIns="0" rtlCol="0" anchor="ctr"/>
          <a:lstStyle/>
          <a:p>
            <a:pPr algn="ctr" indent="0" marL="0">
              <a:buNone/>
            </a:pPr>
            <a:r>
              <a:rPr lang="en-US" sz="1100" b="1" dirty="0">
                <a:solidFill>
                  <a:schemeClr val="bg1"/>
                </a:solidFill>
              </a:rPr>
              <a:t>画面イメージ</a:t>
            </a:r>
            <a:endParaRPr lang="en-US" sz="1100" dirty="0"/>
          </a:p>
        </p:txBody>
      </p:sp>
      <p:sp>
        <p:nvSpPr>
          <p:cNvPr id="16" name="shot-badge-1-1"/>
          <p:cNvSpPr/>
          <p:nvPr/>
        </p:nvSpPr>
        <p:spPr>
          <a:xfrm>
            <a:off x="5356250" y="3614177"/>
            <a:ext cx="1344168" cy="256032"/>
          </a:xfrm>
          <a:prstGeom prst="rect">
            <a:avLst/>
          </a:prstGeom>
          <a:solidFill>
            <a:srgbClr val="5A3EA6"/>
          </a:solidFill>
          <a:ln/>
        </p:spPr>
      </p:sp>
      <p:sp>
        <p:nvSpPr>
          <p:cNvPr id="17" name="shot-badge-1-1-text"/>
          <p:cNvSpPr txBox="1"/>
          <p:nvPr/>
        </p:nvSpPr>
        <p:spPr>
          <a:xfrm>
            <a:off x="5356250" y="3614177"/>
            <a:ext cx="1344168" cy="256032"/>
          </a:xfrm>
          <a:prstGeom prst="rect">
            <a:avLst/>
          </a:prstGeom>
          <a:noFill/>
          <a:ln/>
        </p:spPr>
        <p:txBody>
          <a:bodyPr wrap="square" lIns="0" tIns="0" rIns="0" bIns="0" rtlCol="0" anchor="ctr"/>
          <a:lstStyle/>
          <a:p>
            <a:pPr algn="ctr" indent="0" marL="0">
              <a:buNone/>
            </a:pPr>
            <a:r>
              <a:rPr lang="en-US" sz="1100" b="1" dirty="0">
                <a:solidFill>
                  <a:schemeClr val="bg1"/>
                </a:solidFill>
              </a:rPr>
              <a:t>AI Hub：構想</a:t>
            </a:r>
            <a:endParaRPr lang="en-US" sz="1100" dirty="0"/>
          </a:p>
        </p:txBody>
      </p:sp>
      <p:sp>
        <p:nvSpPr>
          <p:cNvPr id="18" name="shot-title-1"/>
          <p:cNvSpPr txBox="1"/>
          <p:nvPr/>
        </p:nvSpPr>
        <p:spPr>
          <a:xfrm>
            <a:off x="4277258" y="3961649"/>
            <a:ext cx="3637178" cy="292608"/>
          </a:xfrm>
          <a:prstGeom prst="rect">
            <a:avLst/>
          </a:prstGeom>
          <a:noFill/>
          <a:ln/>
        </p:spPr>
        <p:txBody>
          <a:bodyPr wrap="square" lIns="0" tIns="0" rIns="0" bIns="0" rtlCol="0" anchor="t"/>
          <a:lstStyle/>
          <a:p>
            <a:pPr indent="0" marL="0">
              <a:buNone/>
            </a:pPr>
            <a:r>
              <a:rPr lang="en-US" sz="1300" b="1" dirty="0">
                <a:solidFill>
                  <a:schemeClr val="accent1"/>
                </a:solidFill>
              </a:rPr>
              <a:t>第2章　Entity Overview＋AI Hub</a:t>
            </a:r>
            <a:endParaRPr lang="en-US" sz="1300" dirty="0"/>
          </a:p>
        </p:txBody>
      </p:sp>
      <p:sp>
        <p:nvSpPr>
          <p:cNvPr id="19" name="shot-desc-1"/>
          <p:cNvSpPr txBox="1"/>
          <p:nvPr/>
        </p:nvSpPr>
        <p:spPr>
          <a:xfrm>
            <a:off x="4277258" y="4272545"/>
            <a:ext cx="3637178" cy="502920"/>
          </a:xfrm>
          <a:prstGeom prst="rect">
            <a:avLst/>
          </a:prstGeom>
          <a:noFill/>
          <a:ln/>
        </p:spPr>
        <p:txBody>
          <a:bodyPr wrap="square" lIns="0" tIns="0" rIns="0" bIns="0" rtlCol="0" anchor="t"/>
          <a:lstStyle/>
          <a:p>
            <a:pPr indent="0" marL="0">
              <a:buNone/>
            </a:pPr>
            <a:r>
              <a:rPr lang="en-US" sz="1200" dirty="0">
                <a:solidFill>
                  <a:schemeClr val="tx1"/>
                </a:solidFill>
              </a:rPr>
              <a:t>AI Hubが、社内手順の形で一次連絡文を下書きする</a:t>
            </a:r>
            <a:endParaRPr lang="en-US" sz="1200" dirty="0"/>
          </a:p>
        </p:txBody>
      </p:sp>
      <p:pic>
        <p:nvPicPr>
          <p:cNvPr id="20" name="shot-2" descr="/home/user/000/splunk-techtouch-demo/slides/img/ch3_real_aihub.jpg">    </p:cNvPr>
          <p:cNvPicPr>
            <a:picLocks noChangeAspect="1"/>
          </p:cNvPicPr>
          <p:nvPr/>
        </p:nvPicPr>
        <p:blipFill>
          <a:blip r:embed="rId3"/>
          <a:stretch>
            <a:fillRect/>
          </a:stretch>
        </p:blipFill>
        <p:spPr>
          <a:xfrm>
            <a:off x="8097317" y="2057400"/>
            <a:ext cx="3637178" cy="1447049"/>
          </a:xfrm>
          <a:prstGeom prst="rect">
            <a:avLst/>
          </a:prstGeom>
        </p:spPr>
      </p:pic>
      <p:sp>
        <p:nvSpPr>
          <p:cNvPr id="21" name="shot-2-frame"/>
          <p:cNvSpPr/>
          <p:nvPr/>
        </p:nvSpPr>
        <p:spPr>
          <a:xfrm>
            <a:off x="8097317" y="2057400"/>
            <a:ext cx="3637178" cy="1447049"/>
          </a:xfrm>
          <a:prstGeom prst="rect">
            <a:avLst/>
          </a:prstGeom>
          <a:ln w="9525">
            <a:solidFill>
              <a:schemeClr val="accent6"/>
            </a:solidFill>
            <a:prstDash val="solid"/>
          </a:ln>
        </p:spPr>
      </p:sp>
      <p:sp>
        <p:nvSpPr>
          <p:cNvPr id="22" name="shot-badge-2-0"/>
          <p:cNvSpPr/>
          <p:nvPr/>
        </p:nvSpPr>
        <p:spPr>
          <a:xfrm>
            <a:off x="8097317" y="3614177"/>
            <a:ext cx="630936" cy="256032"/>
          </a:xfrm>
          <a:prstGeom prst="rect">
            <a:avLst/>
          </a:prstGeom>
          <a:solidFill>
            <a:schemeClr val="accent1"/>
          </a:solidFill>
          <a:ln/>
        </p:spPr>
      </p:sp>
      <p:sp>
        <p:nvSpPr>
          <p:cNvPr id="23" name="shot-badge-2-0-text"/>
          <p:cNvSpPr txBox="1"/>
          <p:nvPr/>
        </p:nvSpPr>
        <p:spPr>
          <a:xfrm>
            <a:off x="8097317" y="3614177"/>
            <a:ext cx="630936" cy="256032"/>
          </a:xfrm>
          <a:prstGeom prst="rect">
            <a:avLst/>
          </a:prstGeom>
          <a:noFill/>
          <a:ln/>
        </p:spPr>
        <p:txBody>
          <a:bodyPr wrap="square" lIns="0" tIns="0" rIns="0" bIns="0" rtlCol="0" anchor="ctr"/>
          <a:lstStyle/>
          <a:p>
            <a:pPr algn="ctr" indent="0" marL="0">
              <a:buNone/>
            </a:pPr>
            <a:r>
              <a:rPr lang="en-US" sz="1100" b="1" dirty="0">
                <a:solidFill>
                  <a:schemeClr val="bg1"/>
                </a:solidFill>
              </a:rPr>
              <a:t>実画面</a:t>
            </a:r>
            <a:endParaRPr lang="en-US" sz="1100" dirty="0"/>
          </a:p>
        </p:txBody>
      </p:sp>
      <p:sp>
        <p:nvSpPr>
          <p:cNvPr id="24" name="shot-badge-2-1"/>
          <p:cNvSpPr/>
          <p:nvPr/>
        </p:nvSpPr>
        <p:spPr>
          <a:xfrm>
            <a:off x="8819693" y="3614177"/>
            <a:ext cx="1344168" cy="256032"/>
          </a:xfrm>
          <a:prstGeom prst="rect">
            <a:avLst/>
          </a:prstGeom>
          <a:solidFill>
            <a:srgbClr val="5A3EA6"/>
          </a:solidFill>
          <a:ln/>
        </p:spPr>
      </p:sp>
      <p:sp>
        <p:nvSpPr>
          <p:cNvPr id="25" name="shot-badge-2-1-text"/>
          <p:cNvSpPr txBox="1"/>
          <p:nvPr/>
        </p:nvSpPr>
        <p:spPr>
          <a:xfrm>
            <a:off x="8819693" y="3614177"/>
            <a:ext cx="1344168" cy="256032"/>
          </a:xfrm>
          <a:prstGeom prst="rect">
            <a:avLst/>
          </a:prstGeom>
          <a:noFill/>
          <a:ln/>
        </p:spPr>
        <p:txBody>
          <a:bodyPr wrap="square" lIns="0" tIns="0" rIns="0" bIns="0" rtlCol="0" anchor="ctr"/>
          <a:lstStyle/>
          <a:p>
            <a:pPr algn="ctr" indent="0" marL="0">
              <a:buNone/>
            </a:pPr>
            <a:r>
              <a:rPr lang="en-US" sz="1100" b="1" dirty="0">
                <a:solidFill>
                  <a:schemeClr val="bg1"/>
                </a:solidFill>
              </a:rPr>
              <a:t>AI Hub：構想</a:t>
            </a:r>
            <a:endParaRPr lang="en-US" sz="1100" dirty="0"/>
          </a:p>
        </p:txBody>
      </p:sp>
      <p:sp>
        <p:nvSpPr>
          <p:cNvPr id="26" name="shot-title-2"/>
          <p:cNvSpPr txBox="1"/>
          <p:nvPr/>
        </p:nvSpPr>
        <p:spPr>
          <a:xfrm>
            <a:off x="8097317" y="3961649"/>
            <a:ext cx="3637178" cy="292608"/>
          </a:xfrm>
          <a:prstGeom prst="rect">
            <a:avLst/>
          </a:prstGeom>
          <a:noFill/>
          <a:ln/>
        </p:spPr>
        <p:txBody>
          <a:bodyPr wrap="square" lIns="0" tIns="0" rIns="0" bIns="0" rtlCol="0" anchor="t"/>
          <a:lstStyle/>
          <a:p>
            <a:pPr indent="0" marL="0">
              <a:buNone/>
            </a:pPr>
            <a:r>
              <a:rPr lang="en-US" sz="1300" b="1" dirty="0">
                <a:solidFill>
                  <a:schemeClr val="accent1"/>
                </a:solidFill>
              </a:rPr>
              <a:t>第3章　Search &amp; Reporting＋AI Hub</a:t>
            </a:r>
            <a:endParaRPr lang="en-US" sz="1300" dirty="0"/>
          </a:p>
        </p:txBody>
      </p:sp>
      <p:sp>
        <p:nvSpPr>
          <p:cNvPr id="27" name="shot-desc-2"/>
          <p:cNvSpPr txBox="1"/>
          <p:nvPr/>
        </p:nvSpPr>
        <p:spPr>
          <a:xfrm>
            <a:off x="8097317" y="4272545"/>
            <a:ext cx="3637178" cy="502920"/>
          </a:xfrm>
          <a:prstGeom prst="rect">
            <a:avLst/>
          </a:prstGeom>
          <a:noFill/>
          <a:ln/>
        </p:spPr>
        <p:txBody>
          <a:bodyPr wrap="square" lIns="0" tIns="0" rIns="0" bIns="0" rtlCol="0" anchor="t"/>
          <a:lstStyle/>
          <a:p>
            <a:pPr indent="0" marL="0">
              <a:buNone/>
            </a:pPr>
            <a:r>
              <a:rPr lang="en-US" sz="1200" dirty="0">
                <a:solidFill>
                  <a:schemeClr val="tx1"/>
                </a:solidFill>
              </a:rPr>
              <a:t>公開したガイドの吹き出し⑤と、AI Hubによる結果の読み方</a:t>
            </a:r>
            <a:endParaRPr lang="en-US" sz="1200" dirty="0"/>
          </a:p>
        </p:txBody>
      </p:sp>
      <p:sp>
        <p:nvSpPr>
          <p:cNvPr id="28" name="screen-note"/>
          <p:cNvSpPr/>
          <p:nvPr/>
        </p:nvSpPr>
        <p:spPr>
          <a:xfrm>
            <a:off x="457200" y="5120640"/>
            <a:ext cx="11277295" cy="868680"/>
          </a:xfrm>
          <a:prstGeom prst="rect">
            <a:avLst/>
          </a:prstGeom>
          <a:solidFill>
            <a:schemeClr val="bg1"/>
          </a:solidFill>
          <a:ln w="9525">
            <a:solidFill>
              <a:schemeClr val="accent6"/>
            </a:solidFill>
            <a:prstDash val="solid"/>
          </a:ln>
        </p:spPr>
      </p:sp>
      <p:sp>
        <p:nvSpPr>
          <p:cNvPr id="29" name="screen-note-text"/>
          <p:cNvSpPr txBox="1"/>
          <p:nvPr/>
        </p:nvSpPr>
        <p:spPr>
          <a:xfrm>
            <a:off x="594360" y="5175504"/>
            <a:ext cx="11002975" cy="777240"/>
          </a:xfrm>
          <a:prstGeom prst="rect">
            <a:avLst/>
          </a:prstGeom>
          <a:noFill/>
          <a:ln/>
        </p:spPr>
        <p:txBody>
          <a:bodyPr wrap="square" lIns="0" tIns="0" rIns="0" bIns="0" rtlCol="0" anchor="ctr"/>
          <a:lstStyle/>
          <a:p>
            <a:pPr marL="152400" indent="-152400">
              <a:spcAft>
                <a:spcPts val="400"/>
              </a:spcAft>
              <a:buSzPct val="100000"/>
              <a:buChar char="•"/>
            </a:pPr>
            <a:r>
              <a:rPr lang="en-US" sz="1200" dirty="0">
                <a:solidFill>
                  <a:schemeClr val="tx1"/>
                </a:solidFill>
              </a:rPr>
              <a:t>ITSI・IT Essentials Workはデモ環境に入っていないため、Splunk Cloudの実画面の色・配置に合わせた画面イメージで描いています</a:t>
            </a:r>
            <a:endParaRPr lang="en-US" sz="1200" dirty="0"/>
          </a:p>
          <a:p>
            <a:pPr marL="152400" indent="-152400">
              <a:spcAft>
                <a:spcPts val="400"/>
              </a:spcAft>
              <a:buSzPct val="100000"/>
              <a:buChar char="•"/>
            </a:pPr>
            <a:r>
              <a:rPr lang="en-US" sz="1200" dirty="0">
                <a:solidFill>
                  <a:schemeClr val="tx1"/>
                </a:solidFill>
              </a:rPr>
              <a:t>青い吹き出し・パネルがテックタッチのガイド、紫のパネルがAI Hub（構想・例文）です</a:t>
            </a:r>
            <a:endParaRPr lang="en-US" sz="1200" dirty="0"/>
          </a:p>
        </p:txBody>
      </p:sp>
      <p:sp>
        <p:nvSpPr>
          <p:cNvPr id="25" name="Slide Number Placeholder 0"/>
          <p:cNvSpPr>
            <a:spLocks noGrp="1"/>
          </p:cNvSpPr>
          <p:nvPr>
            <p:ph type="sldNum" sz="quarter" idx="4294967295"/>
          </p:nvPr>
        </p:nvSpPr>
        <p:spPr>
          <a:xfrm>
            <a:off x="1118585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7315200" cy="274320"/>
          </a:xfrm>
          <a:prstGeom prst="rect">
            <a:avLst/>
          </a:prstGeom>
          <a:noFill/>
          <a:ln/>
        </p:spPr>
        <p:txBody>
          <a:bodyPr wrap="square" lIns="0" tIns="0" rIns="0" bIns="0" rtlCol="0" anchor="ctr"/>
          <a:lstStyle/>
          <a:p>
            <a:pPr algn="l" indent="0" marL="0">
              <a:buNone/>
            </a:pPr>
            <a:r>
              <a:rPr lang="en-US" sz="1100" b="1" dirty="0">
                <a:solidFill>
                  <a:schemeClr val="accent2"/>
                </a:solidFill>
              </a:rPr>
              <a:t>デモ｜見せ場</a:t>
            </a:r>
            <a:endParaRPr lang="en-US" sz="1100" dirty="0"/>
          </a:p>
        </p:txBody>
      </p:sp>
      <p:sp>
        <p:nvSpPr>
          <p:cNvPr id="3" name="Text 0"/>
          <p:cNvSpPr/>
          <p:nvPr>
            <p:ph idx="101" type="title" hasCustomPrompt="1"/>
          </p:nvPr>
        </p:nvSpPr>
        <p:spPr>
          <a:xfrm>
            <a:off x="457200" y="457200"/>
            <a:ext cx="11277295" cy="548640"/>
          </a:xfrm>
          <a:prstGeom prst="rect">
            <a:avLst/>
          </a:prstGeom>
          <a:noFill/>
          <a:ln/>
        </p:spPr>
        <p:txBody>
          <a:bodyPr wrap="square" lIns="0" tIns="0" rIns="0" bIns="0" rtlCol="0" anchor="ctr"/>
          <a:lstStyle/>
          <a:p>
            <a:pPr algn="l" indent="0" marL="0">
              <a:buNone/>
            </a:pPr>
            <a:r>
              <a:rPr lang="en-US" sz="2200" b="1" dirty="0">
                <a:solidFill>
                  <a:schemeClr val="tx1"/>
                </a:solidFill>
              </a:rPr>
              <a:t>第3章は、テックタッチをSplunk Cloudの上で実際に動かす</a:t>
            </a:r>
            <a:endParaRPr lang="en-US" sz="2200" dirty="0"/>
          </a:p>
        </p:txBody>
      </p:sp>
      <p:sp>
        <p:nvSpPr>
          <p:cNvPr id="4" name="band"/>
          <p:cNvSpPr/>
          <p:nvPr/>
        </p:nvSpPr>
        <p:spPr>
          <a:xfrm>
            <a:off x="457200" y="1097280"/>
            <a:ext cx="11277295" cy="731520"/>
          </a:xfrm>
          <a:prstGeom prst="rect">
            <a:avLst/>
          </a:prstGeom>
          <a:solidFill>
            <a:schemeClr val="accent3"/>
          </a:solidFill>
          <a:ln/>
        </p:spPr>
      </p:sp>
      <p:sp>
        <p:nvSpPr>
          <p:cNvPr id="5" name="band-text"/>
          <p:cNvSpPr txBox="1"/>
          <p:nvPr/>
        </p:nvSpPr>
        <p:spPr>
          <a:xfrm>
            <a:off x="594360" y="1097280"/>
            <a:ext cx="11002975" cy="731520"/>
          </a:xfrm>
          <a:prstGeom prst="rect">
            <a:avLst/>
          </a:prstGeom>
          <a:noFill/>
          <a:ln/>
        </p:spPr>
        <p:txBody>
          <a:bodyPr wrap="square" lIns="0" tIns="0" rIns="0" bIns="0" rtlCol="0" anchor="ctr"/>
          <a:lstStyle/>
          <a:p>
            <a:pPr indent="0" marL="0">
              <a:buNone/>
            </a:pPr>
            <a:r>
              <a:rPr lang="en-US" sz="1300" b="1" dirty="0">
                <a:solidFill>
                  <a:schemeClr val="accent1"/>
                </a:solidFill>
              </a:rPr>
              <a:t>ガイドはSplunk Cloud（デモ環境）の実画面の上で作り、公開して再生した。ログはデモ用に生成した架空データ（823件）</a:t>
            </a:r>
            <a:endParaRPr lang="en-US" sz="1300" dirty="0"/>
          </a:p>
        </p:txBody>
      </p:sp>
      <p:sp>
        <p:nvSpPr>
          <p:cNvPr id="6" name="gstep-num-bg-0"/>
          <p:cNvSpPr/>
          <p:nvPr/>
        </p:nvSpPr>
        <p:spPr>
          <a:xfrm>
            <a:off x="457200" y="2057400"/>
            <a:ext cx="548640" cy="548640"/>
          </a:xfrm>
          <a:prstGeom prst="rect">
            <a:avLst/>
          </a:prstGeom>
          <a:solidFill>
            <a:schemeClr val="accent1"/>
          </a:solidFill>
          <a:ln/>
        </p:spPr>
      </p:sp>
      <p:sp>
        <p:nvSpPr>
          <p:cNvPr id="7" name="gstep-num-0"/>
          <p:cNvSpPr txBox="1"/>
          <p:nvPr/>
        </p:nvSpPr>
        <p:spPr>
          <a:xfrm>
            <a:off x="457200" y="2057400"/>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①</a:t>
            </a:r>
            <a:endParaRPr lang="en-US" sz="1500" dirty="0"/>
          </a:p>
        </p:txBody>
      </p:sp>
      <p:sp>
        <p:nvSpPr>
          <p:cNvPr id="8" name="gstep-0"/>
          <p:cNvSpPr/>
          <p:nvPr/>
        </p:nvSpPr>
        <p:spPr>
          <a:xfrm>
            <a:off x="1005840" y="2057400"/>
            <a:ext cx="5349240" cy="548640"/>
          </a:xfrm>
          <a:prstGeom prst="rect">
            <a:avLst/>
          </a:prstGeom>
          <a:solidFill>
            <a:schemeClr val="bg1"/>
          </a:solidFill>
          <a:ln w="9525">
            <a:solidFill>
              <a:schemeClr val="accent6"/>
            </a:solidFill>
            <a:prstDash val="solid"/>
          </a:ln>
        </p:spPr>
      </p:sp>
      <p:sp>
        <p:nvSpPr>
          <p:cNvPr id="9" name="gstep-text-0"/>
          <p:cNvSpPr txBox="1"/>
          <p:nvPr/>
        </p:nvSpPr>
        <p:spPr>
          <a:xfrm>
            <a:off x="1170432" y="2057400"/>
            <a:ext cx="5074920" cy="548640"/>
          </a:xfrm>
          <a:prstGeom prst="rect">
            <a:avLst/>
          </a:prstGeom>
          <a:noFill/>
          <a:ln/>
        </p:spPr>
        <p:txBody>
          <a:bodyPr wrap="square" lIns="0" tIns="0" rIns="0" bIns="0" rtlCol="0" anchor="ctr"/>
          <a:lstStyle/>
          <a:p>
            <a:pPr indent="0" marL="0">
              <a:buNone/>
            </a:pPr>
            <a:r>
              <a:rPr lang="en-US" sz="1300" dirty="0">
                <a:solidFill>
                  <a:schemeClr val="tx1"/>
                </a:solidFill>
              </a:rPr>
              <a:t>「レポート」を開く</a:t>
            </a:r>
            <a:endParaRPr lang="en-US" sz="1300" dirty="0"/>
          </a:p>
        </p:txBody>
      </p:sp>
      <p:sp>
        <p:nvSpPr>
          <p:cNvPr id="10" name="gstep-num-bg-1"/>
          <p:cNvSpPr/>
          <p:nvPr/>
        </p:nvSpPr>
        <p:spPr>
          <a:xfrm>
            <a:off x="457200" y="2642616"/>
            <a:ext cx="548640" cy="548640"/>
          </a:xfrm>
          <a:prstGeom prst="rect">
            <a:avLst/>
          </a:prstGeom>
          <a:solidFill>
            <a:schemeClr val="accent1"/>
          </a:solidFill>
          <a:ln/>
        </p:spPr>
      </p:sp>
      <p:sp>
        <p:nvSpPr>
          <p:cNvPr id="11" name="gstep-num-1"/>
          <p:cNvSpPr txBox="1"/>
          <p:nvPr/>
        </p:nvSpPr>
        <p:spPr>
          <a:xfrm>
            <a:off x="457200" y="2642616"/>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②</a:t>
            </a:r>
            <a:endParaRPr lang="en-US" sz="1500" dirty="0"/>
          </a:p>
        </p:txBody>
      </p:sp>
      <p:sp>
        <p:nvSpPr>
          <p:cNvPr id="12" name="gstep-1"/>
          <p:cNvSpPr/>
          <p:nvPr/>
        </p:nvSpPr>
        <p:spPr>
          <a:xfrm>
            <a:off x="1005840" y="2642616"/>
            <a:ext cx="5349240" cy="548640"/>
          </a:xfrm>
          <a:prstGeom prst="rect">
            <a:avLst/>
          </a:prstGeom>
          <a:solidFill>
            <a:schemeClr val="bg1"/>
          </a:solidFill>
          <a:ln w="9525">
            <a:solidFill>
              <a:schemeClr val="accent6"/>
            </a:solidFill>
            <a:prstDash val="solid"/>
          </a:ln>
        </p:spPr>
      </p:sp>
      <p:sp>
        <p:nvSpPr>
          <p:cNvPr id="13" name="gstep-text-1"/>
          <p:cNvSpPr txBox="1"/>
          <p:nvPr/>
        </p:nvSpPr>
        <p:spPr>
          <a:xfrm>
            <a:off x="1170432" y="2642616"/>
            <a:ext cx="5074920" cy="548640"/>
          </a:xfrm>
          <a:prstGeom prst="rect">
            <a:avLst/>
          </a:prstGeom>
          <a:noFill/>
          <a:ln/>
        </p:spPr>
        <p:txBody>
          <a:bodyPr wrap="square" lIns="0" tIns="0" rIns="0" bIns="0" rtlCol="0" anchor="ctr"/>
          <a:lstStyle/>
          <a:p>
            <a:pPr indent="0" marL="0">
              <a:buNone/>
            </a:pPr>
            <a:r>
              <a:rPr lang="en-US" sz="1300" dirty="0">
                <a:solidFill>
                  <a:schemeClr val="tx1"/>
                </a:solidFill>
              </a:rPr>
              <a:t>確認済みのひな型を、サーチで開く</a:t>
            </a:r>
            <a:endParaRPr lang="en-US" sz="1300" dirty="0"/>
          </a:p>
        </p:txBody>
      </p:sp>
      <p:sp>
        <p:nvSpPr>
          <p:cNvPr id="14" name="gstep-num-bg-2"/>
          <p:cNvSpPr/>
          <p:nvPr/>
        </p:nvSpPr>
        <p:spPr>
          <a:xfrm>
            <a:off x="457200" y="3227832"/>
            <a:ext cx="548640" cy="548640"/>
          </a:xfrm>
          <a:prstGeom prst="rect">
            <a:avLst/>
          </a:prstGeom>
          <a:solidFill>
            <a:schemeClr val="accent1"/>
          </a:solidFill>
          <a:ln/>
        </p:spPr>
      </p:sp>
      <p:sp>
        <p:nvSpPr>
          <p:cNvPr id="15" name="gstep-num-2"/>
          <p:cNvSpPr txBox="1"/>
          <p:nvPr/>
        </p:nvSpPr>
        <p:spPr>
          <a:xfrm>
            <a:off x="457200" y="3227832"/>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③</a:t>
            </a:r>
            <a:endParaRPr lang="en-US" sz="1500" dirty="0"/>
          </a:p>
        </p:txBody>
      </p:sp>
      <p:sp>
        <p:nvSpPr>
          <p:cNvPr id="16" name="gstep-2"/>
          <p:cNvSpPr/>
          <p:nvPr/>
        </p:nvSpPr>
        <p:spPr>
          <a:xfrm>
            <a:off x="1005840" y="3227832"/>
            <a:ext cx="5349240" cy="548640"/>
          </a:xfrm>
          <a:prstGeom prst="rect">
            <a:avLst/>
          </a:prstGeom>
          <a:solidFill>
            <a:schemeClr val="bg1"/>
          </a:solidFill>
          <a:ln w="9525">
            <a:solidFill>
              <a:schemeClr val="accent6"/>
            </a:solidFill>
            <a:prstDash val="solid"/>
          </a:ln>
        </p:spPr>
      </p:sp>
      <p:sp>
        <p:nvSpPr>
          <p:cNvPr id="17" name="gstep-text-2"/>
          <p:cNvSpPr txBox="1"/>
          <p:nvPr/>
        </p:nvSpPr>
        <p:spPr>
          <a:xfrm>
            <a:off x="1170432" y="3227832"/>
            <a:ext cx="3291840" cy="548640"/>
          </a:xfrm>
          <a:prstGeom prst="rect">
            <a:avLst/>
          </a:prstGeom>
          <a:noFill/>
          <a:ln/>
        </p:spPr>
        <p:txBody>
          <a:bodyPr wrap="square" lIns="0" tIns="0" rIns="0" bIns="0" rtlCol="0" anchor="ctr"/>
          <a:lstStyle/>
          <a:p>
            <a:pPr indent="0" marL="0">
              <a:buNone/>
            </a:pPr>
            <a:r>
              <a:rPr lang="en-US" sz="1300" dirty="0">
                <a:solidFill>
                  <a:schemeClr val="tx1"/>
                </a:solidFill>
              </a:rPr>
              <a:t>検索の中身（SPL）を確認する</a:t>
            </a:r>
            <a:endParaRPr lang="en-US" sz="1300" dirty="0"/>
          </a:p>
        </p:txBody>
      </p:sp>
      <p:sp>
        <p:nvSpPr>
          <p:cNvPr id="18" name="gstep-hub-2"/>
          <p:cNvSpPr/>
          <p:nvPr/>
        </p:nvSpPr>
        <p:spPr>
          <a:xfrm>
            <a:off x="4526280" y="3355848"/>
            <a:ext cx="1719072" cy="292608"/>
          </a:xfrm>
          <a:prstGeom prst="rect">
            <a:avLst/>
          </a:prstGeom>
          <a:solidFill>
            <a:srgbClr val="5A3EA6"/>
          </a:solidFill>
          <a:ln/>
        </p:spPr>
      </p:sp>
      <p:sp>
        <p:nvSpPr>
          <p:cNvPr id="19" name="gstep-hub-text-2"/>
          <p:cNvSpPr txBox="1"/>
          <p:nvPr/>
        </p:nvSpPr>
        <p:spPr>
          <a:xfrm>
            <a:off x="4526280" y="3355848"/>
            <a:ext cx="1719072" cy="292608"/>
          </a:xfrm>
          <a:prstGeom prst="rect">
            <a:avLst/>
          </a:prstGeom>
          <a:noFill/>
          <a:ln/>
        </p:spPr>
        <p:txBody>
          <a:bodyPr wrap="square" lIns="0" tIns="0" rIns="0" bIns="0" rtlCol="0" anchor="ctr"/>
          <a:lstStyle/>
          <a:p>
            <a:pPr algn="ctr" indent="0" marL="0">
              <a:buNone/>
            </a:pPr>
            <a:r>
              <a:rPr lang="en-US" sz="1100" b="1" dirty="0">
                <a:solidFill>
                  <a:schemeClr val="bg1"/>
                </a:solidFill>
              </a:rPr>
              <a:t>AI Hub：1行ずつ説明</a:t>
            </a:r>
            <a:endParaRPr lang="en-US" sz="1100" dirty="0"/>
          </a:p>
        </p:txBody>
      </p:sp>
      <p:sp>
        <p:nvSpPr>
          <p:cNvPr id="20" name="gstep-num-bg-3"/>
          <p:cNvSpPr/>
          <p:nvPr/>
        </p:nvSpPr>
        <p:spPr>
          <a:xfrm>
            <a:off x="457200" y="3813048"/>
            <a:ext cx="548640" cy="548640"/>
          </a:xfrm>
          <a:prstGeom prst="rect">
            <a:avLst/>
          </a:prstGeom>
          <a:solidFill>
            <a:schemeClr val="accent1"/>
          </a:solidFill>
          <a:ln/>
        </p:spPr>
      </p:sp>
      <p:sp>
        <p:nvSpPr>
          <p:cNvPr id="21" name="gstep-num-3"/>
          <p:cNvSpPr txBox="1"/>
          <p:nvPr/>
        </p:nvSpPr>
        <p:spPr>
          <a:xfrm>
            <a:off x="457200" y="3813048"/>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④</a:t>
            </a:r>
            <a:endParaRPr lang="en-US" sz="1500" dirty="0"/>
          </a:p>
        </p:txBody>
      </p:sp>
      <p:sp>
        <p:nvSpPr>
          <p:cNvPr id="22" name="gstep-3"/>
          <p:cNvSpPr/>
          <p:nvPr/>
        </p:nvSpPr>
        <p:spPr>
          <a:xfrm>
            <a:off x="1005840" y="3813048"/>
            <a:ext cx="5349240" cy="548640"/>
          </a:xfrm>
          <a:prstGeom prst="rect">
            <a:avLst/>
          </a:prstGeom>
          <a:solidFill>
            <a:schemeClr val="bg1"/>
          </a:solidFill>
          <a:ln w="9525">
            <a:solidFill>
              <a:schemeClr val="accent6"/>
            </a:solidFill>
            <a:prstDash val="solid"/>
          </a:ln>
        </p:spPr>
      </p:sp>
      <p:sp>
        <p:nvSpPr>
          <p:cNvPr id="23" name="gstep-text-3"/>
          <p:cNvSpPr txBox="1"/>
          <p:nvPr/>
        </p:nvSpPr>
        <p:spPr>
          <a:xfrm>
            <a:off x="1170432" y="3813048"/>
            <a:ext cx="5074920" cy="548640"/>
          </a:xfrm>
          <a:prstGeom prst="rect">
            <a:avLst/>
          </a:prstGeom>
          <a:noFill/>
          <a:ln/>
        </p:spPr>
        <p:txBody>
          <a:bodyPr wrap="square" lIns="0" tIns="0" rIns="0" bIns="0" rtlCol="0" anchor="ctr"/>
          <a:lstStyle/>
          <a:p>
            <a:pPr indent="0" marL="0">
              <a:buNone/>
            </a:pPr>
            <a:r>
              <a:rPr lang="en-US" sz="1300" dirty="0">
                <a:solidFill>
                  <a:schemeClr val="tx1"/>
                </a:solidFill>
              </a:rPr>
              <a:t>時間範囲が障害の開始を含むか確認する</a:t>
            </a:r>
            <a:endParaRPr lang="en-US" sz="1300" dirty="0"/>
          </a:p>
        </p:txBody>
      </p:sp>
      <p:sp>
        <p:nvSpPr>
          <p:cNvPr id="24" name="gstep-num-bg-4"/>
          <p:cNvSpPr/>
          <p:nvPr/>
        </p:nvSpPr>
        <p:spPr>
          <a:xfrm>
            <a:off x="457200" y="4398264"/>
            <a:ext cx="548640" cy="548640"/>
          </a:xfrm>
          <a:prstGeom prst="rect">
            <a:avLst/>
          </a:prstGeom>
          <a:solidFill>
            <a:schemeClr val="accent1"/>
          </a:solidFill>
          <a:ln/>
        </p:spPr>
      </p:sp>
      <p:sp>
        <p:nvSpPr>
          <p:cNvPr id="25" name="gstep-num-4"/>
          <p:cNvSpPr txBox="1"/>
          <p:nvPr/>
        </p:nvSpPr>
        <p:spPr>
          <a:xfrm>
            <a:off x="457200" y="4398264"/>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⑤</a:t>
            </a:r>
            <a:endParaRPr lang="en-US" sz="1500" dirty="0"/>
          </a:p>
        </p:txBody>
      </p:sp>
      <p:sp>
        <p:nvSpPr>
          <p:cNvPr id="26" name="gstep-4"/>
          <p:cNvSpPr/>
          <p:nvPr/>
        </p:nvSpPr>
        <p:spPr>
          <a:xfrm>
            <a:off x="1005840" y="4398264"/>
            <a:ext cx="5349240" cy="548640"/>
          </a:xfrm>
          <a:prstGeom prst="rect">
            <a:avLst/>
          </a:prstGeom>
          <a:solidFill>
            <a:schemeClr val="bg1"/>
          </a:solidFill>
          <a:ln w="9525">
            <a:solidFill>
              <a:schemeClr val="accent6"/>
            </a:solidFill>
            <a:prstDash val="solid"/>
          </a:ln>
        </p:spPr>
      </p:sp>
      <p:sp>
        <p:nvSpPr>
          <p:cNvPr id="27" name="gstep-text-4"/>
          <p:cNvSpPr txBox="1"/>
          <p:nvPr/>
        </p:nvSpPr>
        <p:spPr>
          <a:xfrm>
            <a:off x="1170432" y="4398264"/>
            <a:ext cx="3291840" cy="548640"/>
          </a:xfrm>
          <a:prstGeom prst="rect">
            <a:avLst/>
          </a:prstGeom>
          <a:noFill/>
          <a:ln/>
        </p:spPr>
        <p:txBody>
          <a:bodyPr wrap="square" lIns="0" tIns="0" rIns="0" bIns="0" rtlCol="0" anchor="ctr"/>
          <a:lstStyle/>
          <a:p>
            <a:pPr indent="0" marL="0">
              <a:buNone/>
            </a:pPr>
            <a:r>
              <a:rPr lang="en-US" sz="1300" dirty="0">
                <a:solidFill>
                  <a:schemeClr val="tx1"/>
                </a:solidFill>
              </a:rPr>
              <a:t>10時台からの増加をグラフで確かめる</a:t>
            </a:r>
            <a:endParaRPr lang="en-US" sz="1300" dirty="0"/>
          </a:p>
        </p:txBody>
      </p:sp>
      <p:sp>
        <p:nvSpPr>
          <p:cNvPr id="28" name="gstep-hub-4"/>
          <p:cNvSpPr/>
          <p:nvPr/>
        </p:nvSpPr>
        <p:spPr>
          <a:xfrm>
            <a:off x="4526280" y="4526280"/>
            <a:ext cx="1719072" cy="292608"/>
          </a:xfrm>
          <a:prstGeom prst="rect">
            <a:avLst/>
          </a:prstGeom>
          <a:solidFill>
            <a:srgbClr val="5A3EA6"/>
          </a:solidFill>
          <a:ln/>
        </p:spPr>
      </p:sp>
      <p:sp>
        <p:nvSpPr>
          <p:cNvPr id="29" name="gstep-hub-text-4"/>
          <p:cNvSpPr txBox="1"/>
          <p:nvPr/>
        </p:nvSpPr>
        <p:spPr>
          <a:xfrm>
            <a:off x="4526280" y="4526280"/>
            <a:ext cx="1719072" cy="292608"/>
          </a:xfrm>
          <a:prstGeom prst="rect">
            <a:avLst/>
          </a:prstGeom>
          <a:noFill/>
          <a:ln/>
        </p:spPr>
        <p:txBody>
          <a:bodyPr wrap="square" lIns="0" tIns="0" rIns="0" bIns="0" rtlCol="0" anchor="ctr"/>
          <a:lstStyle/>
          <a:p>
            <a:pPr algn="ctr" indent="0" marL="0">
              <a:buNone/>
            </a:pPr>
            <a:r>
              <a:rPr lang="en-US" sz="1100" b="1" dirty="0">
                <a:solidFill>
                  <a:schemeClr val="bg1"/>
                </a:solidFill>
              </a:rPr>
              <a:t>AI Hub：社内基準と照合</a:t>
            </a:r>
            <a:endParaRPr lang="en-US" sz="1100" dirty="0"/>
          </a:p>
        </p:txBody>
      </p:sp>
      <p:sp>
        <p:nvSpPr>
          <p:cNvPr id="30" name="gstep-num-bg-5"/>
          <p:cNvSpPr/>
          <p:nvPr/>
        </p:nvSpPr>
        <p:spPr>
          <a:xfrm>
            <a:off x="457200" y="4983480"/>
            <a:ext cx="548640" cy="548640"/>
          </a:xfrm>
          <a:prstGeom prst="rect">
            <a:avLst/>
          </a:prstGeom>
          <a:solidFill>
            <a:schemeClr val="accent1"/>
          </a:solidFill>
          <a:ln/>
        </p:spPr>
      </p:sp>
      <p:sp>
        <p:nvSpPr>
          <p:cNvPr id="31" name="gstep-num-5"/>
          <p:cNvSpPr txBox="1"/>
          <p:nvPr/>
        </p:nvSpPr>
        <p:spPr>
          <a:xfrm>
            <a:off x="457200" y="4983480"/>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⑥</a:t>
            </a:r>
            <a:endParaRPr lang="en-US" sz="1500" dirty="0"/>
          </a:p>
        </p:txBody>
      </p:sp>
      <p:sp>
        <p:nvSpPr>
          <p:cNvPr id="32" name="gstep-5"/>
          <p:cNvSpPr/>
          <p:nvPr/>
        </p:nvSpPr>
        <p:spPr>
          <a:xfrm>
            <a:off x="1005840" y="4983480"/>
            <a:ext cx="5349240" cy="548640"/>
          </a:xfrm>
          <a:prstGeom prst="rect">
            <a:avLst/>
          </a:prstGeom>
          <a:solidFill>
            <a:schemeClr val="bg1"/>
          </a:solidFill>
          <a:ln w="9525">
            <a:solidFill>
              <a:schemeClr val="accent6"/>
            </a:solidFill>
            <a:prstDash val="solid"/>
          </a:ln>
        </p:spPr>
      </p:sp>
      <p:sp>
        <p:nvSpPr>
          <p:cNvPr id="33" name="gstep-text-5"/>
          <p:cNvSpPr txBox="1"/>
          <p:nvPr/>
        </p:nvSpPr>
        <p:spPr>
          <a:xfrm>
            <a:off x="1170432" y="4983480"/>
            <a:ext cx="3291840" cy="548640"/>
          </a:xfrm>
          <a:prstGeom prst="rect">
            <a:avLst/>
          </a:prstGeom>
          <a:noFill/>
          <a:ln/>
        </p:spPr>
        <p:txBody>
          <a:bodyPr wrap="square" lIns="0" tIns="0" rIns="0" bIns="0" rtlCol="0" anchor="ctr"/>
          <a:lstStyle/>
          <a:p>
            <a:pPr indent="0" marL="0">
              <a:buNone/>
            </a:pPr>
            <a:r>
              <a:rPr lang="en-US" sz="1300" dirty="0">
                <a:solidFill>
                  <a:schemeClr val="tx1"/>
                </a:solidFill>
              </a:rPr>
              <a:t>共有して、専門チームに確認を依頼する</a:t>
            </a:r>
            <a:endParaRPr lang="en-US" sz="1300" dirty="0"/>
          </a:p>
        </p:txBody>
      </p:sp>
      <p:sp>
        <p:nvSpPr>
          <p:cNvPr id="34" name="gstep-hub-5"/>
          <p:cNvSpPr/>
          <p:nvPr/>
        </p:nvSpPr>
        <p:spPr>
          <a:xfrm>
            <a:off x="4526280" y="5111496"/>
            <a:ext cx="1719072" cy="292608"/>
          </a:xfrm>
          <a:prstGeom prst="rect">
            <a:avLst/>
          </a:prstGeom>
          <a:solidFill>
            <a:srgbClr val="5A3EA6"/>
          </a:solidFill>
          <a:ln/>
        </p:spPr>
      </p:sp>
      <p:sp>
        <p:nvSpPr>
          <p:cNvPr id="35" name="gstep-hub-text-5"/>
          <p:cNvSpPr txBox="1"/>
          <p:nvPr/>
        </p:nvSpPr>
        <p:spPr>
          <a:xfrm>
            <a:off x="4526280" y="5111496"/>
            <a:ext cx="1719072" cy="292608"/>
          </a:xfrm>
          <a:prstGeom prst="rect">
            <a:avLst/>
          </a:prstGeom>
          <a:noFill/>
          <a:ln/>
        </p:spPr>
        <p:txBody>
          <a:bodyPr wrap="square" lIns="0" tIns="0" rIns="0" bIns="0" rtlCol="0" anchor="ctr"/>
          <a:lstStyle/>
          <a:p>
            <a:pPr algn="ctr" indent="0" marL="0">
              <a:buNone/>
            </a:pPr>
            <a:r>
              <a:rPr lang="en-US" sz="1100" b="1" dirty="0">
                <a:solidFill>
                  <a:schemeClr val="bg1"/>
                </a:solidFill>
              </a:rPr>
              <a:t>AI Hub：依頼文を下書き</a:t>
            </a:r>
            <a:endParaRPr lang="en-US" sz="1100" dirty="0"/>
          </a:p>
        </p:txBody>
      </p:sp>
      <p:sp>
        <p:nvSpPr>
          <p:cNvPr id="36" name="gstep-num-bg-6"/>
          <p:cNvSpPr/>
          <p:nvPr/>
        </p:nvSpPr>
        <p:spPr>
          <a:xfrm>
            <a:off x="457200" y="5568696"/>
            <a:ext cx="548640" cy="548640"/>
          </a:xfrm>
          <a:prstGeom prst="rect">
            <a:avLst/>
          </a:prstGeom>
          <a:solidFill>
            <a:schemeClr val="accent1"/>
          </a:solidFill>
          <a:ln/>
        </p:spPr>
      </p:sp>
      <p:sp>
        <p:nvSpPr>
          <p:cNvPr id="37" name="gstep-num-6"/>
          <p:cNvSpPr txBox="1"/>
          <p:nvPr/>
        </p:nvSpPr>
        <p:spPr>
          <a:xfrm>
            <a:off x="457200" y="5568696"/>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⑦</a:t>
            </a:r>
            <a:endParaRPr lang="en-US" sz="1500" dirty="0"/>
          </a:p>
        </p:txBody>
      </p:sp>
      <p:sp>
        <p:nvSpPr>
          <p:cNvPr id="38" name="gstep-6"/>
          <p:cNvSpPr/>
          <p:nvPr/>
        </p:nvSpPr>
        <p:spPr>
          <a:xfrm>
            <a:off x="1005840" y="5568696"/>
            <a:ext cx="5349240" cy="548640"/>
          </a:xfrm>
          <a:prstGeom prst="rect">
            <a:avLst/>
          </a:prstGeom>
          <a:solidFill>
            <a:schemeClr val="bg1"/>
          </a:solidFill>
          <a:ln w="9525">
            <a:solidFill>
              <a:schemeClr val="accent6"/>
            </a:solidFill>
            <a:prstDash val="solid"/>
          </a:ln>
        </p:spPr>
      </p:sp>
      <p:sp>
        <p:nvSpPr>
          <p:cNvPr id="39" name="gstep-text-6"/>
          <p:cNvSpPr txBox="1"/>
          <p:nvPr/>
        </p:nvSpPr>
        <p:spPr>
          <a:xfrm>
            <a:off x="1170432" y="5568696"/>
            <a:ext cx="5074920" cy="548640"/>
          </a:xfrm>
          <a:prstGeom prst="rect">
            <a:avLst/>
          </a:prstGeom>
          <a:noFill/>
          <a:ln/>
        </p:spPr>
        <p:txBody>
          <a:bodyPr wrap="square" lIns="0" tIns="0" rIns="0" bIns="0" rtlCol="0" anchor="ctr"/>
          <a:lstStyle/>
          <a:p>
            <a:pPr indent="0" marL="0">
              <a:buNone/>
            </a:pPr>
            <a:r>
              <a:rPr lang="en-US" sz="1300" dirty="0">
                <a:solidFill>
                  <a:schemeClr val="tx1"/>
                </a:solidFill>
              </a:rPr>
              <a:t>レポートとして保存し、運用チームに共有する</a:t>
            </a:r>
            <a:endParaRPr lang="en-US" sz="1300" dirty="0"/>
          </a:p>
        </p:txBody>
      </p:sp>
      <p:pic>
        <p:nvPicPr>
          <p:cNvPr id="40" name="real-shot" descr="/home/user/000/splunk-techtouch-demo/slides/img/real_r07.jpg">    </p:cNvPr>
          <p:cNvPicPr>
            <a:picLocks noChangeAspect="1"/>
          </p:cNvPicPr>
          <p:nvPr/>
        </p:nvPicPr>
        <p:blipFill>
          <a:blip r:embed="rId1"/>
          <a:stretch>
            <a:fillRect/>
          </a:stretch>
        </p:blipFill>
        <p:spPr>
          <a:xfrm>
            <a:off x="6629400" y="2057400"/>
            <a:ext cx="5105095" cy="3108268"/>
          </a:xfrm>
          <a:prstGeom prst="rect">
            <a:avLst/>
          </a:prstGeom>
        </p:spPr>
      </p:pic>
      <p:sp>
        <p:nvSpPr>
          <p:cNvPr id="41" name="real-shot-frame"/>
          <p:cNvSpPr/>
          <p:nvPr/>
        </p:nvSpPr>
        <p:spPr>
          <a:xfrm>
            <a:off x="6629400" y="2057400"/>
            <a:ext cx="5105095" cy="3108268"/>
          </a:xfrm>
          <a:prstGeom prst="rect">
            <a:avLst/>
          </a:prstGeom>
          <a:ln w="9525">
            <a:solidFill>
              <a:schemeClr val="accent6"/>
            </a:solidFill>
            <a:prstDash val="solid"/>
          </a:ln>
        </p:spPr>
      </p:sp>
      <p:sp>
        <p:nvSpPr>
          <p:cNvPr id="42" name="real-badge"/>
          <p:cNvSpPr/>
          <p:nvPr/>
        </p:nvSpPr>
        <p:spPr>
          <a:xfrm>
            <a:off x="6629400" y="5275396"/>
            <a:ext cx="630936" cy="256032"/>
          </a:xfrm>
          <a:prstGeom prst="rect">
            <a:avLst/>
          </a:prstGeom>
          <a:solidFill>
            <a:schemeClr val="accent1"/>
          </a:solidFill>
          <a:ln/>
        </p:spPr>
      </p:sp>
      <p:sp>
        <p:nvSpPr>
          <p:cNvPr id="43" name="real-badge-text"/>
          <p:cNvSpPr txBox="1"/>
          <p:nvPr/>
        </p:nvSpPr>
        <p:spPr>
          <a:xfrm>
            <a:off x="6629400" y="5275396"/>
            <a:ext cx="630936" cy="256032"/>
          </a:xfrm>
          <a:prstGeom prst="rect">
            <a:avLst/>
          </a:prstGeom>
          <a:noFill/>
          <a:ln/>
        </p:spPr>
        <p:txBody>
          <a:bodyPr wrap="square" lIns="0" tIns="0" rIns="0" bIns="0" rtlCol="0" anchor="ctr"/>
          <a:lstStyle/>
          <a:p>
            <a:pPr algn="ctr" indent="0" marL="0">
              <a:buNone/>
            </a:pPr>
            <a:r>
              <a:rPr lang="en-US" sz="1100" b="1" dirty="0">
                <a:solidFill>
                  <a:schemeClr val="bg1"/>
                </a:solidFill>
              </a:rPr>
              <a:t>実画面</a:t>
            </a:r>
            <a:endParaRPr lang="en-US" sz="1100" dirty="0"/>
          </a:p>
        </p:txBody>
      </p:sp>
      <p:sp>
        <p:nvSpPr>
          <p:cNvPr id="44" name="real-caption"/>
          <p:cNvSpPr txBox="1"/>
          <p:nvPr/>
        </p:nvSpPr>
        <p:spPr>
          <a:xfrm>
            <a:off x="7498080" y="5275396"/>
            <a:ext cx="4236415" cy="256032"/>
          </a:xfrm>
          <a:prstGeom prst="rect">
            <a:avLst/>
          </a:prstGeom>
          <a:noFill/>
          <a:ln/>
        </p:spPr>
        <p:txBody>
          <a:bodyPr wrap="square" lIns="0" tIns="0" rIns="0" bIns="0" rtlCol="0" anchor="ctr"/>
          <a:lstStyle/>
          <a:p>
            <a:pPr indent="0" marL="0">
              <a:buNone/>
            </a:pPr>
            <a:r>
              <a:rPr lang="en-US" sz="1200" dirty="0">
                <a:solidFill>
                  <a:schemeClr val="tx1"/>
                </a:solidFill>
              </a:rPr>
              <a:t>公開したガイドの吹き出し⑥（ジョブの共有ボタンを指す）</a:t>
            </a:r>
            <a:endParaRPr lang="en-US" sz="1200" dirty="0"/>
          </a:p>
        </p:txBody>
      </p:sp>
      <p:sp>
        <p:nvSpPr>
          <p:cNvPr id="45" name="footnote"/>
          <p:cNvSpPr txBox="1"/>
          <p:nvPr/>
        </p:nvSpPr>
        <p:spPr>
          <a:xfrm>
            <a:off x="457200" y="6327648"/>
            <a:ext cx="10545775" cy="384048"/>
          </a:xfrm>
          <a:prstGeom prst="rect">
            <a:avLst/>
          </a:prstGeom>
          <a:noFill/>
          <a:ln/>
        </p:spPr>
        <p:txBody>
          <a:bodyPr wrap="square" lIns="0" tIns="0" rIns="0" bIns="0" rtlCol="0" anchor="ctr"/>
          <a:lstStyle/>
          <a:p>
            <a:pPr indent="0" marL="0">
              <a:buNone/>
            </a:pPr>
            <a:r>
              <a:rPr lang="en-US" sz="1100" dirty="0">
                <a:solidFill>
                  <a:schemeClr val="accent5"/>
                </a:solidFill>
              </a:rPr>
              <a:t>AI Hubはデモ環境に入っていないため、動画では構想の画面イメージ（例文）を実画面の横に置いています。</a:t>
            </a:r>
            <a:endParaRPr lang="en-US" sz="1100" dirty="0"/>
          </a:p>
        </p:txBody>
      </p:sp>
      <p:sp>
        <p:nvSpPr>
          <p:cNvPr id="25" name="Slide Number Placeholder 0"/>
          <p:cNvSpPr>
            <a:spLocks noGrp="1"/>
          </p:cNvSpPr>
          <p:nvPr>
            <p:ph type="sldNum" sz="quarter" idx="4294967295"/>
          </p:nvPr>
        </p:nvSpPr>
        <p:spPr>
          <a:xfrm>
            <a:off x="1118585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7315200" cy="274320"/>
          </a:xfrm>
          <a:prstGeom prst="rect">
            <a:avLst/>
          </a:prstGeom>
          <a:noFill/>
          <a:ln/>
        </p:spPr>
        <p:txBody>
          <a:bodyPr wrap="square" lIns="0" tIns="0" rIns="0" bIns="0" rtlCol="0" anchor="ctr"/>
          <a:lstStyle/>
          <a:p>
            <a:pPr algn="l" indent="0" marL="0">
              <a:buNone/>
            </a:pPr>
            <a:r>
              <a:rPr lang="en-US" sz="1100" b="1" dirty="0">
                <a:solidFill>
                  <a:schemeClr val="accent2"/>
                </a:solidFill>
              </a:rPr>
              <a:t>デモ｜AI機能</a:t>
            </a:r>
            <a:endParaRPr lang="en-US" sz="1100" dirty="0"/>
          </a:p>
        </p:txBody>
      </p:sp>
      <p:sp>
        <p:nvSpPr>
          <p:cNvPr id="3" name="Text 0"/>
          <p:cNvSpPr/>
          <p:nvPr>
            <p:ph idx="101" type="title" hasCustomPrompt="1"/>
          </p:nvPr>
        </p:nvSpPr>
        <p:spPr>
          <a:xfrm>
            <a:off x="457200" y="457200"/>
            <a:ext cx="11277295" cy="548640"/>
          </a:xfrm>
          <a:prstGeom prst="rect">
            <a:avLst/>
          </a:prstGeom>
          <a:noFill/>
          <a:ln/>
        </p:spPr>
        <p:txBody>
          <a:bodyPr wrap="square" lIns="0" tIns="0" rIns="0" bIns="0" rtlCol="0" anchor="ctr"/>
          <a:lstStyle/>
          <a:p>
            <a:pPr algn="l" indent="0" marL="0">
              <a:buNone/>
            </a:pPr>
            <a:r>
              <a:rPr lang="en-US" sz="2200" b="1" dirty="0">
                <a:solidFill>
                  <a:schemeClr val="tx1"/>
                </a:solidFill>
              </a:rPr>
              <a:t>AI機能は、機能ごとに分けて評価する</a:t>
            </a:r>
            <a:endParaRPr lang="en-US" sz="2200" dirty="0"/>
          </a:p>
        </p:txBody>
      </p:sp>
      <p:sp>
        <p:nvSpPr>
          <p:cNvPr id="4" name="band"/>
          <p:cNvSpPr/>
          <p:nvPr/>
        </p:nvSpPr>
        <p:spPr>
          <a:xfrm>
            <a:off x="457200" y="1097280"/>
            <a:ext cx="11277295" cy="731520"/>
          </a:xfrm>
          <a:prstGeom prst="rect">
            <a:avLst/>
          </a:prstGeom>
          <a:solidFill>
            <a:schemeClr val="accent3"/>
          </a:solidFill>
          <a:ln/>
        </p:spPr>
      </p:sp>
      <p:sp>
        <p:nvSpPr>
          <p:cNvPr id="5" name="band-text"/>
          <p:cNvSpPr txBox="1"/>
          <p:nvPr/>
        </p:nvSpPr>
        <p:spPr>
          <a:xfrm>
            <a:off x="594360" y="1097280"/>
            <a:ext cx="11002975" cy="731520"/>
          </a:xfrm>
          <a:prstGeom prst="rect">
            <a:avLst/>
          </a:prstGeom>
          <a:noFill/>
          <a:ln/>
        </p:spPr>
        <p:txBody>
          <a:bodyPr wrap="square" lIns="0" tIns="0" rIns="0" bIns="0" rtlCol="0" anchor="ctr"/>
          <a:lstStyle/>
          <a:p>
            <a:pPr indent="0" marL="0">
              <a:buNone/>
            </a:pPr>
            <a:r>
              <a:rPr lang="en-US" sz="1300" b="1" dirty="0">
                <a:solidFill>
                  <a:schemeClr val="accent1"/>
                </a:solidFill>
              </a:rPr>
              <a:t>Splunk AI Assistant・ITSIのAI/ML・AI Hubは別のもの。まとめて「AIで速くなる」とは言わない</a:t>
            </a:r>
            <a:endParaRPr lang="en-US" sz="1300" dirty="0"/>
          </a:p>
        </p:txBody>
      </p:sp>
      <p:graphicFrame>
        <p:nvGraphicFramePr>
          <p:cNvPr id="12" name="ai-table"/>
          <p:cNvGraphicFramePr>
            <a:graphicFrameLocks noGrp="1"/>
          </p:cNvGraphicFramePr>
          <p:nvPr>
            <p:extLst>
              <p:ext uri="{D42A27DB-BD31-4B8C-83A1-F6EECF244321}">
                <p14:modId xmlns:p14="http://schemas.microsoft.com/office/powerpoint/2010/main" val="1579011935"/>
              </p:ext>
            </p:extLst>
          </p:nvPr>
        </p:nvGraphicFramePr>
        <p:xfrm>
          <a:off x="457200" y="2057400"/>
          <a:ext cx="11277295" cy="914400"/>
        </p:xfrm>
        <a:graphic>
          <a:graphicData uri="http://schemas.openxmlformats.org/drawingml/2006/table">
            <a:tbl>
              <a:tblPr/>
              <a:tblGrid>
                <a:gridCol w="2331720"/>
                <a:gridCol w="1463040"/>
                <a:gridCol w="1600200"/>
                <a:gridCol w="3291840"/>
                <a:gridCol w="2587752"/>
              </a:tblGrid>
              <a:tr h="411480">
                <a:tc>
                  <a:txBody>
                    <a:bodyPr/>
                    <a:lstStyle/>
                    <a:p>
                      <a:pPr indent="0" marL="0">
                        <a:buNone/>
                      </a:pPr>
                      <a:r>
                        <a:rPr lang="en-US" sz="1200" b="1" dirty="0">
                          <a:solidFill>
                            <a:schemeClr val="bg1"/>
                          </a:solidFill>
                          <a:latin typeface="Yu Gothic" pitchFamily="34" charset="0"/>
                          <a:ea typeface="Yu Gothic" pitchFamily="34" charset="-122"/>
                          <a:cs typeface="Yu Gothic" pitchFamily="34" charset="-120"/>
                        </a:rPr>
                        <a:t>機能</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latin typeface="Yu Gothic" pitchFamily="34" charset="0"/>
                          <a:ea typeface="Yu Gothic" pitchFamily="34" charset="-122"/>
                          <a:cs typeface="Yu Gothic" pitchFamily="34" charset="-120"/>
                        </a:rPr>
                        <a:t>提供</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latin typeface="Yu Gothic" pitchFamily="34" charset="0"/>
                          <a:ea typeface="Yu Gothic" pitchFamily="34" charset="-122"/>
                          <a:cs typeface="Yu Gothic" pitchFamily="34" charset="-120"/>
                        </a:rPr>
                        <a:t>種類</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latin typeface="Yu Gothic" pitchFamily="34" charset="0"/>
                          <a:ea typeface="Yu Gothic" pitchFamily="34" charset="-122"/>
                          <a:cs typeface="Yu Gothic" pitchFamily="34" charset="-120"/>
                        </a:rPr>
                        <a:t>すること</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latin typeface="Yu Gothic" pitchFamily="34" charset="0"/>
                          <a:ea typeface="Yu Gothic" pitchFamily="34" charset="-122"/>
                          <a:cs typeface="Yu Gothic" pitchFamily="34" charset="-120"/>
                        </a:rPr>
                        <a:t>デモでの扱い</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chemeClr val="accent1"/>
                    </a:solidFill>
                  </a:tcPr>
                </a:tc>
              </a:tr>
              <a:tr h="685800">
                <a:tc>
                  <a:txBody>
                    <a:bodyPr/>
                    <a:lstStyle/>
                    <a:p>
                      <a:pPr indent="0" marL="0">
                        <a:buNone/>
                      </a:pPr>
                      <a:r>
                        <a:rPr lang="en-US" sz="1200" b="1" dirty="0">
                          <a:solidFill>
                            <a:schemeClr val="tx1"/>
                          </a:solidFill>
                          <a:latin typeface="Yu Gothic" pitchFamily="34" charset="0"/>
                          <a:ea typeface="Yu Gothic" pitchFamily="34" charset="-122"/>
                          <a:cs typeface="Yu Gothic" pitchFamily="34" charset="-120"/>
                        </a:rPr>
                        <a:t>Splunk AI Assistant</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Splunk Cloud</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対話型の支援</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自然言語からSPL案を作り、SPLを説明する</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使っていない（トライアル環境では使えない）</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tcPr>
                </a:tc>
              </a:tr>
              <a:tr h="685800">
                <a:tc>
                  <a:txBody>
                    <a:bodyPr/>
                    <a:lstStyle/>
                    <a:p>
                      <a:pPr indent="0" marL="0">
                        <a:buNone/>
                      </a:pPr>
                      <a:r>
                        <a:rPr lang="en-US" sz="1200" b="1" dirty="0">
                          <a:solidFill>
                            <a:schemeClr val="tx1"/>
                          </a:solidFill>
                          <a:latin typeface="Yu Gothic" pitchFamily="34" charset="0"/>
                          <a:ea typeface="Yu Gothic" pitchFamily="34" charset="-122"/>
                          <a:cs typeface="Yu Gothic" pitchFamily="34" charset="-120"/>
                        </a:rPr>
                        <a:t>Predictive Analytics</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F0F3F6"/>
                    </a:solidFill>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ITSI</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F0F3F6"/>
                    </a:solidFill>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予測</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F0F3F6"/>
                    </a:solidFill>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30分先の健全性スコアを予測する</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F0F3F6"/>
                    </a:solidFill>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扱っていない</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F0F3F6"/>
                    </a:solidFill>
                  </a:tcPr>
                </a:tc>
              </a:tr>
              <a:tr h="685800">
                <a:tc>
                  <a:txBody>
                    <a:bodyPr/>
                    <a:lstStyle/>
                    <a:p>
                      <a:pPr indent="0" marL="0">
                        <a:buNone/>
                      </a:pPr>
                      <a:r>
                        <a:rPr lang="en-US" sz="1200" b="1" dirty="0">
                          <a:solidFill>
                            <a:schemeClr val="tx1"/>
                          </a:solidFill>
                          <a:latin typeface="Yu Gothic" pitchFamily="34" charset="0"/>
                          <a:ea typeface="Yu Gothic" pitchFamily="34" charset="-122"/>
                          <a:cs typeface="Yu Gothic" pitchFamily="34" charset="-120"/>
                        </a:rPr>
                        <a:t>エピソードの要約（Overviewタブ）</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ITSI 5.0</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要約・原因の推定</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AIによる要約、推定される原因、次の対応の推奨を表示する</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扱っていない（御社の版で確認）</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tcPr>
                </a:tc>
              </a:tr>
              <a:tr h="685800">
                <a:tc>
                  <a:txBody>
                    <a:bodyPr/>
                    <a:lstStyle/>
                    <a:p>
                      <a:pPr indent="0" marL="0">
                        <a:buNone/>
                      </a:pPr>
                      <a:r>
                        <a:rPr lang="en-US" sz="1200" b="1" dirty="0">
                          <a:solidFill>
                            <a:srgbClr val="5A3EA6"/>
                          </a:solidFill>
                          <a:latin typeface="Yu Gothic" pitchFamily="34" charset="0"/>
                          <a:ea typeface="Yu Gothic" pitchFamily="34" charset="-122"/>
                          <a:cs typeface="Yu Gothic" pitchFamily="34" charset="-120"/>
                        </a:rPr>
                        <a:t>AI Hub</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F0F3F6"/>
                    </a:solidFill>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テックタッチ</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F0F3F6"/>
                    </a:solidFill>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対話型の支援</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F0F3F6"/>
                    </a:solidFill>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社内のナレッジを参照し、説明・照合・下書きをする</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F0F3F6"/>
                    </a:solidFill>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構想の画面イメージと例文</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F0F3F6"/>
                    </a:solidFill>
                  </a:tcPr>
                </a:tc>
              </a:tr>
            </a:tbl>
          </a:graphicData>
        </a:graphic>
      </p:graphicFrame>
      <p:sp>
        <p:nvSpPr>
          <p:cNvPr id="7" name="ai-note"/>
          <p:cNvSpPr txBox="1"/>
          <p:nvPr/>
        </p:nvSpPr>
        <p:spPr>
          <a:xfrm>
            <a:off x="457200" y="5486400"/>
            <a:ext cx="11277295" cy="411480"/>
          </a:xfrm>
          <a:prstGeom prst="rect">
            <a:avLst/>
          </a:prstGeom>
          <a:noFill/>
          <a:ln/>
        </p:spPr>
        <p:txBody>
          <a:bodyPr wrap="square" lIns="0" tIns="0" rIns="0" bIns="0" rtlCol="0" anchor="ctr"/>
          <a:lstStyle/>
          <a:p>
            <a:pPr indent="0" marL="0">
              <a:buNone/>
            </a:pPr>
            <a:r>
              <a:rPr lang="en-US" sz="1300" b="1" dirty="0">
                <a:solidFill>
                  <a:schemeClr val="accent4"/>
                </a:solidFill>
              </a:rPr>
              <a:t>精度や削減率の数値は、お約束しません。効果は4つの指標で確かめます（次のページ）。</a:t>
            </a:r>
            <a:endParaRPr lang="en-US" sz="1300" dirty="0"/>
          </a:p>
        </p:txBody>
      </p:sp>
      <p:sp>
        <p:nvSpPr>
          <p:cNvPr id="8" name="footnote"/>
          <p:cNvSpPr txBox="1"/>
          <p:nvPr/>
        </p:nvSpPr>
        <p:spPr>
          <a:xfrm>
            <a:off x="457200" y="6327648"/>
            <a:ext cx="10545775" cy="384048"/>
          </a:xfrm>
          <a:prstGeom prst="rect">
            <a:avLst/>
          </a:prstGeom>
          <a:noFill/>
          <a:ln/>
        </p:spPr>
        <p:txBody>
          <a:bodyPr wrap="square" lIns="0" tIns="0" rIns="0" bIns="0" rtlCol="0" anchor="ctr"/>
          <a:lstStyle/>
          <a:p>
            <a:pPr indent="0" marL="0">
              <a:buNone/>
            </a:pPr>
            <a:r>
              <a:rPr lang="en-US" sz="1100" dirty="0">
                <a:solidFill>
                  <a:schemeClr val="accent5"/>
                </a:solidFill>
              </a:rPr>
              <a:t>Splunkの機能は、Splunk公式ドキュメントの抜粋で確認しています。ITSIの版によって、使える機能が異なります。</a:t>
            </a:r>
            <a:endParaRPr lang="en-US" sz="1100" dirty="0"/>
          </a:p>
        </p:txBody>
      </p:sp>
      <p:sp>
        <p:nvSpPr>
          <p:cNvPr id="25" name="Slide Number Placeholder 0"/>
          <p:cNvSpPr>
            <a:spLocks noGrp="1"/>
          </p:cNvSpPr>
          <p:nvPr>
            <p:ph type="sldNum" sz="quarter" idx="4294967295"/>
          </p:nvPr>
        </p:nvSpPr>
        <p:spPr>
          <a:xfrm>
            <a:off x="1118585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7315200" cy="274320"/>
          </a:xfrm>
          <a:prstGeom prst="rect">
            <a:avLst/>
          </a:prstGeom>
          <a:noFill/>
          <a:ln/>
        </p:spPr>
        <p:txBody>
          <a:bodyPr wrap="square" lIns="0" tIns="0" rIns="0" bIns="0" rtlCol="0" anchor="ctr"/>
          <a:lstStyle/>
          <a:p>
            <a:pPr algn="l" indent="0" marL="0">
              <a:buNone/>
            </a:pPr>
            <a:r>
              <a:rPr lang="en-US" sz="1100" b="1" dirty="0">
                <a:solidFill>
                  <a:schemeClr val="accent2"/>
                </a:solidFill>
              </a:rPr>
              <a:t>進め方｜効果</a:t>
            </a:r>
            <a:endParaRPr lang="en-US" sz="1100" dirty="0"/>
          </a:p>
        </p:txBody>
      </p:sp>
      <p:sp>
        <p:nvSpPr>
          <p:cNvPr id="3" name="Text 0"/>
          <p:cNvSpPr/>
          <p:nvPr>
            <p:ph idx="101" type="title" hasCustomPrompt="1"/>
          </p:nvPr>
        </p:nvSpPr>
        <p:spPr>
          <a:xfrm>
            <a:off x="457200" y="457200"/>
            <a:ext cx="11277295" cy="548640"/>
          </a:xfrm>
          <a:prstGeom prst="rect">
            <a:avLst/>
          </a:prstGeom>
          <a:noFill/>
          <a:ln/>
        </p:spPr>
        <p:txBody>
          <a:bodyPr wrap="square" lIns="0" tIns="0" rIns="0" bIns="0" rtlCol="0" anchor="ctr"/>
          <a:lstStyle/>
          <a:p>
            <a:pPr algn="l" indent="0" marL="0">
              <a:buNone/>
            </a:pPr>
            <a:r>
              <a:rPr lang="en-US" sz="2200" b="1" dirty="0">
                <a:solidFill>
                  <a:schemeClr val="tx1"/>
                </a:solidFill>
              </a:rPr>
              <a:t>効果の確かめ方</a:t>
            </a:r>
            <a:endParaRPr lang="en-US" sz="2200" dirty="0"/>
          </a:p>
        </p:txBody>
      </p:sp>
      <p:sp>
        <p:nvSpPr>
          <p:cNvPr id="4" name="band"/>
          <p:cNvSpPr/>
          <p:nvPr/>
        </p:nvSpPr>
        <p:spPr>
          <a:xfrm>
            <a:off x="457200" y="1097280"/>
            <a:ext cx="11277295" cy="731520"/>
          </a:xfrm>
          <a:prstGeom prst="rect">
            <a:avLst/>
          </a:prstGeom>
          <a:solidFill>
            <a:schemeClr val="accent3"/>
          </a:solidFill>
          <a:ln/>
        </p:spPr>
      </p:sp>
      <p:sp>
        <p:nvSpPr>
          <p:cNvPr id="5" name="band-text"/>
          <p:cNvSpPr txBox="1"/>
          <p:nvPr/>
        </p:nvSpPr>
        <p:spPr>
          <a:xfrm>
            <a:off x="594360" y="1097280"/>
            <a:ext cx="11002975" cy="731520"/>
          </a:xfrm>
          <a:prstGeom prst="rect">
            <a:avLst/>
          </a:prstGeom>
          <a:noFill/>
          <a:ln/>
        </p:spPr>
        <p:txBody>
          <a:bodyPr wrap="square" lIns="0" tIns="0" rIns="0" bIns="0" rtlCol="0" anchor="ctr"/>
          <a:lstStyle/>
          <a:p>
            <a:pPr indent="0" marL="0">
              <a:buNone/>
            </a:pPr>
            <a:r>
              <a:rPr lang="en-US" sz="1300" b="1" dirty="0">
                <a:solidFill>
                  <a:schemeClr val="accent1"/>
                </a:solidFill>
              </a:rPr>
              <a:t>一つの作業で測る。現状を伺ってから、目標を決める</a:t>
            </a:r>
            <a:endParaRPr lang="en-US" sz="1300" dirty="0"/>
          </a:p>
        </p:txBody>
      </p:sp>
      <p:sp>
        <p:nvSpPr>
          <p:cNvPr id="6" name="metric-0"/>
          <p:cNvSpPr/>
          <p:nvPr/>
        </p:nvSpPr>
        <p:spPr>
          <a:xfrm>
            <a:off x="457200" y="2057400"/>
            <a:ext cx="2682164" cy="3246120"/>
          </a:xfrm>
          <a:prstGeom prst="rect">
            <a:avLst/>
          </a:prstGeom>
          <a:solidFill>
            <a:schemeClr val="accent1"/>
          </a:solidFill>
          <a:ln/>
        </p:spPr>
      </p:sp>
      <p:sp>
        <p:nvSpPr>
          <p:cNvPr id="7" name="metric-num-0"/>
          <p:cNvSpPr txBox="1"/>
          <p:nvPr/>
        </p:nvSpPr>
        <p:spPr>
          <a:xfrm>
            <a:off x="594360" y="2194560"/>
            <a:ext cx="2407844" cy="274320"/>
          </a:xfrm>
          <a:prstGeom prst="rect">
            <a:avLst/>
          </a:prstGeom>
          <a:noFill/>
          <a:ln/>
        </p:spPr>
        <p:txBody>
          <a:bodyPr wrap="square" lIns="0" tIns="0" rIns="0" bIns="0" rtlCol="0" anchor="t"/>
          <a:lstStyle/>
          <a:p>
            <a:pPr indent="0" marL="0">
              <a:buNone/>
            </a:pPr>
            <a:r>
              <a:rPr lang="en-US" sz="1200" dirty="0">
                <a:solidFill>
                  <a:schemeClr val="bg1"/>
                </a:solidFill>
              </a:rPr>
              <a:t>指標 1</a:t>
            </a:r>
            <a:endParaRPr lang="en-US" sz="1200" dirty="0"/>
          </a:p>
        </p:txBody>
      </p:sp>
      <p:sp>
        <p:nvSpPr>
          <p:cNvPr id="8" name="metric-name-0"/>
          <p:cNvSpPr txBox="1"/>
          <p:nvPr/>
        </p:nvSpPr>
        <p:spPr>
          <a:xfrm>
            <a:off x="594360" y="2514600"/>
            <a:ext cx="2407844" cy="868680"/>
          </a:xfrm>
          <a:prstGeom prst="rect">
            <a:avLst/>
          </a:prstGeom>
          <a:noFill/>
          <a:ln/>
        </p:spPr>
        <p:txBody>
          <a:bodyPr wrap="square" lIns="0" tIns="0" rIns="0" bIns="0" rtlCol="0" anchor="t"/>
          <a:lstStyle/>
          <a:p>
            <a:pPr indent="0" marL="0">
              <a:buNone/>
            </a:pPr>
            <a:r>
              <a:rPr lang="en-US" sz="2000" b="1" dirty="0">
                <a:solidFill>
                  <a:schemeClr val="bg1"/>
                </a:solidFill>
              </a:rPr>
              <a:t>自力完了率</a:t>
            </a:r>
            <a:endParaRPr lang="en-US" sz="2000" dirty="0"/>
          </a:p>
        </p:txBody>
      </p:sp>
      <p:sp>
        <p:nvSpPr>
          <p:cNvPr id="9" name="metric-howlab-0"/>
          <p:cNvSpPr txBox="1"/>
          <p:nvPr/>
        </p:nvSpPr>
        <p:spPr>
          <a:xfrm>
            <a:off x="594360" y="3566160"/>
            <a:ext cx="2407844" cy="256032"/>
          </a:xfrm>
          <a:prstGeom prst="rect">
            <a:avLst/>
          </a:prstGeom>
          <a:noFill/>
          <a:ln/>
        </p:spPr>
        <p:txBody>
          <a:bodyPr wrap="square" lIns="0" tIns="0" rIns="0" bIns="0" rtlCol="0" anchor="t"/>
          <a:lstStyle/>
          <a:p>
            <a:pPr indent="0" marL="0">
              <a:buNone/>
            </a:pPr>
            <a:r>
              <a:rPr lang="en-US" sz="1100" b="1" dirty="0">
                <a:solidFill>
                  <a:schemeClr val="bg1"/>
                </a:solidFill>
              </a:rPr>
              <a:t>測り方</a:t>
            </a:r>
            <a:endParaRPr lang="en-US" sz="1100" dirty="0"/>
          </a:p>
        </p:txBody>
      </p:sp>
      <p:sp>
        <p:nvSpPr>
          <p:cNvPr id="10" name="metric-how-0"/>
          <p:cNvSpPr txBox="1"/>
          <p:nvPr/>
        </p:nvSpPr>
        <p:spPr>
          <a:xfrm>
            <a:off x="594360" y="3840480"/>
            <a:ext cx="2407844" cy="1325880"/>
          </a:xfrm>
          <a:prstGeom prst="rect">
            <a:avLst/>
          </a:prstGeom>
          <a:noFill/>
          <a:ln/>
        </p:spPr>
        <p:txBody>
          <a:bodyPr wrap="square" lIns="0" tIns="0" rIns="0" bIns="0" rtlCol="0" anchor="t"/>
          <a:lstStyle/>
          <a:p>
            <a:pPr indent="0" marL="0">
              <a:buNone/>
            </a:pPr>
            <a:r>
              <a:rPr lang="en-US" sz="1300" dirty="0">
                <a:solidFill>
                  <a:schemeClr val="bg1"/>
                </a:solidFill>
              </a:rPr>
              <a:t>専門チームに依頼せずに、作業を終えられた割合（対象の作業ごと）</a:t>
            </a:r>
            <a:endParaRPr lang="en-US" sz="1300" dirty="0"/>
          </a:p>
        </p:txBody>
      </p:sp>
      <p:sp>
        <p:nvSpPr>
          <p:cNvPr id="11" name="metric-1"/>
          <p:cNvSpPr/>
          <p:nvPr/>
        </p:nvSpPr>
        <p:spPr>
          <a:xfrm>
            <a:off x="3322244" y="2057400"/>
            <a:ext cx="2682164" cy="3246120"/>
          </a:xfrm>
          <a:prstGeom prst="rect">
            <a:avLst/>
          </a:prstGeom>
          <a:solidFill>
            <a:schemeClr val="bg2"/>
          </a:solidFill>
          <a:ln w="9525">
            <a:solidFill>
              <a:schemeClr val="accent6"/>
            </a:solidFill>
            <a:prstDash val="solid"/>
          </a:ln>
        </p:spPr>
      </p:sp>
      <p:sp>
        <p:nvSpPr>
          <p:cNvPr id="12" name="metric-num-1"/>
          <p:cNvSpPr txBox="1"/>
          <p:nvPr/>
        </p:nvSpPr>
        <p:spPr>
          <a:xfrm>
            <a:off x="3459404" y="2194560"/>
            <a:ext cx="2407844" cy="274320"/>
          </a:xfrm>
          <a:prstGeom prst="rect">
            <a:avLst/>
          </a:prstGeom>
          <a:noFill/>
          <a:ln/>
        </p:spPr>
        <p:txBody>
          <a:bodyPr wrap="square" lIns="0" tIns="0" rIns="0" bIns="0" rtlCol="0" anchor="t"/>
          <a:lstStyle/>
          <a:p>
            <a:pPr indent="0" marL="0">
              <a:buNone/>
            </a:pPr>
            <a:r>
              <a:rPr lang="en-US" sz="1200" dirty="0">
                <a:solidFill>
                  <a:schemeClr val="accent5"/>
                </a:solidFill>
              </a:rPr>
              <a:t>指標 2</a:t>
            </a:r>
            <a:endParaRPr lang="en-US" sz="1200" dirty="0"/>
          </a:p>
        </p:txBody>
      </p:sp>
      <p:sp>
        <p:nvSpPr>
          <p:cNvPr id="13" name="metric-name-1"/>
          <p:cNvSpPr txBox="1"/>
          <p:nvPr/>
        </p:nvSpPr>
        <p:spPr>
          <a:xfrm>
            <a:off x="3459404" y="2514600"/>
            <a:ext cx="2407844" cy="868680"/>
          </a:xfrm>
          <a:prstGeom prst="rect">
            <a:avLst/>
          </a:prstGeom>
          <a:noFill/>
          <a:ln/>
        </p:spPr>
        <p:txBody>
          <a:bodyPr wrap="square" lIns="0" tIns="0" rIns="0" bIns="0" rtlCol="0" anchor="t"/>
          <a:lstStyle/>
          <a:p>
            <a:pPr indent="0" marL="0">
              <a:buNone/>
            </a:pPr>
            <a:r>
              <a:rPr lang="en-US" sz="2000" b="1" dirty="0">
                <a:solidFill>
                  <a:schemeClr val="tx1"/>
                </a:solidFill>
              </a:rPr>
              <a:t>所要時間</a:t>
            </a:r>
            <a:endParaRPr lang="en-US" sz="2000" dirty="0"/>
          </a:p>
        </p:txBody>
      </p:sp>
      <p:sp>
        <p:nvSpPr>
          <p:cNvPr id="14" name="metric-howlab-1"/>
          <p:cNvSpPr txBox="1"/>
          <p:nvPr/>
        </p:nvSpPr>
        <p:spPr>
          <a:xfrm>
            <a:off x="3459404" y="3566160"/>
            <a:ext cx="2407844" cy="256032"/>
          </a:xfrm>
          <a:prstGeom prst="rect">
            <a:avLst/>
          </a:prstGeom>
          <a:noFill/>
          <a:ln/>
        </p:spPr>
        <p:txBody>
          <a:bodyPr wrap="square" lIns="0" tIns="0" rIns="0" bIns="0" rtlCol="0" anchor="t"/>
          <a:lstStyle/>
          <a:p>
            <a:pPr indent="0" marL="0">
              <a:buNone/>
            </a:pPr>
            <a:r>
              <a:rPr lang="en-US" sz="1100" b="1" dirty="0">
                <a:solidFill>
                  <a:schemeClr val="accent5"/>
                </a:solidFill>
              </a:rPr>
              <a:t>測り方</a:t>
            </a:r>
            <a:endParaRPr lang="en-US" sz="1100" dirty="0"/>
          </a:p>
        </p:txBody>
      </p:sp>
      <p:sp>
        <p:nvSpPr>
          <p:cNvPr id="15" name="metric-how-1"/>
          <p:cNvSpPr txBox="1"/>
          <p:nvPr/>
        </p:nvSpPr>
        <p:spPr>
          <a:xfrm>
            <a:off x="3459404" y="3840480"/>
            <a:ext cx="2407844" cy="1325880"/>
          </a:xfrm>
          <a:prstGeom prst="rect">
            <a:avLst/>
          </a:prstGeom>
          <a:noFill/>
          <a:ln/>
        </p:spPr>
        <p:txBody>
          <a:bodyPr wrap="square" lIns="0" tIns="0" rIns="0" bIns="0" rtlCol="0" anchor="t"/>
          <a:lstStyle/>
          <a:p>
            <a:pPr indent="0" marL="0">
              <a:buNone/>
            </a:pPr>
            <a:r>
              <a:rPr lang="en-US" sz="1300" dirty="0">
                <a:solidFill>
                  <a:schemeClr val="tx1"/>
                </a:solidFill>
              </a:rPr>
              <a:t>問い合わせを受けてから、一次連絡までの時間（例）</a:t>
            </a:r>
            <a:endParaRPr lang="en-US" sz="1300" dirty="0"/>
          </a:p>
        </p:txBody>
      </p:sp>
      <p:sp>
        <p:nvSpPr>
          <p:cNvPr id="16" name="metric-2"/>
          <p:cNvSpPr/>
          <p:nvPr/>
        </p:nvSpPr>
        <p:spPr>
          <a:xfrm>
            <a:off x="6187288" y="2057400"/>
            <a:ext cx="2682164" cy="3246120"/>
          </a:xfrm>
          <a:prstGeom prst="rect">
            <a:avLst/>
          </a:prstGeom>
          <a:solidFill>
            <a:schemeClr val="bg2"/>
          </a:solidFill>
          <a:ln w="9525">
            <a:solidFill>
              <a:schemeClr val="accent6"/>
            </a:solidFill>
            <a:prstDash val="solid"/>
          </a:ln>
        </p:spPr>
      </p:sp>
      <p:sp>
        <p:nvSpPr>
          <p:cNvPr id="17" name="metric-num-2"/>
          <p:cNvSpPr txBox="1"/>
          <p:nvPr/>
        </p:nvSpPr>
        <p:spPr>
          <a:xfrm>
            <a:off x="6324448" y="2194560"/>
            <a:ext cx="2407844" cy="274320"/>
          </a:xfrm>
          <a:prstGeom prst="rect">
            <a:avLst/>
          </a:prstGeom>
          <a:noFill/>
          <a:ln/>
        </p:spPr>
        <p:txBody>
          <a:bodyPr wrap="square" lIns="0" tIns="0" rIns="0" bIns="0" rtlCol="0" anchor="t"/>
          <a:lstStyle/>
          <a:p>
            <a:pPr indent="0" marL="0">
              <a:buNone/>
            </a:pPr>
            <a:r>
              <a:rPr lang="en-US" sz="1200" dirty="0">
                <a:solidFill>
                  <a:schemeClr val="accent5"/>
                </a:solidFill>
              </a:rPr>
              <a:t>指標 3</a:t>
            </a:r>
            <a:endParaRPr lang="en-US" sz="1200" dirty="0"/>
          </a:p>
        </p:txBody>
      </p:sp>
      <p:sp>
        <p:nvSpPr>
          <p:cNvPr id="18" name="metric-name-2"/>
          <p:cNvSpPr txBox="1"/>
          <p:nvPr/>
        </p:nvSpPr>
        <p:spPr>
          <a:xfrm>
            <a:off x="6324448" y="2514600"/>
            <a:ext cx="2407844" cy="868680"/>
          </a:xfrm>
          <a:prstGeom prst="rect">
            <a:avLst/>
          </a:prstGeom>
          <a:noFill/>
          <a:ln/>
        </p:spPr>
        <p:txBody>
          <a:bodyPr wrap="square" lIns="0" tIns="0" rIns="0" bIns="0" rtlCol="0" anchor="t"/>
          <a:lstStyle/>
          <a:p>
            <a:pPr indent="0" marL="0">
              <a:buNone/>
            </a:pPr>
            <a:r>
              <a:rPr lang="en-US" sz="2000" b="1" dirty="0">
                <a:solidFill>
                  <a:schemeClr val="tx1"/>
                </a:solidFill>
              </a:rPr>
              <a:t>依頼件数</a:t>
            </a:r>
            <a:endParaRPr lang="en-US" sz="2000" dirty="0"/>
          </a:p>
        </p:txBody>
      </p:sp>
      <p:sp>
        <p:nvSpPr>
          <p:cNvPr id="19" name="metric-howlab-2"/>
          <p:cNvSpPr txBox="1"/>
          <p:nvPr/>
        </p:nvSpPr>
        <p:spPr>
          <a:xfrm>
            <a:off x="6324448" y="3566160"/>
            <a:ext cx="2407844" cy="256032"/>
          </a:xfrm>
          <a:prstGeom prst="rect">
            <a:avLst/>
          </a:prstGeom>
          <a:noFill/>
          <a:ln/>
        </p:spPr>
        <p:txBody>
          <a:bodyPr wrap="square" lIns="0" tIns="0" rIns="0" bIns="0" rtlCol="0" anchor="t"/>
          <a:lstStyle/>
          <a:p>
            <a:pPr indent="0" marL="0">
              <a:buNone/>
            </a:pPr>
            <a:r>
              <a:rPr lang="en-US" sz="1100" b="1" dirty="0">
                <a:solidFill>
                  <a:schemeClr val="accent5"/>
                </a:solidFill>
              </a:rPr>
              <a:t>測り方</a:t>
            </a:r>
            <a:endParaRPr lang="en-US" sz="1100" dirty="0"/>
          </a:p>
        </p:txBody>
      </p:sp>
      <p:sp>
        <p:nvSpPr>
          <p:cNvPr id="20" name="metric-how-2"/>
          <p:cNvSpPr txBox="1"/>
          <p:nvPr/>
        </p:nvSpPr>
        <p:spPr>
          <a:xfrm>
            <a:off x="6324448" y="3840480"/>
            <a:ext cx="2407844" cy="1325880"/>
          </a:xfrm>
          <a:prstGeom prst="rect">
            <a:avLst/>
          </a:prstGeom>
          <a:noFill/>
          <a:ln/>
        </p:spPr>
        <p:txBody>
          <a:bodyPr wrap="square" lIns="0" tIns="0" rIns="0" bIns="0" rtlCol="0" anchor="t"/>
          <a:lstStyle/>
          <a:p>
            <a:pPr indent="0" marL="0">
              <a:buNone/>
            </a:pPr>
            <a:r>
              <a:rPr lang="en-US" sz="1300" dirty="0">
                <a:solidFill>
                  <a:schemeClr val="tx1"/>
                </a:solidFill>
              </a:rPr>
              <a:t>専門チーム・委託先への問い合わせの件数</a:t>
            </a:r>
            <a:endParaRPr lang="en-US" sz="1300" dirty="0"/>
          </a:p>
        </p:txBody>
      </p:sp>
      <p:sp>
        <p:nvSpPr>
          <p:cNvPr id="21" name="metric-3"/>
          <p:cNvSpPr/>
          <p:nvPr/>
        </p:nvSpPr>
        <p:spPr>
          <a:xfrm>
            <a:off x="9052331" y="2057400"/>
            <a:ext cx="2682164" cy="3246120"/>
          </a:xfrm>
          <a:prstGeom prst="rect">
            <a:avLst/>
          </a:prstGeom>
          <a:solidFill>
            <a:schemeClr val="bg2"/>
          </a:solidFill>
          <a:ln w="9525">
            <a:solidFill>
              <a:schemeClr val="accent6"/>
            </a:solidFill>
            <a:prstDash val="solid"/>
          </a:ln>
        </p:spPr>
      </p:sp>
      <p:sp>
        <p:nvSpPr>
          <p:cNvPr id="22" name="metric-num-3"/>
          <p:cNvSpPr txBox="1"/>
          <p:nvPr/>
        </p:nvSpPr>
        <p:spPr>
          <a:xfrm>
            <a:off x="9189491" y="2194560"/>
            <a:ext cx="2407844" cy="274320"/>
          </a:xfrm>
          <a:prstGeom prst="rect">
            <a:avLst/>
          </a:prstGeom>
          <a:noFill/>
          <a:ln/>
        </p:spPr>
        <p:txBody>
          <a:bodyPr wrap="square" lIns="0" tIns="0" rIns="0" bIns="0" rtlCol="0" anchor="t"/>
          <a:lstStyle/>
          <a:p>
            <a:pPr indent="0" marL="0">
              <a:buNone/>
            </a:pPr>
            <a:r>
              <a:rPr lang="en-US" sz="1200" dirty="0">
                <a:solidFill>
                  <a:schemeClr val="accent5"/>
                </a:solidFill>
              </a:rPr>
              <a:t>指標 4</a:t>
            </a:r>
            <a:endParaRPr lang="en-US" sz="1200" dirty="0"/>
          </a:p>
        </p:txBody>
      </p:sp>
      <p:sp>
        <p:nvSpPr>
          <p:cNvPr id="23" name="metric-name-3"/>
          <p:cNvSpPr txBox="1"/>
          <p:nvPr/>
        </p:nvSpPr>
        <p:spPr>
          <a:xfrm>
            <a:off x="9189491" y="2514600"/>
            <a:ext cx="2407844" cy="868680"/>
          </a:xfrm>
          <a:prstGeom prst="rect">
            <a:avLst/>
          </a:prstGeom>
          <a:noFill/>
          <a:ln/>
        </p:spPr>
        <p:txBody>
          <a:bodyPr wrap="square" lIns="0" tIns="0" rIns="0" bIns="0" rtlCol="0" anchor="t"/>
          <a:lstStyle/>
          <a:p>
            <a:pPr indent="0" marL="0">
              <a:buNone/>
            </a:pPr>
            <a:r>
              <a:rPr lang="en-US" sz="2000" b="1" dirty="0">
                <a:solidFill>
                  <a:schemeClr val="tx1"/>
                </a:solidFill>
              </a:rPr>
              <a:t>再実行</a:t>
            </a:r>
            <a:endParaRPr lang="en-US" sz="2000" dirty="0"/>
          </a:p>
        </p:txBody>
      </p:sp>
      <p:sp>
        <p:nvSpPr>
          <p:cNvPr id="24" name="metric-howlab-3"/>
          <p:cNvSpPr txBox="1"/>
          <p:nvPr/>
        </p:nvSpPr>
        <p:spPr>
          <a:xfrm>
            <a:off x="9189491" y="3566160"/>
            <a:ext cx="2407844" cy="256032"/>
          </a:xfrm>
          <a:prstGeom prst="rect">
            <a:avLst/>
          </a:prstGeom>
          <a:noFill/>
          <a:ln/>
        </p:spPr>
        <p:txBody>
          <a:bodyPr wrap="square" lIns="0" tIns="0" rIns="0" bIns="0" rtlCol="0" anchor="t"/>
          <a:lstStyle/>
          <a:p>
            <a:pPr indent="0" marL="0">
              <a:buNone/>
            </a:pPr>
            <a:r>
              <a:rPr lang="en-US" sz="1100" b="1" dirty="0">
                <a:solidFill>
                  <a:schemeClr val="accent5"/>
                </a:solidFill>
              </a:rPr>
              <a:t>測り方</a:t>
            </a:r>
            <a:endParaRPr lang="en-US" sz="1100" dirty="0"/>
          </a:p>
        </p:txBody>
      </p:sp>
      <p:sp>
        <p:nvSpPr>
          <p:cNvPr id="25" name="metric-how-3"/>
          <p:cNvSpPr txBox="1"/>
          <p:nvPr/>
        </p:nvSpPr>
        <p:spPr>
          <a:xfrm>
            <a:off x="9189491" y="3840480"/>
            <a:ext cx="2407844" cy="1325880"/>
          </a:xfrm>
          <a:prstGeom prst="rect">
            <a:avLst/>
          </a:prstGeom>
          <a:noFill/>
          <a:ln/>
        </p:spPr>
        <p:txBody>
          <a:bodyPr wrap="square" lIns="0" tIns="0" rIns="0" bIns="0" rtlCol="0" anchor="t"/>
          <a:lstStyle/>
          <a:p>
            <a:pPr indent="0" marL="0">
              <a:buNone/>
            </a:pPr>
            <a:r>
              <a:rPr lang="en-US" sz="1300" dirty="0">
                <a:solidFill>
                  <a:schemeClr val="tx1"/>
                </a:solidFill>
              </a:rPr>
              <a:t>同じ作業を、次回も自力でできたか</a:t>
            </a:r>
            <a:endParaRPr lang="en-US" sz="1300" dirty="0"/>
          </a:p>
        </p:txBody>
      </p:sp>
      <p:sp>
        <p:nvSpPr>
          <p:cNvPr id="26" name="metric-note"/>
          <p:cNvSpPr txBox="1"/>
          <p:nvPr/>
        </p:nvSpPr>
        <p:spPr>
          <a:xfrm>
            <a:off x="457200" y="5532120"/>
            <a:ext cx="11277295" cy="411480"/>
          </a:xfrm>
          <a:prstGeom prst="rect">
            <a:avLst/>
          </a:prstGeom>
          <a:noFill/>
          <a:ln/>
        </p:spPr>
        <p:txBody>
          <a:bodyPr wrap="square" lIns="0" tIns="0" rIns="0" bIns="0" rtlCol="0" anchor="ctr"/>
          <a:lstStyle/>
          <a:p>
            <a:pPr indent="0" marL="0">
              <a:buNone/>
            </a:pPr>
            <a:r>
              <a:rPr lang="en-US" sz="1300" b="1" dirty="0">
                <a:solidFill>
                  <a:schemeClr val="accent4"/>
                </a:solidFill>
              </a:rPr>
              <a:t>削減率などの数値は、事前にはお示ししません。ガイドの完了率だけでは判断せず、作業の結果で確かめます。</a:t>
            </a:r>
            <a:endParaRPr lang="en-US" sz="1300" dirty="0"/>
          </a:p>
        </p:txBody>
      </p:sp>
      <p:sp>
        <p:nvSpPr>
          <p:cNvPr id="25" name="Slide Number Placeholder 0"/>
          <p:cNvSpPr>
            <a:spLocks noGrp="1"/>
          </p:cNvSpPr>
          <p:nvPr>
            <p:ph type="sldNum" sz="quarter" idx="4294967295"/>
          </p:nvPr>
        </p:nvSpPr>
        <p:spPr>
          <a:xfrm>
            <a:off x="1118585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7315200" cy="274320"/>
          </a:xfrm>
          <a:prstGeom prst="rect">
            <a:avLst/>
          </a:prstGeom>
          <a:noFill/>
          <a:ln/>
        </p:spPr>
        <p:txBody>
          <a:bodyPr wrap="square" lIns="0" tIns="0" rIns="0" bIns="0" rtlCol="0" anchor="ctr"/>
          <a:lstStyle/>
          <a:p>
            <a:pPr algn="l" indent="0" marL="0">
              <a:buNone/>
            </a:pPr>
            <a:r>
              <a:rPr lang="en-US" sz="1100" b="1" dirty="0">
                <a:solidFill>
                  <a:schemeClr val="accent2"/>
                </a:solidFill>
              </a:rPr>
              <a:t>進め方｜事前の確認</a:t>
            </a:r>
            <a:endParaRPr lang="en-US" sz="1100" dirty="0"/>
          </a:p>
        </p:txBody>
      </p:sp>
      <p:sp>
        <p:nvSpPr>
          <p:cNvPr id="3" name="Text 0"/>
          <p:cNvSpPr/>
          <p:nvPr>
            <p:ph idx="101" type="title" hasCustomPrompt="1"/>
          </p:nvPr>
        </p:nvSpPr>
        <p:spPr>
          <a:xfrm>
            <a:off x="457200" y="457200"/>
            <a:ext cx="11277295" cy="548640"/>
          </a:xfrm>
          <a:prstGeom prst="rect">
            <a:avLst/>
          </a:prstGeom>
          <a:noFill/>
          <a:ln/>
        </p:spPr>
        <p:txBody>
          <a:bodyPr wrap="square" lIns="0" tIns="0" rIns="0" bIns="0" rtlCol="0" anchor="ctr"/>
          <a:lstStyle/>
          <a:p>
            <a:pPr algn="l" indent="0" marL="0">
              <a:buNone/>
            </a:pPr>
            <a:r>
              <a:rPr lang="en-US" sz="2200" b="1" dirty="0">
                <a:solidFill>
                  <a:schemeClr val="tx1"/>
                </a:solidFill>
              </a:rPr>
              <a:t>事前に伺いたいこと</a:t>
            </a:r>
            <a:endParaRPr lang="en-US" sz="2200" dirty="0"/>
          </a:p>
        </p:txBody>
      </p:sp>
      <p:sp>
        <p:nvSpPr>
          <p:cNvPr id="4" name="band"/>
          <p:cNvSpPr/>
          <p:nvPr/>
        </p:nvSpPr>
        <p:spPr>
          <a:xfrm>
            <a:off x="457200" y="1097280"/>
            <a:ext cx="11277295" cy="731520"/>
          </a:xfrm>
          <a:prstGeom prst="rect">
            <a:avLst/>
          </a:prstGeom>
          <a:solidFill>
            <a:schemeClr val="accent3"/>
          </a:solidFill>
          <a:ln/>
        </p:spPr>
      </p:sp>
      <p:sp>
        <p:nvSpPr>
          <p:cNvPr id="5" name="band-text"/>
          <p:cNvSpPr txBox="1"/>
          <p:nvPr/>
        </p:nvSpPr>
        <p:spPr>
          <a:xfrm>
            <a:off x="594360" y="1097280"/>
            <a:ext cx="11002975" cy="731520"/>
          </a:xfrm>
          <a:prstGeom prst="rect">
            <a:avLst/>
          </a:prstGeom>
          <a:noFill/>
          <a:ln/>
        </p:spPr>
        <p:txBody>
          <a:bodyPr wrap="square" lIns="0" tIns="0" rIns="0" bIns="0" rtlCol="0" anchor="ctr"/>
          <a:lstStyle/>
          <a:p>
            <a:pPr indent="0" marL="0">
              <a:buNone/>
            </a:pPr>
            <a:r>
              <a:rPr lang="en-US" sz="1300" b="1" dirty="0">
                <a:solidFill>
                  <a:schemeClr val="accent1"/>
                </a:solidFill>
              </a:rPr>
              <a:t>デモの前提を御社の環境に合わせるために、先に確かめたい6項目</a:t>
            </a:r>
            <a:endParaRPr lang="en-US" sz="1300" dirty="0"/>
          </a:p>
        </p:txBody>
      </p:sp>
      <p:graphicFrame>
        <p:nvGraphicFramePr>
          <p:cNvPr id="14" name="ask-table"/>
          <p:cNvGraphicFramePr>
            <a:graphicFrameLocks noGrp="1"/>
          </p:cNvGraphicFramePr>
          <p:nvPr>
            <p:extLst>
              <p:ext uri="{D42A27DB-BD31-4B8C-83A1-F6EECF244321}">
                <p14:modId xmlns:p14="http://schemas.microsoft.com/office/powerpoint/2010/main" val="1579011935"/>
              </p:ext>
            </p:extLst>
          </p:nvPr>
        </p:nvGraphicFramePr>
        <p:xfrm>
          <a:off x="457200" y="2057400"/>
          <a:ext cx="11277295" cy="914400"/>
        </p:xfrm>
        <a:graphic>
          <a:graphicData uri="http://schemas.openxmlformats.org/drawingml/2006/table">
            <a:tbl>
              <a:tblPr/>
              <a:tblGrid>
                <a:gridCol w="457200"/>
                <a:gridCol w="5120640"/>
                <a:gridCol w="3383280"/>
                <a:gridCol w="2313432"/>
              </a:tblGrid>
              <a:tr h="411480">
                <a:tc>
                  <a:txBody>
                    <a:bodyPr/>
                    <a:lstStyle/>
                    <a:p>
                      <a:pPr indent="0" marL="0">
                        <a:buNone/>
                      </a:pPr>
                      <a:r>
                        <a:rPr lang="en-US" sz="1200" b="1" dirty="0">
                          <a:solidFill>
                            <a:schemeClr val="bg1"/>
                          </a:solidFill>
                          <a:latin typeface="Yu Gothic" pitchFamily="34" charset="0"/>
                          <a:ea typeface="Yu Gothic" pitchFamily="34" charset="-122"/>
                          <a:cs typeface="Yu Gothic" pitchFamily="34" charset="-120"/>
                        </a:rPr>
                        <a:t>#</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latin typeface="Yu Gothic" pitchFamily="34" charset="0"/>
                          <a:ea typeface="Yu Gothic" pitchFamily="34" charset="-122"/>
                          <a:cs typeface="Yu Gothic" pitchFamily="34" charset="-120"/>
                        </a:rPr>
                        <a:t>確かめたいこと</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latin typeface="Yu Gothic" pitchFamily="34" charset="0"/>
                          <a:ea typeface="Yu Gothic" pitchFamily="34" charset="-122"/>
                          <a:cs typeface="Yu Gothic" pitchFamily="34" charset="-120"/>
                        </a:rPr>
                        <a:t>理由</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latin typeface="Yu Gothic" pitchFamily="34" charset="0"/>
                          <a:ea typeface="Yu Gothic" pitchFamily="34" charset="-122"/>
                          <a:cs typeface="Yu Gothic" pitchFamily="34" charset="-120"/>
                        </a:rPr>
                        <a:t>主な伺い先（想定）</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chemeClr val="accent1"/>
                    </a:solidFill>
                  </a:tcPr>
                </a:tc>
              </a:tr>
              <a:tr h="731520">
                <a:tc>
                  <a:txBody>
                    <a:bodyPr/>
                    <a:lstStyle/>
                    <a:p>
                      <a:pPr algn="ctr" indent="0" marL="0">
                        <a:buNone/>
                      </a:pPr>
                      <a:r>
                        <a:rPr lang="en-US" sz="1200" b="1" dirty="0">
                          <a:solidFill>
                            <a:schemeClr val="tx1"/>
                          </a:solidFill>
                          <a:latin typeface="Yu Gothic" pitchFamily="34" charset="0"/>
                          <a:ea typeface="Yu Gothic" pitchFamily="34" charset="-122"/>
                          <a:cs typeface="Yu Gothic" pitchFamily="34" charset="-120"/>
                        </a:rPr>
                        <a:t>1</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Splunkの構成（Splunk Cloud／Enterprise、ITSIかIT Essentials Workか、版）と、対象サービスのログ・KPIの取り込み</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画面と前提。画面名は版で異なる場合がある</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Splunkの管理者</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tcPr>
                </a:tc>
              </a:tr>
              <a:tr h="566928">
                <a:tc>
                  <a:txBody>
                    <a:bodyPr/>
                    <a:lstStyle/>
                    <a:p>
                      <a:pPr algn="ctr" indent="0" marL="0">
                        <a:buNone/>
                      </a:pPr>
                      <a:r>
                        <a:rPr lang="en-US" sz="1200" b="1" dirty="0">
                          <a:solidFill>
                            <a:schemeClr val="tx1"/>
                          </a:solidFill>
                          <a:latin typeface="Yu Gothic" pitchFamily="34" charset="0"/>
                          <a:ea typeface="Yu Gothic" pitchFamily="34" charset="-122"/>
                          <a:cs typeface="Yu Gothic" pitchFamily="34" charset="-120"/>
                        </a:rPr>
                        <a:t>2</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F0F3F6"/>
                    </a:solidFill>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運用の体制（運用担当・専門チーム・委託先の役割分担）</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F0F3F6"/>
                    </a:solidFill>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担当者が自分で確かめてよい範囲が決まる</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F0F3F6"/>
                    </a:solidFill>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運用の責任者</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F0F3F6"/>
                    </a:solidFill>
                  </a:tcPr>
                </a:tc>
              </a:tr>
              <a:tr h="566928">
                <a:tc>
                  <a:txBody>
                    <a:bodyPr/>
                    <a:lstStyle/>
                    <a:p>
                      <a:pPr algn="ctr" indent="0" marL="0">
                        <a:buNone/>
                      </a:pPr>
                      <a:r>
                        <a:rPr lang="en-US" sz="1200" b="1" dirty="0">
                          <a:solidFill>
                            <a:schemeClr val="tx1"/>
                          </a:solidFill>
                          <a:latin typeface="Yu Gothic" pitchFamily="34" charset="0"/>
                          <a:ea typeface="Yu Gothic" pitchFamily="34" charset="-122"/>
                          <a:cs typeface="Yu Gothic" pitchFamily="34" charset="-120"/>
                        </a:rPr>
                        <a:t>3</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障害時の社内手順（一次確認の順番・優先度の基準・連絡先）と、その置き場所</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ガイドとAI Hubのナレッジの元になる</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運用の責任者</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tcPr>
                </a:tc>
              </a:tr>
              <a:tr h="566928">
                <a:tc>
                  <a:txBody>
                    <a:bodyPr/>
                    <a:lstStyle/>
                    <a:p>
                      <a:pPr algn="ctr" indent="0" marL="0">
                        <a:buNone/>
                      </a:pPr>
                      <a:r>
                        <a:rPr lang="en-US" sz="1200" b="1" dirty="0">
                          <a:solidFill>
                            <a:schemeClr val="tx1"/>
                          </a:solidFill>
                          <a:latin typeface="Yu Gothic" pitchFamily="34" charset="0"/>
                          <a:ea typeface="Yu Gothic" pitchFamily="34" charset="-122"/>
                          <a:cs typeface="Yu Gothic" pitchFamily="34" charset="-120"/>
                        </a:rPr>
                        <a:t>4</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F0F3F6"/>
                    </a:solidFill>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端末の条件（ブラウザ、VDI、拡張機能の配布）</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F0F3F6"/>
                    </a:solidFill>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テックタッチを入れられるかの前提</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F0F3F6"/>
                    </a:solidFill>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情報システム部門</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F0F3F6"/>
                    </a:solidFill>
                  </a:tcPr>
                </a:tc>
              </a:tr>
              <a:tr h="566928">
                <a:tc>
                  <a:txBody>
                    <a:bodyPr/>
                    <a:lstStyle/>
                    <a:p>
                      <a:pPr algn="ctr" indent="0" marL="0">
                        <a:buNone/>
                      </a:pPr>
                      <a:r>
                        <a:rPr lang="en-US" sz="1200" b="1" dirty="0">
                          <a:solidFill>
                            <a:schemeClr val="tx1"/>
                          </a:solidFill>
                          <a:latin typeface="Yu Gothic" pitchFamily="34" charset="0"/>
                          <a:ea typeface="Yu Gothic" pitchFamily="34" charset="-122"/>
                          <a:cs typeface="Yu Gothic" pitchFamily="34" charset="-120"/>
                        </a:rPr>
                        <a:t>5</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保存済みサーチ（レポート）の管理と、共有の範囲</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SPLのひな型を使えるかの前提</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Splunkの管理者</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tcPr>
                </a:tc>
              </a:tr>
              <a:tr h="566928">
                <a:tc>
                  <a:txBody>
                    <a:bodyPr/>
                    <a:lstStyle/>
                    <a:p>
                      <a:pPr algn="ctr" indent="0" marL="0">
                        <a:buNone/>
                      </a:pPr>
                      <a:r>
                        <a:rPr lang="en-US" sz="1200" b="1" dirty="0">
                          <a:solidFill>
                            <a:schemeClr val="tx1"/>
                          </a:solidFill>
                          <a:latin typeface="Yu Gothic" pitchFamily="34" charset="0"/>
                          <a:ea typeface="Yu Gothic" pitchFamily="34" charset="-122"/>
                          <a:cs typeface="Yu Gothic" pitchFamily="34" charset="-120"/>
                        </a:rPr>
                        <a:t>6</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F0F3F6"/>
                    </a:solidFill>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AI Hubに渡す情報の範囲</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F0F3F6"/>
                    </a:solidFill>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業務・個人の情報が含まれうる</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F0F3F6"/>
                    </a:solidFill>
                  </a:tcPr>
                </a:tc>
                <a:tc>
                  <a:txBody>
                    <a:bodyPr/>
                    <a:lstStyle/>
                    <a:p>
                      <a:pPr indent="0" marL="0">
                        <a:buNone/>
                      </a:pPr>
                      <a:r>
                        <a:rPr lang="en-US" sz="1200" dirty="0">
                          <a:solidFill>
                            <a:schemeClr val="tx1"/>
                          </a:solidFill>
                          <a:latin typeface="Yu Gothic" pitchFamily="34" charset="0"/>
                          <a:ea typeface="Yu Gothic" pitchFamily="34" charset="-122"/>
                          <a:cs typeface="Yu Gothic" pitchFamily="34" charset="-120"/>
                        </a:rPr>
                        <a:t>情報セキュリティの責任者</a:t>
                      </a:r>
                      <a:endParaRPr lang="en-US" sz="12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F0F3F6"/>
                    </a:solidFill>
                  </a:tcPr>
                </a:tc>
              </a:tr>
            </a:tbl>
          </a:graphicData>
        </a:graphic>
      </p:graphicFrame>
      <p:sp>
        <p:nvSpPr>
          <p:cNvPr id="7" name="footnote"/>
          <p:cNvSpPr txBox="1"/>
          <p:nvPr/>
        </p:nvSpPr>
        <p:spPr>
          <a:xfrm>
            <a:off x="457200" y="6327648"/>
            <a:ext cx="10545775" cy="384048"/>
          </a:xfrm>
          <a:prstGeom prst="rect">
            <a:avLst/>
          </a:prstGeom>
          <a:noFill/>
          <a:ln/>
        </p:spPr>
        <p:txBody>
          <a:bodyPr wrap="square" lIns="0" tIns="0" rIns="0" bIns="0" rtlCol="0" anchor="ctr"/>
          <a:lstStyle/>
          <a:p>
            <a:pPr indent="0" marL="0">
              <a:buNone/>
            </a:pPr>
            <a:r>
              <a:rPr lang="en-US" sz="1100" dirty="0">
                <a:solidFill>
                  <a:schemeClr val="accent5"/>
                </a:solidFill>
              </a:rPr>
              <a:t>「主な伺い先」は想定です。御社の体制に合わせて伺います。</a:t>
            </a:r>
            <a:endParaRPr lang="en-US" sz="1100" dirty="0"/>
          </a:p>
        </p:txBody>
      </p:sp>
      <p:sp>
        <p:nvSpPr>
          <p:cNvPr id="25" name="Slide Number Placeholder 0"/>
          <p:cNvSpPr>
            <a:spLocks noGrp="1"/>
          </p:cNvSpPr>
          <p:nvPr>
            <p:ph type="sldNum" sz="quarter" idx="4294967295"/>
          </p:nvPr>
        </p:nvSpPr>
        <p:spPr>
          <a:xfrm>
            <a:off x="1118585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7315200" cy="274320"/>
          </a:xfrm>
          <a:prstGeom prst="rect">
            <a:avLst/>
          </a:prstGeom>
          <a:noFill/>
          <a:ln/>
        </p:spPr>
        <p:txBody>
          <a:bodyPr wrap="square" lIns="0" tIns="0" rIns="0" bIns="0" rtlCol="0" anchor="ctr"/>
          <a:lstStyle/>
          <a:p>
            <a:pPr algn="l" indent="0" marL="0">
              <a:buNone/>
            </a:pPr>
            <a:r>
              <a:rPr lang="en-US" sz="1100" b="1" dirty="0">
                <a:solidFill>
                  <a:schemeClr val="accent2"/>
                </a:solidFill>
              </a:rPr>
              <a:t>進め方｜前提</a:t>
            </a:r>
            <a:endParaRPr lang="en-US" sz="1100" dirty="0"/>
          </a:p>
        </p:txBody>
      </p:sp>
      <p:sp>
        <p:nvSpPr>
          <p:cNvPr id="3" name="Text 0"/>
          <p:cNvSpPr/>
          <p:nvPr>
            <p:ph idx="101" type="title" hasCustomPrompt="1"/>
          </p:nvPr>
        </p:nvSpPr>
        <p:spPr>
          <a:xfrm>
            <a:off x="457200" y="457200"/>
            <a:ext cx="11277295" cy="548640"/>
          </a:xfrm>
          <a:prstGeom prst="rect">
            <a:avLst/>
          </a:prstGeom>
          <a:noFill/>
          <a:ln/>
        </p:spPr>
        <p:txBody>
          <a:bodyPr wrap="square" lIns="0" tIns="0" rIns="0" bIns="0" rtlCol="0" anchor="ctr"/>
          <a:lstStyle/>
          <a:p>
            <a:pPr algn="l" indent="0" marL="0">
              <a:buNone/>
            </a:pPr>
            <a:r>
              <a:rPr lang="en-US" sz="2200" b="1" dirty="0">
                <a:solidFill>
                  <a:schemeClr val="tx1"/>
                </a:solidFill>
              </a:rPr>
              <a:t>デモ動画をご覧いただく前に</a:t>
            </a:r>
            <a:endParaRPr lang="en-US" sz="2200" dirty="0"/>
          </a:p>
        </p:txBody>
      </p:sp>
      <p:sp>
        <p:nvSpPr>
          <p:cNvPr id="4" name="band"/>
          <p:cNvSpPr/>
          <p:nvPr/>
        </p:nvSpPr>
        <p:spPr>
          <a:xfrm>
            <a:off x="457200" y="1097280"/>
            <a:ext cx="11277295" cy="731520"/>
          </a:xfrm>
          <a:prstGeom prst="rect">
            <a:avLst/>
          </a:prstGeom>
          <a:solidFill>
            <a:schemeClr val="accent3"/>
          </a:solidFill>
          <a:ln/>
        </p:spPr>
      </p:sp>
      <p:sp>
        <p:nvSpPr>
          <p:cNvPr id="5" name="band-text"/>
          <p:cNvSpPr txBox="1"/>
          <p:nvPr/>
        </p:nvSpPr>
        <p:spPr>
          <a:xfrm>
            <a:off x="594360" y="1097280"/>
            <a:ext cx="11002975" cy="731520"/>
          </a:xfrm>
          <a:prstGeom prst="rect">
            <a:avLst/>
          </a:prstGeom>
          <a:noFill/>
          <a:ln/>
        </p:spPr>
        <p:txBody>
          <a:bodyPr wrap="square" lIns="0" tIns="0" rIns="0" bIns="0" rtlCol="0" anchor="ctr"/>
          <a:lstStyle/>
          <a:p>
            <a:pPr indent="0" marL="0">
              <a:buNone/>
            </a:pPr>
            <a:r>
              <a:rPr lang="en-US" sz="1300" b="1" dirty="0">
                <a:solidFill>
                  <a:schemeClr val="accent1"/>
                </a:solidFill>
              </a:rPr>
              <a:t>構想デモの前提を、先にお伝えします</a:t>
            </a:r>
            <a:endParaRPr lang="en-US" sz="1300" dirty="0"/>
          </a:p>
        </p:txBody>
      </p:sp>
      <p:graphicFrame>
        <p:nvGraphicFramePr>
          <p:cNvPr id="15" name="pre-table"/>
          <p:cNvGraphicFramePr>
            <a:graphicFrameLocks noGrp="1"/>
          </p:cNvGraphicFramePr>
          <p:nvPr>
            <p:extLst>
              <p:ext uri="{D42A27DB-BD31-4B8C-83A1-F6EECF244321}">
                <p14:modId xmlns:p14="http://schemas.microsoft.com/office/powerpoint/2010/main" val="1579011935"/>
              </p:ext>
            </p:extLst>
          </p:nvPr>
        </p:nvGraphicFramePr>
        <p:xfrm>
          <a:off x="457200" y="2057400"/>
          <a:ext cx="11277295" cy="914400"/>
        </p:xfrm>
        <a:graphic>
          <a:graphicData uri="http://schemas.openxmlformats.org/drawingml/2006/table">
            <a:tbl>
              <a:tblPr/>
              <a:tblGrid>
                <a:gridCol w="3108960"/>
                <a:gridCol w="8165592"/>
              </a:tblGrid>
              <a:tr h="786384">
                <a:tc>
                  <a:txBody>
                    <a:bodyPr/>
                    <a:lstStyle/>
                    <a:p>
                      <a:pPr indent="0" marL="0">
                        <a:buNone/>
                      </a:pPr>
                      <a:r>
                        <a:rPr lang="en-US" sz="1300" b="1" dirty="0">
                          <a:solidFill>
                            <a:schemeClr val="accent1"/>
                          </a:solidFill>
                          <a:latin typeface="Yu Gothic" pitchFamily="34" charset="0"/>
                          <a:ea typeface="Yu Gothic" pitchFamily="34" charset="-122"/>
                          <a:cs typeface="Yu Gothic" pitchFamily="34" charset="-120"/>
                        </a:rPr>
                        <a:t>画面は、章によって異なります</a:t>
                      </a:r>
                      <a:endParaRPr lang="en-US" sz="13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EEF7FD"/>
                    </a:solidFill>
                  </a:tcPr>
                </a:tc>
                <a:tc>
                  <a:txBody>
                    <a:bodyPr/>
                    <a:lstStyle/>
                    <a:p>
                      <a:pPr indent="0" marL="0">
                        <a:buNone/>
                      </a:pPr>
                      <a:r>
                        <a:rPr lang="en-US" sz="1300" dirty="0">
                          <a:solidFill>
                            <a:schemeClr val="tx1"/>
                          </a:solidFill>
                          <a:latin typeface="Yu Gothic" pitchFamily="34" charset="0"/>
                          <a:ea typeface="Yu Gothic" pitchFamily="34" charset="-122"/>
                          <a:cs typeface="Yu Gothic" pitchFamily="34" charset="-120"/>
                        </a:rPr>
                        <a:t>第1・2章（ITSI・IT Essentials Work）はデモ環境に入っていないため、画面イメージです。第3章はSplunk Cloud（デモ環境）とテックタッチの実画面です。画面名は版で異なる場合があります。</a:t>
                      </a:r>
                      <a:endParaRPr lang="en-US" sz="13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tcPr>
                </a:tc>
              </a:tr>
              <a:tr h="749808">
                <a:tc>
                  <a:txBody>
                    <a:bodyPr/>
                    <a:lstStyle/>
                    <a:p>
                      <a:pPr indent="0" marL="0">
                        <a:buNone/>
                      </a:pPr>
                      <a:r>
                        <a:rPr lang="en-US" sz="1300" b="1" dirty="0">
                          <a:solidFill>
                            <a:schemeClr val="accent1"/>
                          </a:solidFill>
                          <a:latin typeface="Yu Gothic" pitchFamily="34" charset="0"/>
                          <a:ea typeface="Yu Gothic" pitchFamily="34" charset="-122"/>
                          <a:cs typeface="Yu Gothic" pitchFamily="34" charset="-120"/>
                        </a:rPr>
                        <a:t>架空のシナリオです</a:t>
                      </a:r>
                      <a:endParaRPr lang="en-US" sz="13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EEF7FD"/>
                    </a:solidFill>
                  </a:tcPr>
                </a:tc>
                <a:tc>
                  <a:txBody>
                    <a:bodyPr/>
                    <a:lstStyle/>
                    <a:p>
                      <a:pPr indent="0" marL="0">
                        <a:buNone/>
                      </a:pPr>
                      <a:r>
                        <a:rPr lang="en-US" sz="1300" dirty="0">
                          <a:solidFill>
                            <a:schemeClr val="tx1"/>
                          </a:solidFill>
                          <a:latin typeface="Yu Gothic" pitchFamily="34" charset="0"/>
                          <a:ea typeface="Yu Gothic" pitchFamily="34" charset="-122"/>
                          <a:cs typeface="Yu Gothic" pitchFamily="34" charset="-120"/>
                        </a:rPr>
                        <a:t>特定の企業や事案を題材にしたものではありません。人物・企業名・サービス名・手順・件数は架空で、ログはデモ用に生成したデータです。</a:t>
                      </a:r>
                      <a:endParaRPr lang="en-US" sz="13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tcPr>
                </a:tc>
              </a:tr>
              <a:tr h="749808">
                <a:tc>
                  <a:txBody>
                    <a:bodyPr/>
                    <a:lstStyle/>
                    <a:p>
                      <a:pPr indent="0" marL="0">
                        <a:buNone/>
                      </a:pPr>
                      <a:r>
                        <a:rPr lang="en-US" sz="1300" b="1" dirty="0">
                          <a:solidFill>
                            <a:schemeClr val="accent1"/>
                          </a:solidFill>
                          <a:latin typeface="Yu Gothic" pitchFamily="34" charset="0"/>
                          <a:ea typeface="Yu Gothic" pitchFamily="34" charset="-122"/>
                          <a:cs typeface="Yu Gothic" pitchFamily="34" charset="-120"/>
                        </a:rPr>
                        <a:t>AI Hubは構想です</a:t>
                      </a:r>
                      <a:endParaRPr lang="en-US" sz="13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EEF7FD"/>
                    </a:solidFill>
                  </a:tcPr>
                </a:tc>
                <a:tc>
                  <a:txBody>
                    <a:bodyPr/>
                    <a:lstStyle/>
                    <a:p>
                      <a:pPr indent="0" marL="0">
                        <a:buNone/>
                      </a:pPr>
                      <a:r>
                        <a:rPr lang="en-US" sz="1300" dirty="0">
                          <a:solidFill>
                            <a:schemeClr val="tx1"/>
                          </a:solidFill>
                          <a:latin typeface="Yu Gothic" pitchFamily="34" charset="0"/>
                          <a:ea typeface="Yu Gothic" pitchFamily="34" charset="-122"/>
                          <a:cs typeface="Yu Gothic" pitchFamily="34" charset="-120"/>
                        </a:rPr>
                        <a:t>デモ環境に入っていないため、画面イメージと準備した例文です。Splunk AI Assistantは使っていません。</a:t>
                      </a:r>
                      <a:endParaRPr lang="en-US" sz="13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tcPr>
                </a:tc>
              </a:tr>
              <a:tr h="749808">
                <a:tc>
                  <a:txBody>
                    <a:bodyPr/>
                    <a:lstStyle/>
                    <a:p>
                      <a:pPr indent="0" marL="0">
                        <a:buNone/>
                      </a:pPr>
                      <a:r>
                        <a:rPr lang="en-US" sz="1300" b="1" dirty="0">
                          <a:solidFill>
                            <a:schemeClr val="accent1"/>
                          </a:solidFill>
                          <a:latin typeface="Yu Gothic" pitchFamily="34" charset="0"/>
                          <a:ea typeface="Yu Gothic" pitchFamily="34" charset="-122"/>
                          <a:cs typeface="Yu Gothic" pitchFamily="34" charset="-120"/>
                        </a:rPr>
                        <a:t>テックタッチのガイドは案です</a:t>
                      </a:r>
                      <a:endParaRPr lang="en-US" sz="13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EEF7FD"/>
                    </a:solidFill>
                  </a:tcPr>
                </a:tc>
                <a:tc>
                  <a:txBody>
                    <a:bodyPr/>
                    <a:lstStyle/>
                    <a:p>
                      <a:pPr indent="0" marL="0">
                        <a:buNone/>
                      </a:pPr>
                      <a:r>
                        <a:rPr lang="en-US" sz="1300" dirty="0">
                          <a:solidFill>
                            <a:schemeClr val="tx1"/>
                          </a:solidFill>
                          <a:latin typeface="Yu Gothic" pitchFamily="34" charset="0"/>
                          <a:ea typeface="Yu Gothic" pitchFamily="34" charset="-122"/>
                          <a:cs typeface="Yu Gothic" pitchFamily="34" charset="-120"/>
                        </a:rPr>
                        <a:t>第1・2章のガイドは案、第3章のガイドはデモ環境で作ったものです。御社の手順に合わせて作ります。</a:t>
                      </a:r>
                      <a:endParaRPr lang="en-US" sz="13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tcPr>
                </a:tc>
              </a:tr>
              <a:tr h="749808">
                <a:tc>
                  <a:txBody>
                    <a:bodyPr/>
                    <a:lstStyle/>
                    <a:p>
                      <a:pPr indent="0" marL="0">
                        <a:buNone/>
                      </a:pPr>
                      <a:r>
                        <a:rPr lang="en-US" sz="1300" b="1" dirty="0">
                          <a:solidFill>
                            <a:schemeClr val="accent1"/>
                          </a:solidFill>
                          <a:latin typeface="Yu Gothic" pitchFamily="34" charset="0"/>
                          <a:ea typeface="Yu Gothic" pitchFamily="34" charset="-122"/>
                          <a:cs typeface="Yu Gothic" pitchFamily="34" charset="-120"/>
                        </a:rPr>
                        <a:t>数値の約束はしません</a:t>
                      </a:r>
                      <a:endParaRPr lang="en-US" sz="13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solidFill>
                      <a:srgbClr val="EEF7FD"/>
                    </a:solidFill>
                  </a:tcPr>
                </a:tc>
                <a:tc>
                  <a:txBody>
                    <a:bodyPr/>
                    <a:lstStyle/>
                    <a:p>
                      <a:pPr indent="0" marL="0">
                        <a:buNone/>
                      </a:pPr>
                      <a:r>
                        <a:rPr lang="en-US" sz="1300" dirty="0">
                          <a:solidFill>
                            <a:schemeClr val="tx1"/>
                          </a:solidFill>
                          <a:latin typeface="Yu Gothic" pitchFamily="34" charset="0"/>
                          <a:ea typeface="Yu Gothic" pitchFamily="34" charset="-122"/>
                          <a:cs typeface="Yu Gothic" pitchFamily="34" charset="-120"/>
                        </a:rPr>
                        <a:t>効果は4つの指標で、一つの作業から確かめます。</a:t>
                      </a:r>
                      <a:endParaRPr lang="en-US" sz="1300" dirty="0">
                        <a:latin typeface="Yu Gothic" charset="0"/>
                        <a:ea typeface="Yu Gothic" charset="0"/>
                        <a:cs typeface="Yu Gothic" charset="0"/>
                      </a:endParaRPr>
                    </a:p>
                  </a:txBody>
                  <a:tcPr marL="91440" marR="91440" marT="64008" marB="64008" anchor="ctr">
                    <a:lnL w="9525" cap="flat" cmpd="sng" algn="ctr">
                      <a:solidFill>
                        <a:srgbClr val="D6DDE5"/>
                      </a:solidFill>
                      <a:prstDash val="solid"/>
                      <a:round/>
                      <a:headEnd type="none" w="med" len="med"/>
                      <a:tailEnd type="none" w="med" len="med"/>
                    </a:lnL>
                    <a:lnR w="9525" cap="flat" cmpd="sng" algn="ctr">
                      <a:solidFill>
                        <a:srgbClr val="D6DDE5"/>
                      </a:solidFill>
                      <a:prstDash val="solid"/>
                      <a:round/>
                      <a:headEnd type="none" w="med" len="med"/>
                      <a:tailEnd type="none" w="med" len="med"/>
                    </a:lnR>
                    <a:lnT w="9525" cap="flat" cmpd="sng" algn="ctr">
                      <a:solidFill>
                        <a:srgbClr val="D6DDE5"/>
                      </a:solidFill>
                      <a:prstDash val="solid"/>
                      <a:round/>
                      <a:headEnd type="none" w="med" len="med"/>
                      <a:tailEnd type="none" w="med" len="med"/>
                    </a:lnT>
                    <a:lnB w="9525" cap="flat" cmpd="sng" algn="ctr">
                      <a:solidFill>
                        <a:srgbClr val="D6DDE5"/>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585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7315200" cy="274320"/>
          </a:xfrm>
          <a:prstGeom prst="rect">
            <a:avLst/>
          </a:prstGeom>
          <a:noFill/>
          <a:ln/>
        </p:spPr>
        <p:txBody>
          <a:bodyPr wrap="square" lIns="0" tIns="0" rIns="0" bIns="0" rtlCol="0" anchor="ctr"/>
          <a:lstStyle/>
          <a:p>
            <a:pPr algn="l" indent="0" marL="0">
              <a:buNone/>
            </a:pPr>
            <a:r>
              <a:rPr lang="en-US" sz="1100" b="1" dirty="0">
                <a:solidFill>
                  <a:schemeClr val="accent2"/>
                </a:solidFill>
              </a:rPr>
              <a:t>進め方｜次の一歩</a:t>
            </a:r>
            <a:endParaRPr lang="en-US" sz="1100" dirty="0"/>
          </a:p>
        </p:txBody>
      </p:sp>
      <p:sp>
        <p:nvSpPr>
          <p:cNvPr id="3" name="Text 0"/>
          <p:cNvSpPr/>
          <p:nvPr>
            <p:ph idx="101" type="title" hasCustomPrompt="1"/>
          </p:nvPr>
        </p:nvSpPr>
        <p:spPr>
          <a:xfrm>
            <a:off x="457200" y="457200"/>
            <a:ext cx="11277295" cy="548640"/>
          </a:xfrm>
          <a:prstGeom prst="rect">
            <a:avLst/>
          </a:prstGeom>
          <a:noFill/>
          <a:ln/>
        </p:spPr>
        <p:txBody>
          <a:bodyPr wrap="square" lIns="0" tIns="0" rIns="0" bIns="0" rtlCol="0" anchor="ctr"/>
          <a:lstStyle/>
          <a:p>
            <a:pPr algn="l" indent="0" marL="0">
              <a:buNone/>
            </a:pPr>
            <a:r>
              <a:rPr lang="en-US" sz="2200" b="1" dirty="0">
                <a:solidFill>
                  <a:schemeClr val="tx1"/>
                </a:solidFill>
              </a:rPr>
              <a:t>次の一歩</a:t>
            </a:r>
            <a:endParaRPr lang="en-US" sz="2200" dirty="0"/>
          </a:p>
        </p:txBody>
      </p:sp>
      <p:sp>
        <p:nvSpPr>
          <p:cNvPr id="4" name="band"/>
          <p:cNvSpPr/>
          <p:nvPr/>
        </p:nvSpPr>
        <p:spPr>
          <a:xfrm>
            <a:off x="457200" y="1097280"/>
            <a:ext cx="11277295" cy="731520"/>
          </a:xfrm>
          <a:prstGeom prst="rect">
            <a:avLst/>
          </a:prstGeom>
          <a:solidFill>
            <a:schemeClr val="accent3"/>
          </a:solidFill>
          <a:ln/>
        </p:spPr>
      </p:sp>
      <p:sp>
        <p:nvSpPr>
          <p:cNvPr id="5" name="band-text"/>
          <p:cNvSpPr txBox="1"/>
          <p:nvPr/>
        </p:nvSpPr>
        <p:spPr>
          <a:xfrm>
            <a:off x="594360" y="1097280"/>
            <a:ext cx="11002975" cy="731520"/>
          </a:xfrm>
          <a:prstGeom prst="rect">
            <a:avLst/>
          </a:prstGeom>
          <a:noFill/>
          <a:ln/>
        </p:spPr>
        <p:txBody>
          <a:bodyPr wrap="square" lIns="0" tIns="0" rIns="0" bIns="0" rtlCol="0" anchor="ctr"/>
          <a:lstStyle/>
          <a:p>
            <a:pPr indent="0" marL="0">
              <a:buNone/>
            </a:pPr>
            <a:r>
              <a:rPr lang="en-US" sz="1300" b="1" dirty="0">
                <a:solidFill>
                  <a:schemeClr val="accent1"/>
                </a:solidFill>
              </a:rPr>
              <a:t>入っているSplunkを、たまにしか使わない人が使い切る。その最初の一歩を、一緒に決めさせてください</a:t>
            </a:r>
            <a:endParaRPr lang="en-US" sz="1300" dirty="0"/>
          </a:p>
        </p:txBody>
      </p:sp>
      <p:sp>
        <p:nvSpPr>
          <p:cNvPr id="6" name="next-0"/>
          <p:cNvSpPr/>
          <p:nvPr/>
        </p:nvSpPr>
        <p:spPr>
          <a:xfrm>
            <a:off x="457200" y="2057400"/>
            <a:ext cx="3484778" cy="2377440"/>
          </a:xfrm>
          <a:prstGeom prst="rect">
            <a:avLst/>
          </a:prstGeom>
          <a:solidFill>
            <a:schemeClr val="bg1"/>
          </a:solidFill>
          <a:ln w="9525">
            <a:solidFill>
              <a:schemeClr val="accent6"/>
            </a:solidFill>
            <a:prstDash val="solid"/>
          </a:ln>
        </p:spPr>
      </p:sp>
      <p:sp>
        <p:nvSpPr>
          <p:cNvPr id="7" name="next-0-head"/>
          <p:cNvSpPr/>
          <p:nvPr/>
        </p:nvSpPr>
        <p:spPr>
          <a:xfrm>
            <a:off x="457200" y="2057400"/>
            <a:ext cx="3484778" cy="347472"/>
          </a:xfrm>
          <a:prstGeom prst="rect">
            <a:avLst/>
          </a:prstGeom>
          <a:solidFill>
            <a:schemeClr val="accent2"/>
          </a:solidFill>
          <a:ln/>
        </p:spPr>
      </p:sp>
      <p:sp>
        <p:nvSpPr>
          <p:cNvPr id="8" name="next-0-head-text"/>
          <p:cNvSpPr txBox="1"/>
          <p:nvPr/>
        </p:nvSpPr>
        <p:spPr>
          <a:xfrm>
            <a:off x="548640" y="2057400"/>
            <a:ext cx="3301898" cy="347472"/>
          </a:xfrm>
          <a:prstGeom prst="rect">
            <a:avLst/>
          </a:prstGeom>
          <a:noFill/>
          <a:ln/>
        </p:spPr>
        <p:txBody>
          <a:bodyPr wrap="square" lIns="0" tIns="0" rIns="0" bIns="0" rtlCol="0" anchor="ctr"/>
          <a:lstStyle/>
          <a:p>
            <a:pPr indent="0" marL="0">
              <a:buNone/>
            </a:pPr>
            <a:r>
              <a:rPr lang="en-US" sz="1200" b="1" dirty="0">
                <a:solidFill>
                  <a:schemeClr val="bg1"/>
                </a:solidFill>
              </a:rPr>
              <a:t>①　事前に伺いたい6項目</a:t>
            </a:r>
            <a:endParaRPr lang="en-US" sz="1200" dirty="0"/>
          </a:p>
        </p:txBody>
      </p:sp>
      <p:sp>
        <p:nvSpPr>
          <p:cNvPr id="9" name="next-body-0"/>
          <p:cNvSpPr txBox="1"/>
          <p:nvPr/>
        </p:nvSpPr>
        <p:spPr>
          <a:xfrm>
            <a:off x="594360" y="2560320"/>
            <a:ext cx="3210458" cy="1737360"/>
          </a:xfrm>
          <a:prstGeom prst="rect">
            <a:avLst/>
          </a:prstGeom>
          <a:noFill/>
          <a:ln/>
        </p:spPr>
        <p:txBody>
          <a:bodyPr wrap="square" lIns="0" tIns="0" rIns="0" bIns="0" rtlCol="0" anchor="t"/>
          <a:lstStyle/>
          <a:p>
            <a:pPr marL="152400" indent="-152400">
              <a:spcAft>
                <a:spcPts val="800"/>
              </a:spcAft>
              <a:buSzPct val="100000"/>
              <a:buChar char="•"/>
            </a:pPr>
            <a:r>
              <a:rPr lang="en-US" sz="1400" dirty="0">
                <a:solidFill>
                  <a:schemeClr val="tx1"/>
                </a:solidFill>
              </a:rPr>
              <a:t>Splunkの構成、体制、社内手順、端末の条件、ひな型、AI Hubに渡す範囲を伺います</a:t>
            </a:r>
            <a:endParaRPr lang="en-US" sz="1400" dirty="0"/>
          </a:p>
        </p:txBody>
      </p:sp>
      <p:sp>
        <p:nvSpPr>
          <p:cNvPr id="10" name="next-arrow-0"/>
          <p:cNvSpPr/>
          <p:nvPr/>
        </p:nvSpPr>
        <p:spPr>
          <a:xfrm>
            <a:off x="4069994" y="3063240"/>
            <a:ext cx="155448" cy="365760"/>
          </a:xfrm>
          <a:prstGeom prst="chevron">
            <a:avLst/>
          </a:prstGeom>
          <a:solidFill>
            <a:schemeClr val="accent6"/>
          </a:solidFill>
          <a:ln/>
        </p:spPr>
      </p:sp>
      <p:sp>
        <p:nvSpPr>
          <p:cNvPr id="11" name="next-1"/>
          <p:cNvSpPr/>
          <p:nvPr/>
        </p:nvSpPr>
        <p:spPr>
          <a:xfrm>
            <a:off x="4353458" y="2057400"/>
            <a:ext cx="3484778" cy="2377440"/>
          </a:xfrm>
          <a:prstGeom prst="rect">
            <a:avLst/>
          </a:prstGeom>
          <a:solidFill>
            <a:schemeClr val="bg1"/>
          </a:solidFill>
          <a:ln w="9525">
            <a:solidFill>
              <a:schemeClr val="accent6"/>
            </a:solidFill>
            <a:prstDash val="solid"/>
          </a:ln>
        </p:spPr>
      </p:sp>
      <p:sp>
        <p:nvSpPr>
          <p:cNvPr id="12" name="next-1-head"/>
          <p:cNvSpPr/>
          <p:nvPr/>
        </p:nvSpPr>
        <p:spPr>
          <a:xfrm>
            <a:off x="4353458" y="2057400"/>
            <a:ext cx="3484778" cy="347472"/>
          </a:xfrm>
          <a:prstGeom prst="rect">
            <a:avLst/>
          </a:prstGeom>
          <a:solidFill>
            <a:schemeClr val="accent2"/>
          </a:solidFill>
          <a:ln/>
        </p:spPr>
      </p:sp>
      <p:sp>
        <p:nvSpPr>
          <p:cNvPr id="13" name="next-1-head-text"/>
          <p:cNvSpPr txBox="1"/>
          <p:nvPr/>
        </p:nvSpPr>
        <p:spPr>
          <a:xfrm>
            <a:off x="4444898" y="2057400"/>
            <a:ext cx="3301898" cy="347472"/>
          </a:xfrm>
          <a:prstGeom prst="rect">
            <a:avLst/>
          </a:prstGeom>
          <a:noFill/>
          <a:ln/>
        </p:spPr>
        <p:txBody>
          <a:bodyPr wrap="square" lIns="0" tIns="0" rIns="0" bIns="0" rtlCol="0" anchor="ctr"/>
          <a:lstStyle/>
          <a:p>
            <a:pPr indent="0" marL="0">
              <a:buNone/>
            </a:pPr>
            <a:r>
              <a:rPr lang="en-US" sz="1200" b="1" dirty="0">
                <a:solidFill>
                  <a:schemeClr val="bg1"/>
                </a:solidFill>
              </a:rPr>
              <a:t>②　デモ動画（5分10秒）</a:t>
            </a:r>
            <a:endParaRPr lang="en-US" sz="1200" dirty="0"/>
          </a:p>
        </p:txBody>
      </p:sp>
      <p:sp>
        <p:nvSpPr>
          <p:cNvPr id="14" name="next-body-1"/>
          <p:cNvSpPr txBox="1"/>
          <p:nvPr/>
        </p:nvSpPr>
        <p:spPr>
          <a:xfrm>
            <a:off x="4490618" y="2560320"/>
            <a:ext cx="3210458" cy="1737360"/>
          </a:xfrm>
          <a:prstGeom prst="rect">
            <a:avLst/>
          </a:prstGeom>
          <a:noFill/>
          <a:ln/>
        </p:spPr>
        <p:txBody>
          <a:bodyPr wrap="square" lIns="0" tIns="0" rIns="0" bIns="0" rtlCol="0" anchor="t"/>
          <a:lstStyle/>
          <a:p>
            <a:pPr marL="152400" indent="-152400">
              <a:spcAft>
                <a:spcPts val="800"/>
              </a:spcAft>
              <a:buSzPct val="100000"/>
              <a:buChar char="•"/>
            </a:pPr>
            <a:r>
              <a:rPr lang="en-US" sz="1400" dirty="0">
                <a:solidFill>
                  <a:schemeClr val="tx1"/>
                </a:solidFill>
              </a:rPr>
              <a:t>章の終わりごとに、5つの問いに沿って伺います</a:t>
            </a:r>
            <a:endParaRPr lang="en-US" sz="1400" dirty="0"/>
          </a:p>
          <a:p>
            <a:pPr marL="152400" indent="-152400">
              <a:spcAft>
                <a:spcPts val="800"/>
              </a:spcAft>
              <a:buSzPct val="100000"/>
              <a:buChar char="•"/>
            </a:pPr>
            <a:r>
              <a:rPr lang="en-US" sz="1400" dirty="0">
                <a:solidFill>
                  <a:schemeClr val="tx1"/>
                </a:solidFill>
              </a:rPr>
              <a:t>第3章は実画面、ほかは画面イメージです</a:t>
            </a:r>
            <a:endParaRPr lang="en-US" sz="1400" dirty="0"/>
          </a:p>
        </p:txBody>
      </p:sp>
      <p:sp>
        <p:nvSpPr>
          <p:cNvPr id="15" name="next-arrow-1"/>
          <p:cNvSpPr/>
          <p:nvPr/>
        </p:nvSpPr>
        <p:spPr>
          <a:xfrm>
            <a:off x="7966253" y="3063240"/>
            <a:ext cx="155448" cy="365760"/>
          </a:xfrm>
          <a:prstGeom prst="chevron">
            <a:avLst/>
          </a:prstGeom>
          <a:solidFill>
            <a:schemeClr val="accent6"/>
          </a:solidFill>
          <a:ln/>
        </p:spPr>
      </p:sp>
      <p:sp>
        <p:nvSpPr>
          <p:cNvPr id="16" name="next-2"/>
          <p:cNvSpPr/>
          <p:nvPr/>
        </p:nvSpPr>
        <p:spPr>
          <a:xfrm>
            <a:off x="8249717" y="2057400"/>
            <a:ext cx="3484778" cy="2377440"/>
          </a:xfrm>
          <a:prstGeom prst="rect">
            <a:avLst/>
          </a:prstGeom>
          <a:solidFill>
            <a:schemeClr val="bg1"/>
          </a:solidFill>
          <a:ln w="9525">
            <a:solidFill>
              <a:schemeClr val="accent6"/>
            </a:solidFill>
            <a:prstDash val="solid"/>
          </a:ln>
        </p:spPr>
      </p:sp>
      <p:sp>
        <p:nvSpPr>
          <p:cNvPr id="17" name="next-2-head"/>
          <p:cNvSpPr/>
          <p:nvPr/>
        </p:nvSpPr>
        <p:spPr>
          <a:xfrm>
            <a:off x="8249717" y="2057400"/>
            <a:ext cx="3484778" cy="347472"/>
          </a:xfrm>
          <a:prstGeom prst="rect">
            <a:avLst/>
          </a:prstGeom>
          <a:solidFill>
            <a:schemeClr val="accent1"/>
          </a:solidFill>
          <a:ln/>
        </p:spPr>
      </p:sp>
      <p:sp>
        <p:nvSpPr>
          <p:cNvPr id="18" name="next-2-head-text"/>
          <p:cNvSpPr txBox="1"/>
          <p:nvPr/>
        </p:nvSpPr>
        <p:spPr>
          <a:xfrm>
            <a:off x="8341157" y="2057400"/>
            <a:ext cx="3301898" cy="347472"/>
          </a:xfrm>
          <a:prstGeom prst="rect">
            <a:avLst/>
          </a:prstGeom>
          <a:noFill/>
          <a:ln/>
        </p:spPr>
        <p:txBody>
          <a:bodyPr wrap="square" lIns="0" tIns="0" rIns="0" bIns="0" rtlCol="0" anchor="ctr"/>
          <a:lstStyle/>
          <a:p>
            <a:pPr indent="0" marL="0">
              <a:buNone/>
            </a:pPr>
            <a:r>
              <a:rPr lang="en-US" sz="1200" b="1" dirty="0">
                <a:solidFill>
                  <a:schemeClr val="bg1"/>
                </a:solidFill>
              </a:rPr>
              <a:t>③　最初に確かめる作業を決める</a:t>
            </a:r>
            <a:endParaRPr lang="en-US" sz="1200" dirty="0"/>
          </a:p>
        </p:txBody>
      </p:sp>
      <p:sp>
        <p:nvSpPr>
          <p:cNvPr id="19" name="next-body-2"/>
          <p:cNvSpPr txBox="1"/>
          <p:nvPr/>
        </p:nvSpPr>
        <p:spPr>
          <a:xfrm>
            <a:off x="8386877" y="2560320"/>
            <a:ext cx="3210458" cy="1737360"/>
          </a:xfrm>
          <a:prstGeom prst="rect">
            <a:avLst/>
          </a:prstGeom>
          <a:noFill/>
          <a:ln/>
        </p:spPr>
        <p:txBody>
          <a:bodyPr wrap="square" lIns="0" tIns="0" rIns="0" bIns="0" rtlCol="0" anchor="t"/>
          <a:lstStyle/>
          <a:p>
            <a:pPr marL="152400" indent="-152400">
              <a:spcAft>
                <a:spcPts val="800"/>
              </a:spcAft>
              <a:buSzPct val="100000"/>
              <a:buChar char="•"/>
            </a:pPr>
            <a:r>
              <a:rPr lang="en-US" sz="1400" dirty="0">
                <a:solidFill>
                  <a:schemeClr val="tx1"/>
                </a:solidFill>
              </a:rPr>
              <a:t>近い問いを一つ選びます</a:t>
            </a:r>
            <a:endParaRPr lang="en-US" sz="1400" dirty="0"/>
          </a:p>
          <a:p>
            <a:pPr marL="152400" indent="-152400">
              <a:spcAft>
                <a:spcPts val="800"/>
              </a:spcAft>
              <a:buSzPct val="100000"/>
              <a:buChar char="•"/>
            </a:pPr>
            <a:r>
              <a:rPr lang="en-US" sz="1400" dirty="0">
                <a:solidFill>
                  <a:schemeClr val="tx1"/>
                </a:solidFill>
              </a:rPr>
              <a:t>その作業で、現状の時間と件数を測ります</a:t>
            </a:r>
            <a:endParaRPr lang="en-US" sz="1400" dirty="0"/>
          </a:p>
        </p:txBody>
      </p:sp>
      <p:sp>
        <p:nvSpPr>
          <p:cNvPr id="20" name="footnote"/>
          <p:cNvSpPr txBox="1"/>
          <p:nvPr/>
        </p:nvSpPr>
        <p:spPr>
          <a:xfrm>
            <a:off x="457200" y="6327648"/>
            <a:ext cx="10545775" cy="384048"/>
          </a:xfrm>
          <a:prstGeom prst="rect">
            <a:avLst/>
          </a:prstGeom>
          <a:noFill/>
          <a:ln/>
        </p:spPr>
        <p:txBody>
          <a:bodyPr wrap="square" lIns="0" tIns="0" rIns="0" bIns="0" rtlCol="0" anchor="ctr"/>
          <a:lstStyle/>
          <a:p>
            <a:pPr indent="0" marL="0">
              <a:buNone/>
            </a:pPr>
            <a:r>
              <a:rPr lang="en-US" sz="1100" dirty="0">
                <a:solidFill>
                  <a:schemeClr val="accent5"/>
                </a:solidFill>
              </a:rPr>
              <a:t>架空のシナリオの構想デモです。特定の企業や事案を題材にしたものではありません。</a:t>
            </a:r>
            <a:endParaRPr lang="en-US" sz="1100" dirty="0"/>
          </a:p>
        </p:txBody>
      </p:sp>
      <p:sp>
        <p:nvSpPr>
          <p:cNvPr id="25" name="Slide Number Placeholder 0"/>
          <p:cNvSpPr>
            <a:spLocks noGrp="1"/>
          </p:cNvSpPr>
          <p:nvPr>
            <p:ph type="sldNum" sz="quarter" idx="4294967295"/>
          </p:nvPr>
        </p:nvSpPr>
        <p:spPr>
          <a:xfrm>
            <a:off x="11185855" y="638251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Techtouch">
  <a:themeElements>
    <a:clrScheme name="Techtouch">
      <a:dk1>
        <a:srgbClr val="1F2A37"/>
      </a:dk1>
      <a:lt1>
        <a:srgbClr val="FFFFFF"/>
      </a:lt1>
      <a:dk2>
        <a:srgbClr val="055BB8"/>
      </a:dk2>
      <a:lt2>
        <a:srgbClr val="F0F3F6"/>
      </a:lt2>
      <a:accent1>
        <a:srgbClr val="055BB8"/>
      </a:accent1>
      <a:accent2>
        <a:srgbClr val="0876E8"/>
      </a:accent2>
      <a:accent3>
        <a:srgbClr val="EEF7FD"/>
      </a:accent3>
      <a:accent4>
        <a:srgbClr val="C86A00"/>
      </a:accent4>
      <a:accent5>
        <a:srgbClr val="596573"/>
      </a:accent5>
      <a:accent6>
        <a:srgbClr val="D6DDE5"/>
      </a:accent6>
      <a:hlink>
        <a:srgbClr val="0876E8"/>
      </a:hlink>
      <a:folHlink>
        <a:srgbClr val="4A90E2"/>
      </a:folHlink>
    </a:clrScheme>
    <a:fontScheme name="Techtouch">
      <a:majorFont>
        <a:latin typeface="Yu Gothic"/>
        <a:ea typeface="Yu Gothic"/>
        <a:cs typeface=""/>
        <a:font script="Jpan" typeface="Yu Gothic"/>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Yu Gothic"/>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テックタッチ株式会社</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Splunk障害対応・ログ分析デモ 事前説明</dc:title>
  <dc:subject>Splunk Cloud（ITSI・IT Essentials Work）× テックタッチ（DAP＋AI Hub）構想デモ動画の事前説明</dc:subject>
  <dc:creator>テックタッチ</dc:creator>
  <cp:lastModifiedBy>テックタッチ</cp:lastModifiedBy>
  <cp:revision>1</cp:revision>
  <dcterms:created xsi:type="dcterms:W3CDTF">2026-10-19T22:33:35Z</dcterms:created>
  <dcterms:modified xsi:type="dcterms:W3CDTF">2026-10-19T22:33:35Z</dcterms:modified>
</cp:coreProperties>
</file>