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デモ動画の前に、3枚で前提をご説明します。架空のA社の運用担当者の一日を題材にした構想デモです。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製品を足す提案ではありません。入っているSplunkを、たまにしか使わない担当者が、迷わず、社内手順どおりに、自分で調べ切れるようにする提案です。原因の調査と対処は、これまでどおり専門チームが担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各章の終わりに「伺いたいこと」を一つ出します。第3章は、Splunk Cloudのデモ環境で、公開したテックタッチのガイドを実際に再生した画面です。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デモ動画の前提です。第1章と第2章は画面イメージ、第3章は実画面です。AI Hubは構想です。数字や人物はすべて架空です。デモの中で、この5つの問いを御社に当てはめてご覧ください。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057400"/>
            <a:ext cx="3840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60520"/>
            <a:ext cx="3840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/>
        </p:nvSpPr>
        <p:spPr>
          <a:xfrm>
            <a:off x="8534095" y="201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構想デモ・架空のシナリオ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0574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Splunk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障害対応・ログ分析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デモのご説明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60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Splunk Cloud（ITSI・IT Essentials Work）×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テックタッチ（DAP＋AI Hub）</a:t>
            </a:r>
            <a:endParaRPr lang="en-US" sz="1300" dirty="0"/>
          </a:p>
        </p:txBody>
      </p:sp>
      <p:sp>
        <p:nvSpPr>
          <p:cNvPr id="4" name="headline"/>
          <p:cNvSpPr txBox="1"/>
          <p:nvPr/>
        </p:nvSpPr>
        <p:spPr>
          <a:xfrm>
            <a:off x="5257800" y="224028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たまにしかSplunkを使わない人が、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迷わず・社内手順どおりに・自分で調べ切る</a:t>
            </a:r>
            <a:endParaRPr lang="en-US" sz="2200" dirty="0"/>
          </a:p>
        </p:txBody>
      </p:sp>
      <p:sp>
        <p:nvSpPr>
          <p:cNvPr id="5" name="headline-points"/>
          <p:cNvSpPr txBox="1"/>
          <p:nvPr/>
        </p:nvSpPr>
        <p:spPr>
          <a:xfrm>
            <a:off x="5257800" y="34290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架空のA社の運用担当者の一日（問い合わせから、一次確認・ログ分析まで）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デモ動画は3章＋振り返り（5分10秒）</a:t>
            </a:r>
            <a:endParaRPr lang="en-US" sz="1500" dirty="0"/>
          </a:p>
        </p:txBody>
      </p:sp>
      <p:sp>
        <p:nvSpPr>
          <p:cNvPr id="6" name="meta"/>
          <p:cNvSpPr txBox="1"/>
          <p:nvPr/>
        </p:nvSpPr>
        <p:spPr>
          <a:xfrm>
            <a:off x="5257800" y="50292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テックタッチ株式会社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2026年10月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架空のシナリオの構想デモです。特定の企業や事案を題材にしたものではありません。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デモの前に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このデモでお見せすること</a:t>
            </a:r>
            <a:endParaRPr lang="en-US" sz="2200" dirty="0"/>
          </a:p>
        </p:txBody>
      </p:sp>
      <p:sp>
        <p:nvSpPr>
          <p:cNvPr id="4" name="band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band-text"/>
          <p:cNvSpPr txBox="1"/>
          <p:nvPr/>
        </p:nvSpPr>
        <p:spPr>
          <a:xfrm>
            <a:off x="594360" y="10972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製品を足す話ではない。入っているSplunkを、たまにしか使わない人が、迷わず・社内手順どおりに・自分で調べ切る姿を見せる</a:t>
            </a:r>
            <a:endParaRPr lang="en-US" sz="1300" dirty="0"/>
          </a:p>
        </p:txBody>
      </p:sp>
      <p:sp>
        <p:nvSpPr>
          <p:cNvPr id="6" name="theme-head"/>
          <p:cNvSpPr txBox="1"/>
          <p:nvPr/>
        </p:nvSpPr>
        <p:spPr>
          <a:xfrm>
            <a:off x="457200" y="193852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題材：問い合わせから、ログ分析まで（運用担当者の一日・架空）</a:t>
            </a:r>
            <a:endParaRPr lang="en-US" sz="1300" dirty="0"/>
          </a:p>
        </p:txBody>
      </p:sp>
      <p:sp>
        <p:nvSpPr>
          <p:cNvPr id="7" name="step-0"/>
          <p:cNvSpPr/>
          <p:nvPr/>
        </p:nvSpPr>
        <p:spPr>
          <a:xfrm>
            <a:off x="457200" y="2267712"/>
            <a:ext cx="1681429" cy="10972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ep-0-head"/>
          <p:cNvSpPr/>
          <p:nvPr/>
        </p:nvSpPr>
        <p:spPr>
          <a:xfrm>
            <a:off x="457200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step-0-head-text"/>
          <p:cNvSpPr txBox="1"/>
          <p:nvPr/>
        </p:nvSpPr>
        <p:spPr>
          <a:xfrm>
            <a:off x="548640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10:16 問い合わせ</a:t>
            </a:r>
            <a:endParaRPr lang="en-US" sz="1200" dirty="0"/>
          </a:p>
        </p:txBody>
      </p:sp>
      <p:sp>
        <p:nvSpPr>
          <p:cNvPr id="10" name="step-body-0"/>
          <p:cNvSpPr txBox="1"/>
          <p:nvPr/>
        </p:nvSpPr>
        <p:spPr>
          <a:xfrm>
            <a:off x="548640" y="2688336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業務部門から「契約照会の画面が遅い」</a:t>
            </a:r>
            <a:endParaRPr lang="en-US" sz="1200" dirty="0"/>
          </a:p>
        </p:txBody>
      </p:sp>
      <p:sp>
        <p:nvSpPr>
          <p:cNvPr id="11" name="step-arrow-0"/>
          <p:cNvSpPr/>
          <p:nvPr/>
        </p:nvSpPr>
        <p:spPr>
          <a:xfrm>
            <a:off x="2202637" y="2304288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2" name="step-1"/>
          <p:cNvSpPr/>
          <p:nvPr/>
        </p:nvSpPr>
        <p:spPr>
          <a:xfrm>
            <a:off x="2376373" y="2267712"/>
            <a:ext cx="1681429" cy="10972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tep-1-head"/>
          <p:cNvSpPr/>
          <p:nvPr/>
        </p:nvSpPr>
        <p:spPr>
          <a:xfrm>
            <a:off x="2376373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step-1-head-text"/>
          <p:cNvSpPr txBox="1"/>
          <p:nvPr/>
        </p:nvSpPr>
        <p:spPr>
          <a:xfrm>
            <a:off x="2467813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10:17 状況確認</a:t>
            </a:r>
            <a:endParaRPr lang="en-US" sz="1200" dirty="0"/>
          </a:p>
        </p:txBody>
      </p:sp>
      <p:sp>
        <p:nvSpPr>
          <p:cNvPr id="15" name="step-body-1"/>
          <p:cNvSpPr txBox="1"/>
          <p:nvPr/>
        </p:nvSpPr>
        <p:spPr>
          <a:xfrm>
            <a:off x="2467813" y="2688336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健全性スコア38。応答時間とDB接続待ちが悪化</a:t>
            </a:r>
            <a:endParaRPr lang="en-US" sz="1200" dirty="0"/>
          </a:p>
        </p:txBody>
      </p:sp>
      <p:sp>
        <p:nvSpPr>
          <p:cNvPr id="16" name="step-arrow-1"/>
          <p:cNvSpPr/>
          <p:nvPr/>
        </p:nvSpPr>
        <p:spPr>
          <a:xfrm>
            <a:off x="4121810" y="2304288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7" name="step-2"/>
          <p:cNvSpPr/>
          <p:nvPr/>
        </p:nvSpPr>
        <p:spPr>
          <a:xfrm>
            <a:off x="4295546" y="2267712"/>
            <a:ext cx="1681429" cy="10972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step-2-head"/>
          <p:cNvSpPr/>
          <p:nvPr/>
        </p:nvSpPr>
        <p:spPr>
          <a:xfrm>
            <a:off x="4295546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step-2-head-text"/>
          <p:cNvSpPr txBox="1"/>
          <p:nvPr/>
        </p:nvSpPr>
        <p:spPr>
          <a:xfrm>
            <a:off x="4386986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10:18 一次確認</a:t>
            </a:r>
            <a:endParaRPr lang="en-US" sz="1200" dirty="0"/>
          </a:p>
        </p:txBody>
      </p:sp>
      <p:sp>
        <p:nvSpPr>
          <p:cNvPr id="20" name="step-body-2"/>
          <p:cNvSpPr txBox="1"/>
          <p:nvPr/>
        </p:nvSpPr>
        <p:spPr>
          <a:xfrm>
            <a:off x="4386986" y="2688336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エピソードの概要・影響範囲・関連サーバー</a:t>
            </a:r>
            <a:endParaRPr lang="en-US" sz="1200" dirty="0"/>
          </a:p>
        </p:txBody>
      </p:sp>
      <p:sp>
        <p:nvSpPr>
          <p:cNvPr id="21" name="step-arrow-2"/>
          <p:cNvSpPr/>
          <p:nvPr/>
        </p:nvSpPr>
        <p:spPr>
          <a:xfrm>
            <a:off x="6040984" y="2304288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2" name="step-3"/>
          <p:cNvSpPr/>
          <p:nvPr/>
        </p:nvSpPr>
        <p:spPr>
          <a:xfrm>
            <a:off x="6214720" y="2267712"/>
            <a:ext cx="1681429" cy="10972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tep-3-head"/>
          <p:cNvSpPr/>
          <p:nvPr/>
        </p:nvSpPr>
        <p:spPr>
          <a:xfrm>
            <a:off x="6214720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step-3-head-text"/>
          <p:cNvSpPr txBox="1"/>
          <p:nvPr/>
        </p:nvSpPr>
        <p:spPr>
          <a:xfrm>
            <a:off x="6306160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10:22 一次連絡</a:t>
            </a:r>
            <a:endParaRPr lang="en-US" sz="1200" dirty="0"/>
          </a:p>
        </p:txBody>
      </p:sp>
      <p:sp>
        <p:nvSpPr>
          <p:cNvPr id="25" name="step-body-3"/>
          <p:cNvSpPr txBox="1"/>
          <p:nvPr/>
        </p:nvSpPr>
        <p:spPr>
          <a:xfrm>
            <a:off x="6306160" y="2688336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優先度「中」で、社内手順どおりに連絡</a:t>
            </a:r>
            <a:endParaRPr lang="en-US" sz="1200" dirty="0"/>
          </a:p>
        </p:txBody>
      </p:sp>
      <p:sp>
        <p:nvSpPr>
          <p:cNvPr id="26" name="step-arrow-3"/>
          <p:cNvSpPr/>
          <p:nvPr/>
        </p:nvSpPr>
        <p:spPr>
          <a:xfrm>
            <a:off x="7960157" y="2304288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7" name="step-4"/>
          <p:cNvSpPr/>
          <p:nvPr/>
        </p:nvSpPr>
        <p:spPr>
          <a:xfrm>
            <a:off x="8133893" y="2267712"/>
            <a:ext cx="1681429" cy="10972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tep-4-head"/>
          <p:cNvSpPr/>
          <p:nvPr/>
        </p:nvSpPr>
        <p:spPr>
          <a:xfrm>
            <a:off x="8133893" y="2267712"/>
            <a:ext cx="1681429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step-4-head-text"/>
          <p:cNvSpPr txBox="1"/>
          <p:nvPr/>
        </p:nvSpPr>
        <p:spPr>
          <a:xfrm>
            <a:off x="8225333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10:30 ログ調査</a:t>
            </a:r>
            <a:endParaRPr lang="en-US" sz="1200" dirty="0"/>
          </a:p>
        </p:txBody>
      </p:sp>
      <p:sp>
        <p:nvSpPr>
          <p:cNvPr id="30" name="step-body-4"/>
          <p:cNvSpPr txBox="1"/>
          <p:nvPr/>
        </p:nvSpPr>
        <p:spPr>
          <a:xfrm>
            <a:off x="8225333" y="2688336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専門チームの依頼で、接続エラーの推移を確認</a:t>
            </a:r>
            <a:endParaRPr lang="en-US" sz="1200" dirty="0"/>
          </a:p>
        </p:txBody>
      </p:sp>
      <p:sp>
        <p:nvSpPr>
          <p:cNvPr id="31" name="step-arrow-4"/>
          <p:cNvSpPr/>
          <p:nvPr/>
        </p:nvSpPr>
        <p:spPr>
          <a:xfrm>
            <a:off x="9879330" y="2304288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32" name="step-5"/>
          <p:cNvSpPr/>
          <p:nvPr/>
        </p:nvSpPr>
        <p:spPr>
          <a:xfrm>
            <a:off x="10053066" y="2267712"/>
            <a:ext cx="1681429" cy="10972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step-5-head"/>
          <p:cNvSpPr/>
          <p:nvPr/>
        </p:nvSpPr>
        <p:spPr>
          <a:xfrm>
            <a:off x="10053066" y="2267712"/>
            <a:ext cx="1681429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step-5-head-text"/>
          <p:cNvSpPr txBox="1"/>
          <p:nvPr/>
        </p:nvSpPr>
        <p:spPr>
          <a:xfrm>
            <a:off x="10144506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10:34 共有・保存</a:t>
            </a:r>
            <a:endParaRPr lang="en-US" sz="1200" dirty="0"/>
          </a:p>
        </p:txBody>
      </p:sp>
      <p:sp>
        <p:nvSpPr>
          <p:cNvPr id="35" name="step-body-5"/>
          <p:cNvSpPr txBox="1"/>
          <p:nvPr/>
        </p:nvSpPr>
        <p:spPr>
          <a:xfrm>
            <a:off x="10144506" y="2688336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確認を依頼し、レポートとして保存</a:t>
            </a:r>
            <a:endParaRPr lang="en-US" sz="1200" dirty="0"/>
          </a:p>
        </p:txBody>
      </p:sp>
      <p:sp>
        <p:nvSpPr>
          <p:cNvPr id="36" name="chapter-0"/>
          <p:cNvSpPr/>
          <p:nvPr/>
        </p:nvSpPr>
        <p:spPr>
          <a:xfrm>
            <a:off x="457200" y="3474720"/>
            <a:ext cx="3600602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chapter-text-0"/>
          <p:cNvSpPr txBox="1"/>
          <p:nvPr/>
        </p:nvSpPr>
        <p:spPr>
          <a:xfrm>
            <a:off x="457200" y="3474720"/>
            <a:ext cx="3600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第1章　状況確認（画面イメージ）</a:t>
            </a:r>
            <a:endParaRPr lang="en-US" sz="1200" dirty="0"/>
          </a:p>
        </p:txBody>
      </p:sp>
      <p:sp>
        <p:nvSpPr>
          <p:cNvPr id="38" name="chapter-1"/>
          <p:cNvSpPr/>
          <p:nvPr/>
        </p:nvSpPr>
        <p:spPr>
          <a:xfrm>
            <a:off x="4295546" y="3474720"/>
            <a:ext cx="3600602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9" name="chapter-text-1"/>
          <p:cNvSpPr txBox="1"/>
          <p:nvPr/>
        </p:nvSpPr>
        <p:spPr>
          <a:xfrm>
            <a:off x="4295546" y="3474720"/>
            <a:ext cx="3600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第2章　一次確認・連絡（画面イメージ）</a:t>
            </a:r>
            <a:endParaRPr lang="en-US" sz="1200" dirty="0"/>
          </a:p>
        </p:txBody>
      </p:sp>
      <p:sp>
        <p:nvSpPr>
          <p:cNvPr id="40" name="chapter-2"/>
          <p:cNvSpPr/>
          <p:nvPr/>
        </p:nvSpPr>
        <p:spPr>
          <a:xfrm>
            <a:off x="8133893" y="3474720"/>
            <a:ext cx="3600602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1" name="chapter-text-2"/>
          <p:cNvSpPr txBox="1"/>
          <p:nvPr/>
        </p:nvSpPr>
        <p:spPr>
          <a:xfrm>
            <a:off x="8133893" y="3474720"/>
            <a:ext cx="3600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第3章　ログを調べる（実画面）</a:t>
            </a:r>
            <a:endParaRPr lang="en-US" sz="1200" dirty="0"/>
          </a:p>
        </p:txBody>
      </p:sp>
      <p:sp>
        <p:nvSpPr>
          <p:cNvPr id="42" name="point-0"/>
          <p:cNvSpPr/>
          <p:nvPr/>
        </p:nvSpPr>
        <p:spPr>
          <a:xfrm>
            <a:off x="457200" y="4023360"/>
            <a:ext cx="3637178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point-0-head"/>
          <p:cNvSpPr/>
          <p:nvPr/>
        </p:nvSpPr>
        <p:spPr>
          <a:xfrm>
            <a:off x="457200" y="4023360"/>
            <a:ext cx="363717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4" name="point-0-head-text"/>
          <p:cNvSpPr txBox="1"/>
          <p:nvPr/>
        </p:nvSpPr>
        <p:spPr>
          <a:xfrm>
            <a:off x="548640" y="4023360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①　迷わず、状況を確かめる</a:t>
            </a:r>
            <a:endParaRPr lang="en-US" sz="1200" dirty="0"/>
          </a:p>
        </p:txBody>
      </p:sp>
      <p:sp>
        <p:nvSpPr>
          <p:cNvPr id="45" name="point-body-0"/>
          <p:cNvSpPr txBox="1"/>
          <p:nvPr/>
        </p:nvSpPr>
        <p:spPr>
          <a:xfrm>
            <a:off x="566928" y="4443984"/>
            <a:ext cx="341772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Service Analyzerで、時間範囲とサービスを選び、悪化したKPIを確かめる。似た名前のサービスは、ガイドが選び直しを案内する</a:t>
            </a:r>
            <a:endParaRPr lang="en-US" sz="1200" dirty="0"/>
          </a:p>
        </p:txBody>
      </p:sp>
      <p:sp>
        <p:nvSpPr>
          <p:cNvPr id="46" name="point-1"/>
          <p:cNvSpPr/>
          <p:nvPr/>
        </p:nvSpPr>
        <p:spPr>
          <a:xfrm>
            <a:off x="4277258" y="4023360"/>
            <a:ext cx="3637178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7" name="point-1-head"/>
          <p:cNvSpPr/>
          <p:nvPr/>
        </p:nvSpPr>
        <p:spPr>
          <a:xfrm>
            <a:off x="4277258" y="4023360"/>
            <a:ext cx="363717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8" name="point-1-head-text"/>
          <p:cNvSpPr txBox="1"/>
          <p:nvPr/>
        </p:nvSpPr>
        <p:spPr>
          <a:xfrm>
            <a:off x="4368698" y="4023360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②　社内手順どおりに、確認・連絡する</a:t>
            </a:r>
            <a:endParaRPr lang="en-US" sz="1200" dirty="0"/>
          </a:p>
        </p:txBody>
      </p:sp>
      <p:sp>
        <p:nvSpPr>
          <p:cNvPr id="49" name="point-body-1"/>
          <p:cNvSpPr txBox="1"/>
          <p:nvPr/>
        </p:nvSpPr>
        <p:spPr>
          <a:xfrm>
            <a:off x="4386986" y="4443984"/>
            <a:ext cx="341772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概要→影響範囲→関連エンティティ→連絡の順で進める。優先度の基準を画面に出し、AI Hubが連絡文を下書きする</a:t>
            </a:r>
            <a:endParaRPr lang="en-US" sz="1200" dirty="0"/>
          </a:p>
        </p:txBody>
      </p:sp>
      <p:sp>
        <p:nvSpPr>
          <p:cNvPr id="50" name="point-2"/>
          <p:cNvSpPr/>
          <p:nvPr/>
        </p:nvSpPr>
        <p:spPr>
          <a:xfrm>
            <a:off x="8097317" y="4023360"/>
            <a:ext cx="3637178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1" name="point-2-head"/>
          <p:cNvSpPr/>
          <p:nvPr/>
        </p:nvSpPr>
        <p:spPr>
          <a:xfrm>
            <a:off x="8097317" y="4023360"/>
            <a:ext cx="363717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2" name="point-2-head-text"/>
          <p:cNvSpPr txBox="1"/>
          <p:nvPr/>
        </p:nvSpPr>
        <p:spPr>
          <a:xfrm>
            <a:off x="8188757" y="4023360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③　ひな型で調べ、共有して残す</a:t>
            </a:r>
            <a:endParaRPr lang="en-US" sz="1200" dirty="0"/>
          </a:p>
        </p:txBody>
      </p:sp>
      <p:sp>
        <p:nvSpPr>
          <p:cNvPr id="53" name="point-body-2"/>
          <p:cNvSpPr txBox="1"/>
          <p:nvPr/>
        </p:nvSpPr>
        <p:spPr>
          <a:xfrm>
            <a:off x="8207045" y="4443984"/>
            <a:ext cx="341772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確認済みのSPLのひな型（レポート）から調べる。AI HubがSPLと結果の読み方を説明し、依頼文を下書きする</a:t>
            </a:r>
            <a:endParaRPr lang="en-US" sz="1200" dirty="0"/>
          </a:p>
        </p:txBody>
      </p:sp>
      <p:sp>
        <p:nvSpPr>
          <p:cNvPr id="54" name="hypo"/>
          <p:cNvSpPr txBox="1"/>
          <p:nvPr/>
        </p:nvSpPr>
        <p:spPr>
          <a:xfrm>
            <a:off x="457200" y="5760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デモが置く仮説（確認必要）：月に数回しか使わない人は、画面・手順・SPLで止まり、専門チームに聞いて待つ</a:t>
            </a:r>
            <a:endParaRPr lang="en-US" sz="1300" dirty="0"/>
          </a:p>
        </p:txBody>
      </p:sp>
      <p:sp>
        <p:nvSpPr>
          <p:cNvPr id="55" name="footnote"/>
          <p:cNvSpPr txBox="1"/>
          <p:nvPr/>
        </p:nvSpPr>
        <p:spPr>
          <a:xfrm>
            <a:off x="457200" y="63276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原因の調査と対処は、これまでどおり専門チームが担います。時刻・件数はデモ用の架空の値です。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デモの前に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デモ動画の流れと見どころ</a:t>
            </a:r>
            <a:endParaRPr lang="en-US" sz="2200" dirty="0"/>
          </a:p>
        </p:txBody>
      </p:sp>
      <p:sp>
        <p:nvSpPr>
          <p:cNvPr id="4" name="band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band-text"/>
          <p:cNvSpPr txBox="1"/>
          <p:nvPr/>
        </p:nvSpPr>
        <p:spPr>
          <a:xfrm>
            <a:off x="594360" y="10972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運用担当者（架空）が、問い合わせから一次確認・ログ分析までを一人で進める。見せ場は、実画面の第3章</a:t>
            </a:r>
            <a:endParaRPr lang="en-US" sz="1300" dirty="0"/>
          </a:p>
        </p:txBody>
      </p:sp>
      <p:sp>
        <p:nvSpPr>
          <p:cNvPr id="6" name="scene-0"/>
          <p:cNvSpPr/>
          <p:nvPr/>
        </p:nvSpPr>
        <p:spPr>
          <a:xfrm>
            <a:off x="457200" y="2057400"/>
            <a:ext cx="3611880" cy="19019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scene-0-head"/>
          <p:cNvSpPr/>
          <p:nvPr/>
        </p:nvSpPr>
        <p:spPr>
          <a:xfrm>
            <a:off x="457200" y="2057400"/>
            <a:ext cx="361188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scene-0-head-text"/>
          <p:cNvSpPr txBox="1"/>
          <p:nvPr/>
        </p:nvSpPr>
        <p:spPr>
          <a:xfrm>
            <a:off x="548640" y="2057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第1章　状況確認</a:t>
            </a:r>
            <a:endParaRPr lang="en-US" sz="1200" dirty="0"/>
          </a:p>
        </p:txBody>
      </p:sp>
      <p:sp>
        <p:nvSpPr>
          <p:cNvPr id="9" name="scene-time-0"/>
          <p:cNvSpPr txBox="1"/>
          <p:nvPr/>
        </p:nvSpPr>
        <p:spPr>
          <a:xfrm>
            <a:off x="2971800" y="2057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約1分10秒</a:t>
            </a:r>
            <a:endParaRPr lang="en-US" sz="1200" dirty="0"/>
          </a:p>
        </p:txBody>
      </p:sp>
      <p:sp>
        <p:nvSpPr>
          <p:cNvPr id="10" name="scene-desc-0"/>
          <p:cNvSpPr txBox="1"/>
          <p:nvPr/>
        </p:nvSpPr>
        <p:spPr>
          <a:xfrm>
            <a:off x="566928" y="251460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Service Analyzerで、時間範囲・サービスを選び、悪化したKPIを確かめる</a:t>
            </a:r>
            <a:endParaRPr lang="en-US" sz="1300" dirty="0"/>
          </a:p>
        </p:txBody>
      </p:sp>
      <p:sp>
        <p:nvSpPr>
          <p:cNvPr id="11" name="scene-badge-0"/>
          <p:cNvSpPr/>
          <p:nvPr/>
        </p:nvSpPr>
        <p:spPr>
          <a:xfrm>
            <a:off x="566928" y="3575304"/>
            <a:ext cx="987552" cy="256032"/>
          </a:xfrm>
          <a:prstGeom prst="rect">
            <a:avLst/>
          </a:prstGeom>
          <a:solidFill>
            <a:srgbClr val="8A96A6"/>
          </a:solidFill>
          <a:ln/>
        </p:spPr>
      </p:sp>
      <p:sp>
        <p:nvSpPr>
          <p:cNvPr id="12" name="scene-badge-0-text"/>
          <p:cNvSpPr txBox="1"/>
          <p:nvPr/>
        </p:nvSpPr>
        <p:spPr>
          <a:xfrm>
            <a:off x="566928" y="35753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画面イメージ</a:t>
            </a:r>
            <a:endParaRPr lang="en-US" sz="1100" dirty="0"/>
          </a:p>
        </p:txBody>
      </p:sp>
      <p:sp>
        <p:nvSpPr>
          <p:cNvPr id="13" name="scene-1"/>
          <p:cNvSpPr/>
          <p:nvPr/>
        </p:nvSpPr>
        <p:spPr>
          <a:xfrm>
            <a:off x="4206240" y="2057400"/>
            <a:ext cx="3611880" cy="19019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scene-1-head"/>
          <p:cNvSpPr/>
          <p:nvPr/>
        </p:nvSpPr>
        <p:spPr>
          <a:xfrm>
            <a:off x="4206240" y="2057400"/>
            <a:ext cx="361188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scene-1-head-text"/>
          <p:cNvSpPr txBox="1"/>
          <p:nvPr/>
        </p:nvSpPr>
        <p:spPr>
          <a:xfrm>
            <a:off x="4297680" y="2057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第2章　一次確認・連絡</a:t>
            </a:r>
            <a:endParaRPr lang="en-US" sz="1200" dirty="0"/>
          </a:p>
        </p:txBody>
      </p:sp>
      <p:sp>
        <p:nvSpPr>
          <p:cNvPr id="16" name="scene-time-1"/>
          <p:cNvSpPr txBox="1"/>
          <p:nvPr/>
        </p:nvSpPr>
        <p:spPr>
          <a:xfrm>
            <a:off x="6720840" y="2057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約1分30秒</a:t>
            </a:r>
            <a:endParaRPr lang="en-US" sz="1200" dirty="0"/>
          </a:p>
        </p:txBody>
      </p:sp>
      <p:sp>
        <p:nvSpPr>
          <p:cNvPr id="17" name="scene-desc-1"/>
          <p:cNvSpPr txBox="1"/>
          <p:nvPr/>
        </p:nvSpPr>
        <p:spPr>
          <a:xfrm>
            <a:off x="4315968" y="251460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社内手順の順番で確認し、AI Hubが一次連絡文を下書きする</a:t>
            </a:r>
            <a:endParaRPr lang="en-US" sz="1300" dirty="0"/>
          </a:p>
        </p:txBody>
      </p:sp>
      <p:sp>
        <p:nvSpPr>
          <p:cNvPr id="18" name="scene-badge-1"/>
          <p:cNvSpPr/>
          <p:nvPr/>
        </p:nvSpPr>
        <p:spPr>
          <a:xfrm>
            <a:off x="4315968" y="3575304"/>
            <a:ext cx="987552" cy="256032"/>
          </a:xfrm>
          <a:prstGeom prst="rect">
            <a:avLst/>
          </a:prstGeom>
          <a:solidFill>
            <a:srgbClr val="8A96A6"/>
          </a:solidFill>
          <a:ln/>
        </p:spPr>
      </p:sp>
      <p:sp>
        <p:nvSpPr>
          <p:cNvPr id="19" name="scene-badge-1-text"/>
          <p:cNvSpPr txBox="1"/>
          <p:nvPr/>
        </p:nvSpPr>
        <p:spPr>
          <a:xfrm>
            <a:off x="4315968" y="35753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画面イメージ</a:t>
            </a:r>
            <a:endParaRPr lang="en-US" sz="1100" dirty="0"/>
          </a:p>
        </p:txBody>
      </p:sp>
      <p:sp>
        <p:nvSpPr>
          <p:cNvPr id="20" name="scene-2"/>
          <p:cNvSpPr/>
          <p:nvPr/>
        </p:nvSpPr>
        <p:spPr>
          <a:xfrm>
            <a:off x="457200" y="4087368"/>
            <a:ext cx="3611880" cy="19019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cene-2-head"/>
          <p:cNvSpPr/>
          <p:nvPr/>
        </p:nvSpPr>
        <p:spPr>
          <a:xfrm>
            <a:off x="457200" y="4087368"/>
            <a:ext cx="3611880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scene-2-head-text"/>
          <p:cNvSpPr txBox="1"/>
          <p:nvPr/>
        </p:nvSpPr>
        <p:spPr>
          <a:xfrm>
            <a:off x="548640" y="40873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第3章　ログを調べる</a:t>
            </a:r>
            <a:endParaRPr lang="en-US" sz="1200" dirty="0"/>
          </a:p>
        </p:txBody>
      </p:sp>
      <p:sp>
        <p:nvSpPr>
          <p:cNvPr id="23" name="scene-time-2"/>
          <p:cNvSpPr txBox="1"/>
          <p:nvPr/>
        </p:nvSpPr>
        <p:spPr>
          <a:xfrm>
            <a:off x="2971800" y="40873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約1分30秒</a:t>
            </a:r>
            <a:endParaRPr lang="en-US" sz="1200" dirty="0"/>
          </a:p>
        </p:txBody>
      </p:sp>
      <p:sp>
        <p:nvSpPr>
          <p:cNvPr id="24" name="scene-desc-2"/>
          <p:cNvSpPr txBox="1"/>
          <p:nvPr/>
        </p:nvSpPr>
        <p:spPr>
          <a:xfrm>
            <a:off x="566928" y="4544568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公開したガイドで、ひな型から調べる。AI HubがSPLと結果を説明する</a:t>
            </a:r>
            <a:endParaRPr lang="en-US" sz="1300" dirty="0"/>
          </a:p>
        </p:txBody>
      </p:sp>
      <p:sp>
        <p:nvSpPr>
          <p:cNvPr id="25" name="scene-badge-2"/>
          <p:cNvSpPr/>
          <p:nvPr/>
        </p:nvSpPr>
        <p:spPr>
          <a:xfrm>
            <a:off x="566928" y="5605272"/>
            <a:ext cx="63093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cene-badge-2-text"/>
          <p:cNvSpPr txBox="1"/>
          <p:nvPr/>
        </p:nvSpPr>
        <p:spPr>
          <a:xfrm>
            <a:off x="566928" y="560527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実画面</a:t>
            </a:r>
            <a:endParaRPr lang="en-US" sz="1100" dirty="0"/>
          </a:p>
        </p:txBody>
      </p:sp>
      <p:sp>
        <p:nvSpPr>
          <p:cNvPr id="27" name="scene-key-2"/>
          <p:cNvSpPr txBox="1"/>
          <p:nvPr/>
        </p:nvSpPr>
        <p:spPr>
          <a:xfrm>
            <a:off x="1307592" y="5605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見せ場</a:t>
            </a:r>
            <a:endParaRPr lang="en-US" sz="1200" dirty="0"/>
          </a:p>
        </p:txBody>
      </p:sp>
      <p:sp>
        <p:nvSpPr>
          <p:cNvPr id="28" name="scene-3"/>
          <p:cNvSpPr/>
          <p:nvPr/>
        </p:nvSpPr>
        <p:spPr>
          <a:xfrm>
            <a:off x="4206240" y="4087368"/>
            <a:ext cx="3611880" cy="19019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cene-3-head"/>
          <p:cNvSpPr/>
          <p:nvPr/>
        </p:nvSpPr>
        <p:spPr>
          <a:xfrm>
            <a:off x="4206240" y="4087368"/>
            <a:ext cx="361188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0" name="scene-3-head-text"/>
          <p:cNvSpPr txBox="1"/>
          <p:nvPr/>
        </p:nvSpPr>
        <p:spPr>
          <a:xfrm>
            <a:off x="4297680" y="40873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ガイドの作り方</a:t>
            </a:r>
            <a:endParaRPr lang="en-US" sz="1200" dirty="0"/>
          </a:p>
        </p:txBody>
      </p:sp>
      <p:sp>
        <p:nvSpPr>
          <p:cNvPr id="31" name="scene-time-3"/>
          <p:cNvSpPr txBox="1"/>
          <p:nvPr/>
        </p:nvSpPr>
        <p:spPr>
          <a:xfrm>
            <a:off x="6720840" y="40873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約20秒</a:t>
            </a:r>
            <a:endParaRPr lang="en-US" sz="1200" dirty="0"/>
          </a:p>
        </p:txBody>
      </p:sp>
      <p:sp>
        <p:nvSpPr>
          <p:cNvPr id="32" name="scene-desc-3"/>
          <p:cNvSpPr txBox="1"/>
          <p:nvPr/>
        </p:nvSpPr>
        <p:spPr>
          <a:xfrm>
            <a:off x="4315968" y="4544568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実画面の上で吹き出しをつなげ、管理画面で公開する</a:t>
            </a:r>
            <a:endParaRPr lang="en-US" sz="1300" dirty="0"/>
          </a:p>
        </p:txBody>
      </p:sp>
      <p:sp>
        <p:nvSpPr>
          <p:cNvPr id="33" name="scene-badge-3"/>
          <p:cNvSpPr/>
          <p:nvPr/>
        </p:nvSpPr>
        <p:spPr>
          <a:xfrm>
            <a:off x="4315968" y="5605272"/>
            <a:ext cx="63093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scene-badge-3-text"/>
          <p:cNvSpPr txBox="1"/>
          <p:nvPr/>
        </p:nvSpPr>
        <p:spPr>
          <a:xfrm>
            <a:off x="4315968" y="560527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実画面</a:t>
            </a:r>
            <a:endParaRPr lang="en-US" sz="1100" dirty="0"/>
          </a:p>
        </p:txBody>
      </p:sp>
      <p:sp>
        <p:nvSpPr>
          <p:cNvPr id="35" name="legend"/>
          <p:cNvSpPr/>
          <p:nvPr/>
        </p:nvSpPr>
        <p:spPr>
          <a:xfrm>
            <a:off x="8046720" y="2057400"/>
            <a:ext cx="3687775" cy="3931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legend-head"/>
          <p:cNvSpPr/>
          <p:nvPr/>
        </p:nvSpPr>
        <p:spPr>
          <a:xfrm>
            <a:off x="8046720" y="2057400"/>
            <a:ext cx="3687775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7" name="legend-head-text"/>
          <p:cNvSpPr txBox="1"/>
          <p:nvPr/>
        </p:nvSpPr>
        <p:spPr>
          <a:xfrm>
            <a:off x="8138160" y="2057400"/>
            <a:ext cx="3504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画面の見分け方</a:t>
            </a:r>
            <a:endParaRPr lang="en-US" sz="1200" dirty="0"/>
          </a:p>
        </p:txBody>
      </p:sp>
      <p:sp>
        <p:nvSpPr>
          <p:cNvPr id="38" name="legend-swatch-0"/>
          <p:cNvSpPr/>
          <p:nvPr/>
        </p:nvSpPr>
        <p:spPr>
          <a:xfrm>
            <a:off x="8211312" y="2542032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legend-name-0"/>
          <p:cNvSpPr txBox="1"/>
          <p:nvPr/>
        </p:nvSpPr>
        <p:spPr>
          <a:xfrm>
            <a:off x="8732520" y="252374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実画面</a:t>
            </a:r>
            <a:endParaRPr lang="en-US" sz="1400" dirty="0"/>
          </a:p>
        </p:txBody>
      </p:sp>
      <p:sp>
        <p:nvSpPr>
          <p:cNvPr id="40" name="legend-desc-0"/>
          <p:cNvSpPr txBox="1"/>
          <p:nvPr/>
        </p:nvSpPr>
        <p:spPr>
          <a:xfrm>
            <a:off x="8732520" y="2816352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Splunk Cloudとテックタッチ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（デモ環境）</a:t>
            </a:r>
            <a:endParaRPr lang="en-US" sz="1200" dirty="0"/>
          </a:p>
        </p:txBody>
      </p:sp>
      <p:sp>
        <p:nvSpPr>
          <p:cNvPr id="41" name="legend-swatch-1"/>
          <p:cNvSpPr/>
          <p:nvPr/>
        </p:nvSpPr>
        <p:spPr>
          <a:xfrm>
            <a:off x="8211312" y="3383280"/>
            <a:ext cx="384048" cy="384048"/>
          </a:xfrm>
          <a:prstGeom prst="rect">
            <a:avLst/>
          </a:prstGeom>
          <a:solidFill>
            <a:srgbClr val="8A96A6"/>
          </a:solidFill>
          <a:ln/>
        </p:spPr>
      </p:sp>
      <p:sp>
        <p:nvSpPr>
          <p:cNvPr id="42" name="legend-name-1"/>
          <p:cNvSpPr txBox="1"/>
          <p:nvPr/>
        </p:nvSpPr>
        <p:spPr>
          <a:xfrm>
            <a:off x="8732520" y="336499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画面イメージ</a:t>
            </a:r>
            <a:endParaRPr lang="en-US" sz="1400" dirty="0"/>
          </a:p>
        </p:txBody>
      </p:sp>
      <p:sp>
        <p:nvSpPr>
          <p:cNvPr id="43" name="legend-desc-1"/>
          <p:cNvSpPr txBox="1"/>
          <p:nvPr/>
        </p:nvSpPr>
        <p:spPr>
          <a:xfrm>
            <a:off x="8732520" y="365760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ITSI・IT Essentials 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（デモ環境に未導入）</a:t>
            </a:r>
            <a:endParaRPr lang="en-US" sz="1200" dirty="0"/>
          </a:p>
        </p:txBody>
      </p:sp>
      <p:sp>
        <p:nvSpPr>
          <p:cNvPr id="44" name="legend-swatch-2"/>
          <p:cNvSpPr/>
          <p:nvPr/>
        </p:nvSpPr>
        <p:spPr>
          <a:xfrm>
            <a:off x="8211312" y="4224528"/>
            <a:ext cx="384048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5" name="legend-name-2"/>
          <p:cNvSpPr txBox="1"/>
          <p:nvPr/>
        </p:nvSpPr>
        <p:spPr>
          <a:xfrm>
            <a:off x="8732520" y="420624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青の吹き出し</a:t>
            </a:r>
            <a:endParaRPr lang="en-US" sz="1400" dirty="0"/>
          </a:p>
        </p:txBody>
      </p:sp>
      <p:sp>
        <p:nvSpPr>
          <p:cNvPr id="46" name="legend-desc-2"/>
          <p:cNvSpPr txBox="1"/>
          <p:nvPr/>
        </p:nvSpPr>
        <p:spPr>
          <a:xfrm>
            <a:off x="8732520" y="4498848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テックタッチのガイド</a:t>
            </a:r>
            <a:endParaRPr lang="en-US" sz="1200" dirty="0"/>
          </a:p>
        </p:txBody>
      </p:sp>
      <p:sp>
        <p:nvSpPr>
          <p:cNvPr id="47" name="legend-swatch-3"/>
          <p:cNvSpPr/>
          <p:nvPr/>
        </p:nvSpPr>
        <p:spPr>
          <a:xfrm>
            <a:off x="8211312" y="5065776"/>
            <a:ext cx="384048" cy="384048"/>
          </a:xfrm>
          <a:prstGeom prst="rect">
            <a:avLst/>
          </a:prstGeom>
          <a:solidFill>
            <a:srgbClr val="5A3EA6"/>
          </a:solidFill>
          <a:ln/>
        </p:spPr>
      </p:sp>
      <p:sp>
        <p:nvSpPr>
          <p:cNvPr id="48" name="legend-name-3"/>
          <p:cNvSpPr txBox="1"/>
          <p:nvPr/>
        </p:nvSpPr>
        <p:spPr>
          <a:xfrm>
            <a:off x="8732520" y="504748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紫の札の吹き出し</a:t>
            </a:r>
            <a:endParaRPr lang="en-US" sz="1400" dirty="0"/>
          </a:p>
        </p:txBody>
      </p:sp>
      <p:sp>
        <p:nvSpPr>
          <p:cNvPr id="49" name="legend-desc-3"/>
          <p:cNvSpPr txBox="1"/>
          <p:nvPr/>
        </p:nvSpPr>
        <p:spPr>
          <a:xfrm>
            <a:off x="8732520" y="5340096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Hub（構想・例文）</a:t>
            </a:r>
            <a:endParaRPr lang="en-US" sz="1200" dirty="0"/>
          </a:p>
        </p:txBody>
      </p:sp>
      <p:sp>
        <p:nvSpPr>
          <p:cNvPr id="50" name="footnote"/>
          <p:cNvSpPr txBox="1"/>
          <p:nvPr/>
        </p:nvSpPr>
        <p:spPr>
          <a:xfrm>
            <a:off x="457200" y="63276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振り返り（約30秒）では、流れ・手当てした場面・確かめ方・伺いたいことをまとめます。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デモの前に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ご覧いただく前に</a:t>
            </a:r>
            <a:endParaRPr lang="en-US" sz="2200" dirty="0"/>
          </a:p>
        </p:txBody>
      </p:sp>
      <p:sp>
        <p:nvSpPr>
          <p:cNvPr id="4" name="band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band-text"/>
          <p:cNvSpPr txBox="1"/>
          <p:nvPr/>
        </p:nvSpPr>
        <p:spPr>
          <a:xfrm>
            <a:off x="594360" y="10972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人物・手順・数値は架空です。デモ動画の中で、右の問いを御社に当てはめてご覧ください</a:t>
            </a:r>
            <a:endParaRPr lang="en-US" sz="1300" dirty="0"/>
          </a:p>
        </p:txBody>
      </p:sp>
      <p:sp>
        <p:nvSpPr>
          <p:cNvPr id="6" name="premise"/>
          <p:cNvSpPr/>
          <p:nvPr/>
        </p:nvSpPr>
        <p:spPr>
          <a:xfrm>
            <a:off x="457200" y="2057400"/>
            <a:ext cx="5394960" cy="40416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premise-head"/>
          <p:cNvSpPr/>
          <p:nvPr/>
        </p:nvSpPr>
        <p:spPr>
          <a:xfrm>
            <a:off x="457200" y="2057400"/>
            <a:ext cx="539496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premise-head-text"/>
          <p:cNvSpPr txBox="1"/>
          <p:nvPr/>
        </p:nvSpPr>
        <p:spPr>
          <a:xfrm>
            <a:off x="548640" y="20574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デモの前提</a:t>
            </a:r>
            <a:endParaRPr lang="en-US" sz="1200" dirty="0"/>
          </a:p>
        </p:txBody>
      </p:sp>
      <p:sp>
        <p:nvSpPr>
          <p:cNvPr id="9" name="premise-head-0"/>
          <p:cNvSpPr txBox="1"/>
          <p:nvPr/>
        </p:nvSpPr>
        <p:spPr>
          <a:xfrm>
            <a:off x="621792" y="248716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画面は章によって異なる</a:t>
            </a:r>
            <a:endParaRPr lang="en-US" sz="1300" dirty="0"/>
          </a:p>
        </p:txBody>
      </p:sp>
      <p:sp>
        <p:nvSpPr>
          <p:cNvPr id="10" name="premise-body-0"/>
          <p:cNvSpPr txBox="1"/>
          <p:nvPr/>
        </p:nvSpPr>
        <p:spPr>
          <a:xfrm>
            <a:off x="621792" y="2761488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第1・2章は画面イメージ、第3章は実画面です</a:t>
            </a:r>
            <a:endParaRPr lang="en-US" sz="1200" dirty="0"/>
          </a:p>
        </p:txBody>
      </p:sp>
      <p:sp>
        <p:nvSpPr>
          <p:cNvPr id="11" name="premise-sep-1"/>
          <p:cNvSpPr/>
          <p:nvPr/>
        </p:nvSpPr>
        <p:spPr>
          <a:xfrm>
            <a:off x="594360" y="3127248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premise-head-1"/>
          <p:cNvSpPr txBox="1"/>
          <p:nvPr/>
        </p:nvSpPr>
        <p:spPr>
          <a:xfrm>
            <a:off x="621792" y="320040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架空のシナリオ</a:t>
            </a:r>
            <a:endParaRPr lang="en-US" sz="1300" dirty="0"/>
          </a:p>
        </p:txBody>
      </p:sp>
      <p:sp>
        <p:nvSpPr>
          <p:cNvPr id="13" name="premise-body-1"/>
          <p:cNvSpPr txBox="1"/>
          <p:nvPr/>
        </p:nvSpPr>
        <p:spPr>
          <a:xfrm>
            <a:off x="621792" y="3474720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特定の企業や事案を題材にしていません</a:t>
            </a:r>
            <a:endParaRPr lang="en-US" sz="1200" dirty="0"/>
          </a:p>
        </p:txBody>
      </p:sp>
      <p:sp>
        <p:nvSpPr>
          <p:cNvPr id="14" name="premise-sep-2"/>
          <p:cNvSpPr/>
          <p:nvPr/>
        </p:nvSpPr>
        <p:spPr>
          <a:xfrm>
            <a:off x="594360" y="3840480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premise-head-2"/>
          <p:cNvSpPr txBox="1"/>
          <p:nvPr/>
        </p:nvSpPr>
        <p:spPr>
          <a:xfrm>
            <a:off x="621792" y="391363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 Hubは構想</a:t>
            </a:r>
            <a:endParaRPr lang="en-US" sz="1300" dirty="0"/>
          </a:p>
        </p:txBody>
      </p:sp>
      <p:sp>
        <p:nvSpPr>
          <p:cNvPr id="16" name="premise-body-2"/>
          <p:cNvSpPr txBox="1"/>
          <p:nvPr/>
        </p:nvSpPr>
        <p:spPr>
          <a:xfrm>
            <a:off x="621792" y="4187952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デモ環境に入っていないため、画面イメージと例文です</a:t>
            </a:r>
            <a:endParaRPr lang="en-US" sz="1200" dirty="0"/>
          </a:p>
        </p:txBody>
      </p:sp>
      <p:sp>
        <p:nvSpPr>
          <p:cNvPr id="17" name="premise-sep-3"/>
          <p:cNvSpPr/>
          <p:nvPr/>
        </p:nvSpPr>
        <p:spPr>
          <a:xfrm>
            <a:off x="594360" y="4553712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premise-head-3"/>
          <p:cNvSpPr txBox="1"/>
          <p:nvPr/>
        </p:nvSpPr>
        <p:spPr>
          <a:xfrm>
            <a:off x="621792" y="4626864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ガイドは案</a:t>
            </a:r>
            <a:endParaRPr lang="en-US" sz="1300" dirty="0"/>
          </a:p>
        </p:txBody>
      </p:sp>
      <p:sp>
        <p:nvSpPr>
          <p:cNvPr id="19" name="premise-body-3"/>
          <p:cNvSpPr txBox="1"/>
          <p:nvPr/>
        </p:nvSpPr>
        <p:spPr>
          <a:xfrm>
            <a:off x="621792" y="4901184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御社の手順に合わせて作ります（第3章はデモ環境で作成）</a:t>
            </a:r>
            <a:endParaRPr lang="en-US" sz="1200" dirty="0"/>
          </a:p>
        </p:txBody>
      </p:sp>
      <p:sp>
        <p:nvSpPr>
          <p:cNvPr id="20" name="premise-sep-4"/>
          <p:cNvSpPr/>
          <p:nvPr/>
        </p:nvSpPr>
        <p:spPr>
          <a:xfrm>
            <a:off x="594360" y="5266944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premise-head-4"/>
          <p:cNvSpPr txBox="1"/>
          <p:nvPr/>
        </p:nvSpPr>
        <p:spPr>
          <a:xfrm>
            <a:off x="621792" y="534009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数値の約束はしない</a:t>
            </a:r>
            <a:endParaRPr lang="en-US" sz="1300" dirty="0"/>
          </a:p>
        </p:txBody>
      </p:sp>
      <p:sp>
        <p:nvSpPr>
          <p:cNvPr id="22" name="premise-body-4"/>
          <p:cNvSpPr txBox="1"/>
          <p:nvPr/>
        </p:nvSpPr>
        <p:spPr>
          <a:xfrm>
            <a:off x="621792" y="5614416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効果は、自力完了率などの4つの指標で確かめます</a:t>
            </a:r>
            <a:endParaRPr lang="en-US" sz="1200" dirty="0"/>
          </a:p>
        </p:txBody>
      </p:sp>
      <p:sp>
        <p:nvSpPr>
          <p:cNvPr id="23" name="questions"/>
          <p:cNvSpPr/>
          <p:nvPr/>
        </p:nvSpPr>
        <p:spPr>
          <a:xfrm>
            <a:off x="6080760" y="2057400"/>
            <a:ext cx="5653735" cy="40416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questions-head"/>
          <p:cNvSpPr/>
          <p:nvPr/>
        </p:nvSpPr>
        <p:spPr>
          <a:xfrm>
            <a:off x="6080760" y="2057400"/>
            <a:ext cx="5653735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questions-head-text"/>
          <p:cNvSpPr txBox="1"/>
          <p:nvPr/>
        </p:nvSpPr>
        <p:spPr>
          <a:xfrm>
            <a:off x="6172200" y="2057400"/>
            <a:ext cx="5470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デモの中で考えていただきたい問い</a:t>
            </a:r>
            <a:endParaRPr lang="en-US" sz="1200" dirty="0"/>
          </a:p>
        </p:txBody>
      </p:sp>
      <p:sp>
        <p:nvSpPr>
          <p:cNvPr id="26" name="q-num-bg-0"/>
          <p:cNvSpPr/>
          <p:nvPr/>
        </p:nvSpPr>
        <p:spPr>
          <a:xfrm>
            <a:off x="6245352" y="2551176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q-num-0"/>
          <p:cNvSpPr txBox="1"/>
          <p:nvPr/>
        </p:nvSpPr>
        <p:spPr>
          <a:xfrm>
            <a:off x="6245352" y="25511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28" name="q-text-0"/>
          <p:cNvSpPr txBox="1"/>
          <p:nvPr/>
        </p:nvSpPr>
        <p:spPr>
          <a:xfrm>
            <a:off x="6922008" y="2551176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画面の探し方・時間範囲・サービスの選び分けのどこで迷いますか</a:t>
            </a:r>
            <a:endParaRPr lang="en-US" sz="1300" dirty="0"/>
          </a:p>
        </p:txBody>
      </p:sp>
      <p:sp>
        <p:nvSpPr>
          <p:cNvPr id="29" name="q-num-bg-1"/>
          <p:cNvSpPr/>
          <p:nvPr/>
        </p:nvSpPr>
        <p:spPr>
          <a:xfrm>
            <a:off x="6245352" y="3264408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q-num-1"/>
          <p:cNvSpPr txBox="1"/>
          <p:nvPr/>
        </p:nvSpPr>
        <p:spPr>
          <a:xfrm>
            <a:off x="6245352" y="32644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31" name="q-text-1"/>
          <p:cNvSpPr txBox="1"/>
          <p:nvPr/>
        </p:nvSpPr>
        <p:spPr>
          <a:xfrm>
            <a:off x="6922008" y="3264408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一次確認で、人によって手順がばらつくのはどこですか</a:t>
            </a:r>
            <a:endParaRPr lang="en-US" sz="1300" dirty="0"/>
          </a:p>
        </p:txBody>
      </p:sp>
      <p:sp>
        <p:nvSpPr>
          <p:cNvPr id="32" name="q-num-bg-2"/>
          <p:cNvSpPr/>
          <p:nvPr/>
        </p:nvSpPr>
        <p:spPr>
          <a:xfrm>
            <a:off x="6245352" y="397764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q-num-2"/>
          <p:cNvSpPr txBox="1"/>
          <p:nvPr/>
        </p:nvSpPr>
        <p:spPr>
          <a:xfrm>
            <a:off x="6245352" y="3977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34" name="q-text-2"/>
          <p:cNvSpPr txBox="1"/>
          <p:nvPr/>
        </p:nvSpPr>
        <p:spPr>
          <a:xfrm>
            <a:off x="6922008" y="3977640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ひな型選び・時間範囲・結果の読み方のどこで手が止まりますか</a:t>
            </a:r>
            <a:endParaRPr lang="en-US" sz="1300" dirty="0"/>
          </a:p>
        </p:txBody>
      </p:sp>
      <p:sp>
        <p:nvSpPr>
          <p:cNvPr id="35" name="q-num-bg-3"/>
          <p:cNvSpPr/>
          <p:nvPr/>
        </p:nvSpPr>
        <p:spPr>
          <a:xfrm>
            <a:off x="6245352" y="4690872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6" name="q-num-3"/>
          <p:cNvSpPr txBox="1"/>
          <p:nvPr/>
        </p:nvSpPr>
        <p:spPr>
          <a:xfrm>
            <a:off x="6245352" y="4690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Q4</a:t>
            </a:r>
            <a:endParaRPr lang="en-US" sz="1300" dirty="0"/>
          </a:p>
        </p:txBody>
      </p:sp>
      <p:sp>
        <p:nvSpPr>
          <p:cNvPr id="37" name="q-text-3"/>
          <p:cNvSpPr txBox="1"/>
          <p:nvPr/>
        </p:nvSpPr>
        <p:spPr>
          <a:xfrm>
            <a:off x="6922008" y="4690872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迷ったとき、今は誰に聞いていますか</a:t>
            </a:r>
            <a:endParaRPr lang="en-US" sz="1300" dirty="0"/>
          </a:p>
        </p:txBody>
      </p:sp>
      <p:sp>
        <p:nvSpPr>
          <p:cNvPr id="38" name="q-num-bg-4"/>
          <p:cNvSpPr/>
          <p:nvPr/>
        </p:nvSpPr>
        <p:spPr>
          <a:xfrm>
            <a:off x="6245352" y="5404104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q-num-4"/>
          <p:cNvSpPr txBox="1"/>
          <p:nvPr/>
        </p:nvSpPr>
        <p:spPr>
          <a:xfrm>
            <a:off x="6245352" y="54041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Q5</a:t>
            </a:r>
            <a:endParaRPr lang="en-US" sz="1300" dirty="0"/>
          </a:p>
        </p:txBody>
      </p:sp>
      <p:sp>
        <p:nvSpPr>
          <p:cNvPr id="40" name="q-text-4"/>
          <p:cNvSpPr txBox="1"/>
          <p:nvPr/>
        </p:nvSpPr>
        <p:spPr>
          <a:xfrm>
            <a:off x="6922008" y="5404104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「自分で調べ切れた」と判断する基準はありますか</a:t>
            </a:r>
            <a:endParaRPr lang="en-US" sz="1300" dirty="0"/>
          </a:p>
        </p:txBody>
      </p:sp>
      <p:sp>
        <p:nvSpPr>
          <p:cNvPr id="41" name="footnote"/>
          <p:cNvSpPr txBox="1"/>
          <p:nvPr/>
        </p:nvSpPr>
        <p:spPr>
          <a:xfrm>
            <a:off x="457200" y="63276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答えにくい問いが、デモで一緒に確かめたいところです。章の終わりごとに伺います。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touch">
  <a:themeElements>
    <a:clrScheme name="Techtouch">
      <a:dk1>
        <a:srgbClr val="1F2A37"/>
      </a:dk1>
      <a:lt1>
        <a:srgbClr val="FFFFFF"/>
      </a:lt1>
      <a:dk2>
        <a:srgbClr val="055BB8"/>
      </a:dk2>
      <a:lt2>
        <a:srgbClr val="F0F3F6"/>
      </a:lt2>
      <a:accent1>
        <a:srgbClr val="055BB8"/>
      </a:accent1>
      <a:accent2>
        <a:srgbClr val="0876E8"/>
      </a:accent2>
      <a:accent3>
        <a:srgbClr val="EEF7FD"/>
      </a:accent3>
      <a:accent4>
        <a:srgbClr val="C86A00"/>
      </a:accent4>
      <a:accent5>
        <a:srgbClr val="596573"/>
      </a:accent5>
      <a:accent6>
        <a:srgbClr val="D6DDE5"/>
      </a:accent6>
      <a:hlink>
        <a:srgbClr val="0876E8"/>
      </a:hlink>
      <a:folHlink>
        <a:srgbClr val="4A90E2"/>
      </a:folHlink>
    </a:clrScheme>
    <a:fontScheme name="Techtouch">
      <a:majorFont>
        <a:latin typeface="Yu Gothic"/>
        <a:ea typeface="Yu Gothic"/>
        <a:cs typeface=""/>
        <a:font script="Jpan" typeface="Yu 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テックタッチ株式会社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Splunk障害対応・ログ分析デモ 事前説明（短縮版）</dc:title>
  <dc:subject>Splunk Cloud（ITSI・IT Essentials Work）× テックタッチ（DAP＋AI Hub）構想デモ動画の事前説明</dc:subject>
  <dc:creator>テックタッチ</dc:creator>
  <cp:lastModifiedBy>テックタッチ</cp:lastModifiedBy>
  <cp:revision>1</cp:revision>
  <dcterms:created xsi:type="dcterms:W3CDTF">2026-10-19T22:54:20Z</dcterms:created>
  <dcterms:modified xsi:type="dcterms:W3CDTF">2026-10-19T22:54:20Z</dcterms:modified>
</cp:coreProperties>
</file>