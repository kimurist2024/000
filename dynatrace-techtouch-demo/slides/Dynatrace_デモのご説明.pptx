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デモ動画の前に、3枚で前提をご説明します。架空の運用担当者の一日を題材にした構想デモです。画面はすべてDynatraceの画面イメージで、実画面ではありません。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入っているDynatraceを、月に数回しか使わない担当者が、迷わず、社内手順どおりに、自分で進められるようにする提案です。原因の特定はこのデモの範囲外です。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各章の終わりに「伺いたいこと」を一つ出します。画面はすべて、Dynatraceの公式デザインに合わせた画面イメージです。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デモの前提です。画面はイメージで、実画面ではありません。数字や人物はすべて架空です。デモ動画の中で、この5つの問いを御社に当てはめてご覧ください。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8534095" y="201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構想デモ・架空のシナリオ</a:t>
            </a:r>
            <a:endParaRPr lang="en-US" sz="11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0574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Dynatrace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運用担当者の一日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デモのご説明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60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Dynatrace ×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テックタッチ（DAP＋AI Hub）</a:t>
            </a:r>
            <a:endParaRPr lang="en-US" sz="1300" dirty="0"/>
          </a:p>
        </p:txBody>
      </p:sp>
      <p:sp>
        <p:nvSpPr>
          <p:cNvPr id="4" name="headline"/>
          <p:cNvSpPr txBox="1"/>
          <p:nvPr/>
        </p:nvSpPr>
        <p:spPr>
          <a:xfrm>
            <a:off x="5257800" y="22402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月に数回しかDynatraceを使わない人が、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迷わず・社内手順どおりに・自分で進める</a:t>
            </a:r>
            <a:endParaRPr lang="en-US" sz="2200" dirty="0"/>
          </a:p>
        </p:txBody>
      </p:sp>
      <p:sp>
        <p:nvSpPr>
          <p:cNvPr id="5" name="headline-points"/>
          <p:cNvSpPr txBox="1"/>
          <p:nvPr/>
        </p:nvSpPr>
        <p:spPr>
          <a:xfrm>
            <a:off x="5257800" y="34290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架空の運用担当者の一日（問い合わせから、一次確認・連絡、再発への備えまで）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デモ動画は3章＋振り返り（3分34秒）</a:t>
            </a:r>
            <a:endParaRPr lang="en-US" sz="1500" dirty="0"/>
          </a:p>
        </p:txBody>
      </p:sp>
      <p:sp>
        <p:nvSpPr>
          <p:cNvPr id="6" name="meta"/>
          <p:cNvSpPr txBox="1"/>
          <p:nvPr/>
        </p:nvSpPr>
        <p:spPr>
          <a:xfrm>
            <a:off x="5257800" y="5029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テックタッチ株式会社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2026年10月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架空のシナリオの構想デモです。特定の企業や事案を題材にしたものではありません。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このデモでお見せすること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入っているDynatraceを、月に数回しか使わない人が、迷わず・社内手順どおりに・自分で進める姿を見せる</a:t>
            </a:r>
            <a:endParaRPr lang="en-US" sz="1300" dirty="0"/>
          </a:p>
        </p:txBody>
      </p:sp>
      <p:sp>
        <p:nvSpPr>
          <p:cNvPr id="6" name="theme-head"/>
          <p:cNvSpPr txBox="1"/>
          <p:nvPr/>
        </p:nvSpPr>
        <p:spPr>
          <a:xfrm>
            <a:off x="457200" y="193852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題材：問い合わせから、再発への備えまで（運用担当者の一日・架空）</a:t>
            </a:r>
            <a:endParaRPr lang="en-US" sz="1300" dirty="0"/>
          </a:p>
        </p:txBody>
      </p:sp>
      <p:sp>
        <p:nvSpPr>
          <p:cNvPr id="7" name="step-0"/>
          <p:cNvSpPr/>
          <p:nvPr/>
        </p:nvSpPr>
        <p:spPr>
          <a:xfrm>
            <a:off x="457200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ep-0-head"/>
          <p:cNvSpPr/>
          <p:nvPr/>
        </p:nvSpPr>
        <p:spPr>
          <a:xfrm>
            <a:off x="457200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step-0-head-text"/>
          <p:cNvSpPr txBox="1"/>
          <p:nvPr/>
        </p:nvSpPr>
        <p:spPr>
          <a:xfrm>
            <a:off x="54864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10:16　問い合わせ</a:t>
            </a:r>
            <a:endParaRPr lang="en-US" sz="1200" dirty="0"/>
          </a:p>
        </p:txBody>
      </p:sp>
      <p:sp>
        <p:nvSpPr>
          <p:cNvPr id="10" name="step-body-0"/>
          <p:cNvSpPr txBox="1"/>
          <p:nvPr/>
        </p:nvSpPr>
        <p:spPr>
          <a:xfrm>
            <a:off x="548640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業務部門から「契約照会の画面が遅い」</a:t>
            </a:r>
            <a:endParaRPr lang="en-US" sz="1200" dirty="0"/>
          </a:p>
        </p:txBody>
      </p:sp>
      <p:sp>
        <p:nvSpPr>
          <p:cNvPr id="11" name="step-arrow-0"/>
          <p:cNvSpPr/>
          <p:nvPr/>
        </p:nvSpPr>
        <p:spPr>
          <a:xfrm>
            <a:off x="2202637" y="258775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2" name="step-1"/>
          <p:cNvSpPr/>
          <p:nvPr/>
        </p:nvSpPr>
        <p:spPr>
          <a:xfrm>
            <a:off x="2376373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tep-1-head"/>
          <p:cNvSpPr/>
          <p:nvPr/>
        </p:nvSpPr>
        <p:spPr>
          <a:xfrm>
            <a:off x="2376373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tep-1-head-text"/>
          <p:cNvSpPr txBox="1"/>
          <p:nvPr/>
        </p:nvSpPr>
        <p:spPr>
          <a:xfrm>
            <a:off x="246781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10:17　状況確認</a:t>
            </a:r>
            <a:endParaRPr lang="en-US" sz="1200" dirty="0"/>
          </a:p>
        </p:txBody>
      </p:sp>
      <p:sp>
        <p:nvSpPr>
          <p:cNvPr id="15" name="step-body-1"/>
          <p:cNvSpPr txBox="1"/>
          <p:nvPr/>
        </p:nvSpPr>
        <p:spPr>
          <a:xfrm>
            <a:off x="2467813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平均応答時間が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420 ms → 980 ms</a:t>
            </a:r>
            <a:endParaRPr lang="en-US" sz="1200" dirty="0"/>
          </a:p>
        </p:txBody>
      </p:sp>
      <p:sp>
        <p:nvSpPr>
          <p:cNvPr id="16" name="step-arrow-1"/>
          <p:cNvSpPr/>
          <p:nvPr/>
        </p:nvSpPr>
        <p:spPr>
          <a:xfrm>
            <a:off x="4121810" y="258775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7" name="step-2"/>
          <p:cNvSpPr/>
          <p:nvPr/>
        </p:nvSpPr>
        <p:spPr>
          <a:xfrm>
            <a:off x="4295546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tep-2-head"/>
          <p:cNvSpPr/>
          <p:nvPr/>
        </p:nvSpPr>
        <p:spPr>
          <a:xfrm>
            <a:off x="4295546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tep-2-head-text"/>
          <p:cNvSpPr txBox="1"/>
          <p:nvPr/>
        </p:nvSpPr>
        <p:spPr>
          <a:xfrm>
            <a:off x="438698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10:18　一次確認</a:t>
            </a:r>
            <a:endParaRPr lang="en-US" sz="1200" dirty="0"/>
          </a:p>
        </p:txBody>
      </p:sp>
      <p:sp>
        <p:nvSpPr>
          <p:cNvPr id="20" name="step-body-2"/>
          <p:cNvSpPr txBox="1"/>
          <p:nvPr/>
        </p:nvSpPr>
        <p:spPr>
          <a:xfrm>
            <a:off x="4386986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問題の概要と影響範囲。優先度は「中」</a:t>
            </a:r>
            <a:endParaRPr lang="en-US" sz="1200" dirty="0"/>
          </a:p>
        </p:txBody>
      </p:sp>
      <p:sp>
        <p:nvSpPr>
          <p:cNvPr id="21" name="step-arrow-2"/>
          <p:cNvSpPr/>
          <p:nvPr/>
        </p:nvSpPr>
        <p:spPr>
          <a:xfrm>
            <a:off x="6040984" y="258775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2" name="step-3"/>
          <p:cNvSpPr/>
          <p:nvPr/>
        </p:nvSpPr>
        <p:spPr>
          <a:xfrm>
            <a:off x="6214720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tep-3-head"/>
          <p:cNvSpPr/>
          <p:nvPr/>
        </p:nvSpPr>
        <p:spPr>
          <a:xfrm>
            <a:off x="6214720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step-3-head-text"/>
          <p:cNvSpPr txBox="1"/>
          <p:nvPr/>
        </p:nvSpPr>
        <p:spPr>
          <a:xfrm>
            <a:off x="6306160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10:21　関連ログ</a:t>
            </a:r>
            <a:endParaRPr lang="en-US" sz="1200" dirty="0"/>
          </a:p>
        </p:txBody>
      </p:sp>
      <p:sp>
        <p:nvSpPr>
          <p:cNvPr id="25" name="step-body-3"/>
          <p:cNvSpPr txBox="1"/>
          <p:nvPr/>
        </p:nvSpPr>
        <p:spPr>
          <a:xfrm>
            <a:off x="6306160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09:58から警告。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原因は未確定</a:t>
            </a:r>
            <a:endParaRPr lang="en-US" sz="1200" dirty="0"/>
          </a:p>
        </p:txBody>
      </p:sp>
      <p:sp>
        <p:nvSpPr>
          <p:cNvPr id="26" name="step-arrow-3"/>
          <p:cNvSpPr/>
          <p:nvPr/>
        </p:nvSpPr>
        <p:spPr>
          <a:xfrm>
            <a:off x="7960157" y="258775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7" name="step-4"/>
          <p:cNvSpPr/>
          <p:nvPr/>
        </p:nvSpPr>
        <p:spPr>
          <a:xfrm>
            <a:off x="8133893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tep-4-head"/>
          <p:cNvSpPr/>
          <p:nvPr/>
        </p:nvSpPr>
        <p:spPr>
          <a:xfrm>
            <a:off x="8133893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step-4-head-text"/>
          <p:cNvSpPr txBox="1"/>
          <p:nvPr/>
        </p:nvSpPr>
        <p:spPr>
          <a:xfrm>
            <a:off x="8225333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10:22　一次連絡</a:t>
            </a:r>
            <a:endParaRPr lang="en-US" sz="1200" dirty="0"/>
          </a:p>
        </p:txBody>
      </p:sp>
      <p:sp>
        <p:nvSpPr>
          <p:cNvPr id="30" name="step-body-4"/>
          <p:cNvSpPr txBox="1"/>
          <p:nvPr/>
        </p:nvSpPr>
        <p:spPr>
          <a:xfrm>
            <a:off x="8225333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社内手順どおりに、運用チームと窓口へ</a:t>
            </a:r>
            <a:endParaRPr lang="en-US" sz="1200" dirty="0"/>
          </a:p>
        </p:txBody>
      </p:sp>
      <p:sp>
        <p:nvSpPr>
          <p:cNvPr id="31" name="step-arrow-4"/>
          <p:cNvSpPr/>
          <p:nvPr/>
        </p:nvSpPr>
        <p:spPr>
          <a:xfrm>
            <a:off x="9879330" y="2587752"/>
            <a:ext cx="109728" cy="27432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32" name="step-5"/>
          <p:cNvSpPr/>
          <p:nvPr/>
        </p:nvSpPr>
        <p:spPr>
          <a:xfrm>
            <a:off x="10053066" y="2267712"/>
            <a:ext cx="1681429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tep-5-head"/>
          <p:cNvSpPr/>
          <p:nvPr/>
        </p:nvSpPr>
        <p:spPr>
          <a:xfrm>
            <a:off x="10053066" y="2267712"/>
            <a:ext cx="1681429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step-5-head-text"/>
          <p:cNvSpPr txBox="1"/>
          <p:nvPr/>
        </p:nvSpPr>
        <p:spPr>
          <a:xfrm>
            <a:off x="10144506" y="2267712"/>
            <a:ext cx="14985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14:05　作成・共有</a:t>
            </a:r>
            <a:endParaRPr lang="en-US" sz="1200" dirty="0"/>
          </a:p>
        </p:txBody>
      </p:sp>
      <p:sp>
        <p:nvSpPr>
          <p:cNvPr id="35" name="step-body-5"/>
          <p:cNvSpPr txBox="1"/>
          <p:nvPr/>
        </p:nvSpPr>
        <p:spPr>
          <a:xfrm>
            <a:off x="10144506" y="2651760"/>
            <a:ext cx="149854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共有されたひな型を複製して作り、共有</a:t>
            </a:r>
            <a:endParaRPr lang="en-US" sz="1200" dirty="0"/>
          </a:p>
        </p:txBody>
      </p:sp>
      <p:sp>
        <p:nvSpPr>
          <p:cNvPr id="36" name="chapter-0"/>
          <p:cNvSpPr/>
          <p:nvPr/>
        </p:nvSpPr>
        <p:spPr>
          <a:xfrm>
            <a:off x="457200" y="3273552"/>
            <a:ext cx="3600602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7" name="chapter-text-0"/>
          <p:cNvSpPr txBox="1"/>
          <p:nvPr/>
        </p:nvSpPr>
        <p:spPr>
          <a:xfrm>
            <a:off x="457200" y="3273552"/>
            <a:ext cx="3600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第1章　状況確認（画面イメージ）</a:t>
            </a:r>
            <a:endParaRPr lang="en-US" sz="1100" dirty="0"/>
          </a:p>
        </p:txBody>
      </p:sp>
      <p:sp>
        <p:nvSpPr>
          <p:cNvPr id="38" name="chapter-1"/>
          <p:cNvSpPr/>
          <p:nvPr/>
        </p:nvSpPr>
        <p:spPr>
          <a:xfrm>
            <a:off x="4295546" y="3273552"/>
            <a:ext cx="5519776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chapter-text-1"/>
          <p:cNvSpPr txBox="1"/>
          <p:nvPr/>
        </p:nvSpPr>
        <p:spPr>
          <a:xfrm>
            <a:off x="4295546" y="3273552"/>
            <a:ext cx="551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第2章　一次確認・連絡（画面イメージ）</a:t>
            </a:r>
            <a:endParaRPr lang="en-US" sz="1100" dirty="0"/>
          </a:p>
        </p:txBody>
      </p:sp>
      <p:sp>
        <p:nvSpPr>
          <p:cNvPr id="40" name="chapter-2"/>
          <p:cNvSpPr/>
          <p:nvPr/>
        </p:nvSpPr>
        <p:spPr>
          <a:xfrm>
            <a:off x="10053066" y="3273552"/>
            <a:ext cx="1681429" cy="365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1" name="chapter-text-2"/>
          <p:cNvSpPr txBox="1"/>
          <p:nvPr/>
        </p:nvSpPr>
        <p:spPr>
          <a:xfrm>
            <a:off x="10053066" y="3273552"/>
            <a:ext cx="16814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第3章（画面イメージ）</a:t>
            </a:r>
            <a:endParaRPr lang="en-US" sz="1100" dirty="0"/>
          </a:p>
        </p:txBody>
      </p:sp>
      <p:sp>
        <p:nvSpPr>
          <p:cNvPr id="42" name="point-0"/>
          <p:cNvSpPr/>
          <p:nvPr/>
        </p:nvSpPr>
        <p:spPr>
          <a:xfrm>
            <a:off x="457200" y="3822192"/>
            <a:ext cx="3637178" cy="1554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point-0-head"/>
          <p:cNvSpPr/>
          <p:nvPr/>
        </p:nvSpPr>
        <p:spPr>
          <a:xfrm>
            <a:off x="457200" y="3822192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4" name="point-0-head-text"/>
          <p:cNvSpPr txBox="1"/>
          <p:nvPr/>
        </p:nvSpPr>
        <p:spPr>
          <a:xfrm>
            <a:off x="548640" y="3822192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①　迷わず、状況を確かめる</a:t>
            </a:r>
            <a:endParaRPr lang="en-US" sz="1200" dirty="0"/>
          </a:p>
        </p:txBody>
      </p:sp>
      <p:sp>
        <p:nvSpPr>
          <p:cNvPr id="45" name="point-body-0"/>
          <p:cNvSpPr txBox="1"/>
          <p:nvPr/>
        </p:nvSpPr>
        <p:spPr>
          <a:xfrm>
            <a:off x="566928" y="4261104"/>
            <a:ext cx="34177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Dockで画面を探し、サービス・時間枠・比較期間をそろえる。長さの違う比較期間は、ガイドが選び直しを案内する</a:t>
            </a:r>
            <a:endParaRPr lang="en-US" sz="1300" dirty="0"/>
          </a:p>
        </p:txBody>
      </p:sp>
      <p:sp>
        <p:nvSpPr>
          <p:cNvPr id="46" name="point-1"/>
          <p:cNvSpPr/>
          <p:nvPr/>
        </p:nvSpPr>
        <p:spPr>
          <a:xfrm>
            <a:off x="4277258" y="3822192"/>
            <a:ext cx="3637178" cy="1554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7" name="point-1-head"/>
          <p:cNvSpPr/>
          <p:nvPr/>
        </p:nvSpPr>
        <p:spPr>
          <a:xfrm>
            <a:off x="4277258" y="3822192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8" name="point-1-head-text"/>
          <p:cNvSpPr txBox="1"/>
          <p:nvPr/>
        </p:nvSpPr>
        <p:spPr>
          <a:xfrm>
            <a:off x="4368698" y="3822192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②　社内手順どおりに、確認・連絡する</a:t>
            </a:r>
            <a:endParaRPr lang="en-US" sz="1200" dirty="0"/>
          </a:p>
        </p:txBody>
      </p:sp>
      <p:sp>
        <p:nvSpPr>
          <p:cNvPr id="49" name="point-body-1"/>
          <p:cNvSpPr txBox="1"/>
          <p:nvPr/>
        </p:nvSpPr>
        <p:spPr>
          <a:xfrm>
            <a:off x="4386986" y="4261104"/>
            <a:ext cx="34177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概要→影響範囲→関連ログ→連絡の順で進める。順番を飛ばすと案内し、優先度の基準を画面に出す</a:t>
            </a:r>
            <a:endParaRPr lang="en-US" sz="1300" dirty="0"/>
          </a:p>
        </p:txBody>
      </p:sp>
      <p:sp>
        <p:nvSpPr>
          <p:cNvPr id="50" name="point-2"/>
          <p:cNvSpPr/>
          <p:nvPr/>
        </p:nvSpPr>
        <p:spPr>
          <a:xfrm>
            <a:off x="8097317" y="3822192"/>
            <a:ext cx="3637178" cy="15544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1" name="point-2-head"/>
          <p:cNvSpPr/>
          <p:nvPr/>
        </p:nvSpPr>
        <p:spPr>
          <a:xfrm>
            <a:off x="8097317" y="3822192"/>
            <a:ext cx="363717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2" name="point-2-head-text"/>
          <p:cNvSpPr txBox="1"/>
          <p:nvPr/>
        </p:nvSpPr>
        <p:spPr>
          <a:xfrm>
            <a:off x="8188757" y="3822192"/>
            <a:ext cx="34542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③　ひな型で作り、確認を受けて共有する</a:t>
            </a:r>
            <a:endParaRPr lang="en-US" sz="1200" dirty="0"/>
          </a:p>
        </p:txBody>
      </p:sp>
      <p:sp>
        <p:nvSpPr>
          <p:cNvPr id="53" name="point-body-2"/>
          <p:cNvSpPr txBox="1"/>
          <p:nvPr/>
        </p:nvSpPr>
        <p:spPr>
          <a:xfrm>
            <a:off x="8207045" y="4261104"/>
            <a:ext cx="341772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専門家が共有したひな型を、ガイドに沿って複製して作る。AI Hubが変える理由を説明し、承認後に共有する</a:t>
            </a:r>
            <a:endParaRPr lang="en-US" sz="1300" dirty="0"/>
          </a:p>
        </p:txBody>
      </p:sp>
      <p:sp>
        <p:nvSpPr>
          <p:cNvPr id="54" name="hypo"/>
          <p:cNvSpPr txBox="1"/>
          <p:nvPr/>
        </p:nvSpPr>
        <p:spPr>
          <a:xfrm>
            <a:off x="457200" y="5504688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デモが置く仮説（確認必要）：月に数回しか使わない人は、画面の探し方・社内手順・ダッシュボードの作成で止まり、専門家に聞いて待つ</a:t>
            </a:r>
            <a:endParaRPr lang="en-US" sz="1300" dirty="0"/>
          </a:p>
        </p:txBody>
      </p:sp>
      <p:sp>
        <p:nvSpPr>
          <p:cNvPr id="55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原因の特定は、このデモの範囲外です（画面上でも「原因はこの段階では確定しない」と扱います）。時刻・数値はデモ用の架空の値です。</a:t>
            </a:r>
            <a:endParaRPr lang="en-US" sz="11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デモ動画の流れと見どころ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運用担当者（架空）が、問い合わせから一次確認・連絡、再発への備えまでを一人で進める。各章の終わりに「伺いたいこと」を出す</a:t>
            </a:r>
            <a:endParaRPr lang="en-US" sz="1300" dirty="0"/>
          </a:p>
        </p:txBody>
      </p:sp>
      <p:sp>
        <p:nvSpPr>
          <p:cNvPr id="6" name="chapter-0"/>
          <p:cNvSpPr/>
          <p:nvPr/>
        </p:nvSpPr>
        <p:spPr>
          <a:xfrm>
            <a:off x="457200" y="2057400"/>
            <a:ext cx="358902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chapter-0-head"/>
          <p:cNvSpPr/>
          <p:nvPr/>
        </p:nvSpPr>
        <p:spPr>
          <a:xfrm>
            <a:off x="457200" y="2057400"/>
            <a:ext cx="358902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chapter-0-head-text"/>
          <p:cNvSpPr txBox="1"/>
          <p:nvPr/>
        </p:nvSpPr>
        <p:spPr>
          <a:xfrm>
            <a:off x="548640" y="2057400"/>
            <a:ext cx="3406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第1章　状況確認</a:t>
            </a:r>
            <a:endParaRPr lang="en-US" sz="1200" dirty="0"/>
          </a:p>
        </p:txBody>
      </p:sp>
      <p:sp>
        <p:nvSpPr>
          <p:cNvPr id="9" name="chapter-time-0"/>
          <p:cNvSpPr txBox="1"/>
          <p:nvPr/>
        </p:nvSpPr>
        <p:spPr>
          <a:xfrm>
            <a:off x="313182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</a:t>
            </a:r>
            <a:endParaRPr lang="en-US" sz="1200" dirty="0"/>
          </a:p>
        </p:txBody>
      </p:sp>
      <p:sp>
        <p:nvSpPr>
          <p:cNvPr id="10" name="chapter-desc-0"/>
          <p:cNvSpPr txBox="1"/>
          <p:nvPr/>
        </p:nvSpPr>
        <p:spPr>
          <a:xfrm>
            <a:off x="566928" y="2514600"/>
            <a:ext cx="3369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ガイド7ステップ。Dockで画面を探し、サービス・時間枠・比較期間をそろえ、悪化した指標を確かめる</a:t>
            </a:r>
            <a:endParaRPr lang="en-US" sz="1300" dirty="0"/>
          </a:p>
        </p:txBody>
      </p:sp>
      <p:sp>
        <p:nvSpPr>
          <p:cNvPr id="11" name="chapter-chip-0"/>
          <p:cNvSpPr/>
          <p:nvPr/>
        </p:nvSpPr>
        <p:spPr>
          <a:xfrm>
            <a:off x="566928" y="3648456"/>
            <a:ext cx="1042416" cy="237744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12" name="chapter-chip-0-text"/>
          <p:cNvSpPr txBox="1"/>
          <p:nvPr/>
        </p:nvSpPr>
        <p:spPr>
          <a:xfrm>
            <a:off x="566928" y="364845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画面イメージ</a:t>
            </a:r>
            <a:endParaRPr lang="en-US" sz="1000" dirty="0"/>
          </a:p>
        </p:txBody>
      </p:sp>
      <p:sp>
        <p:nvSpPr>
          <p:cNvPr id="13" name="chapter-1"/>
          <p:cNvSpPr/>
          <p:nvPr/>
        </p:nvSpPr>
        <p:spPr>
          <a:xfrm>
            <a:off x="4229100" y="2057400"/>
            <a:ext cx="358902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chapter-1-head"/>
          <p:cNvSpPr/>
          <p:nvPr/>
        </p:nvSpPr>
        <p:spPr>
          <a:xfrm>
            <a:off x="4229100" y="2057400"/>
            <a:ext cx="358902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chapter-1-head-text"/>
          <p:cNvSpPr txBox="1"/>
          <p:nvPr/>
        </p:nvSpPr>
        <p:spPr>
          <a:xfrm>
            <a:off x="4320540" y="2057400"/>
            <a:ext cx="3406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第2章　一次確認・連絡</a:t>
            </a:r>
            <a:endParaRPr lang="en-US" sz="1200" dirty="0"/>
          </a:p>
        </p:txBody>
      </p:sp>
      <p:sp>
        <p:nvSpPr>
          <p:cNvPr id="16" name="chapter-time-1"/>
          <p:cNvSpPr txBox="1"/>
          <p:nvPr/>
        </p:nvSpPr>
        <p:spPr>
          <a:xfrm>
            <a:off x="6903720" y="2057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</a:t>
            </a:r>
            <a:endParaRPr lang="en-US" sz="1200" dirty="0"/>
          </a:p>
        </p:txBody>
      </p:sp>
      <p:sp>
        <p:nvSpPr>
          <p:cNvPr id="17" name="chapter-desc-1"/>
          <p:cNvSpPr txBox="1"/>
          <p:nvPr/>
        </p:nvSpPr>
        <p:spPr>
          <a:xfrm>
            <a:off x="4338828" y="2514600"/>
            <a:ext cx="3369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ガイド4ステップ。社内手順の順番で、概要・影響範囲・関連ログを確かめ、優先度「中」で連絡する</a:t>
            </a:r>
            <a:endParaRPr lang="en-US" sz="1300" dirty="0"/>
          </a:p>
        </p:txBody>
      </p:sp>
      <p:sp>
        <p:nvSpPr>
          <p:cNvPr id="18" name="chapter-chip-1"/>
          <p:cNvSpPr/>
          <p:nvPr/>
        </p:nvSpPr>
        <p:spPr>
          <a:xfrm>
            <a:off x="4338828" y="3648456"/>
            <a:ext cx="1042416" cy="237744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19" name="chapter-chip-1-text"/>
          <p:cNvSpPr txBox="1"/>
          <p:nvPr/>
        </p:nvSpPr>
        <p:spPr>
          <a:xfrm>
            <a:off x="4338828" y="364845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画面イメージ</a:t>
            </a:r>
            <a:endParaRPr lang="en-US" sz="1000" dirty="0"/>
          </a:p>
        </p:txBody>
      </p:sp>
      <p:sp>
        <p:nvSpPr>
          <p:cNvPr id="20" name="chapter-2"/>
          <p:cNvSpPr/>
          <p:nvPr/>
        </p:nvSpPr>
        <p:spPr>
          <a:xfrm>
            <a:off x="457200" y="4160520"/>
            <a:ext cx="358902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chapter-2-head"/>
          <p:cNvSpPr/>
          <p:nvPr/>
        </p:nvSpPr>
        <p:spPr>
          <a:xfrm>
            <a:off x="457200" y="4160520"/>
            <a:ext cx="358902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chapter-2-head-text"/>
          <p:cNvSpPr txBox="1"/>
          <p:nvPr/>
        </p:nvSpPr>
        <p:spPr>
          <a:xfrm>
            <a:off x="548640" y="4160520"/>
            <a:ext cx="3406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第3章　再発に備える</a:t>
            </a:r>
            <a:endParaRPr lang="en-US" sz="1200" dirty="0"/>
          </a:p>
        </p:txBody>
      </p:sp>
      <p:sp>
        <p:nvSpPr>
          <p:cNvPr id="23" name="chapter-time-2"/>
          <p:cNvSpPr txBox="1"/>
          <p:nvPr/>
        </p:nvSpPr>
        <p:spPr>
          <a:xfrm>
            <a:off x="313182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約1分</a:t>
            </a:r>
            <a:endParaRPr lang="en-US" sz="1200" dirty="0"/>
          </a:p>
        </p:txBody>
      </p:sp>
      <p:sp>
        <p:nvSpPr>
          <p:cNvPr id="24" name="chapter-desc-2"/>
          <p:cNvSpPr txBox="1"/>
          <p:nvPr/>
        </p:nvSpPr>
        <p:spPr>
          <a:xfrm>
            <a:off x="566928" y="4617720"/>
            <a:ext cx="3369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ガイド8ステップ。共有されたひな型を複製して作り、専門家の確認を受けて運用チームに共有する</a:t>
            </a:r>
            <a:endParaRPr lang="en-US" sz="1300" dirty="0"/>
          </a:p>
        </p:txBody>
      </p:sp>
      <p:sp>
        <p:nvSpPr>
          <p:cNvPr id="25" name="chapter-chip-2"/>
          <p:cNvSpPr/>
          <p:nvPr/>
        </p:nvSpPr>
        <p:spPr>
          <a:xfrm>
            <a:off x="566928" y="5751576"/>
            <a:ext cx="1042416" cy="237744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26" name="chapter-chip-2-text"/>
          <p:cNvSpPr txBox="1"/>
          <p:nvPr/>
        </p:nvSpPr>
        <p:spPr>
          <a:xfrm>
            <a:off x="566928" y="57515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画面イメージ</a:t>
            </a:r>
            <a:endParaRPr lang="en-US" sz="1000" dirty="0"/>
          </a:p>
        </p:txBody>
      </p:sp>
      <p:sp>
        <p:nvSpPr>
          <p:cNvPr id="27" name="chapter-3"/>
          <p:cNvSpPr/>
          <p:nvPr/>
        </p:nvSpPr>
        <p:spPr>
          <a:xfrm>
            <a:off x="4229100" y="4160520"/>
            <a:ext cx="3589020" cy="19385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chapter-3-head"/>
          <p:cNvSpPr/>
          <p:nvPr/>
        </p:nvSpPr>
        <p:spPr>
          <a:xfrm>
            <a:off x="4229100" y="4160520"/>
            <a:ext cx="358902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chapter-3-head-text"/>
          <p:cNvSpPr txBox="1"/>
          <p:nvPr/>
        </p:nvSpPr>
        <p:spPr>
          <a:xfrm>
            <a:off x="4320540" y="4160520"/>
            <a:ext cx="34061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振り返り</a:t>
            </a:r>
            <a:endParaRPr lang="en-US" sz="1200" dirty="0"/>
          </a:p>
        </p:txBody>
      </p:sp>
      <p:sp>
        <p:nvSpPr>
          <p:cNvPr id="30" name="chapter-time-3"/>
          <p:cNvSpPr txBox="1"/>
          <p:nvPr/>
        </p:nvSpPr>
        <p:spPr>
          <a:xfrm>
            <a:off x="6903720" y="4160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約20秒</a:t>
            </a:r>
            <a:endParaRPr lang="en-US" sz="1200" dirty="0"/>
          </a:p>
        </p:txBody>
      </p:sp>
      <p:sp>
        <p:nvSpPr>
          <p:cNvPr id="31" name="chapter-desc-3"/>
          <p:cNvSpPr txBox="1"/>
          <p:nvPr/>
        </p:nvSpPr>
        <p:spPr>
          <a:xfrm>
            <a:off x="4338828" y="4617720"/>
            <a:ext cx="3369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今日の流れ、手当てした場面、確かめ方、最初の一歩をまとめる</a:t>
            </a:r>
            <a:endParaRPr lang="en-US" sz="1300" dirty="0"/>
          </a:p>
        </p:txBody>
      </p:sp>
      <p:sp>
        <p:nvSpPr>
          <p:cNvPr id="32" name="legend"/>
          <p:cNvSpPr/>
          <p:nvPr/>
        </p:nvSpPr>
        <p:spPr>
          <a:xfrm>
            <a:off x="8046720" y="2057400"/>
            <a:ext cx="3687775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legend-head"/>
          <p:cNvSpPr/>
          <p:nvPr/>
        </p:nvSpPr>
        <p:spPr>
          <a:xfrm>
            <a:off x="8046720" y="2057400"/>
            <a:ext cx="368777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legend-head-text"/>
          <p:cNvSpPr txBox="1"/>
          <p:nvPr/>
        </p:nvSpPr>
        <p:spPr>
          <a:xfrm>
            <a:off x="8138160" y="2057400"/>
            <a:ext cx="3504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画面の見分け方</a:t>
            </a:r>
            <a:endParaRPr lang="en-US" sz="1200" dirty="0"/>
          </a:p>
        </p:txBody>
      </p:sp>
      <p:sp>
        <p:nvSpPr>
          <p:cNvPr id="35" name="legend-mark-0"/>
          <p:cNvSpPr/>
          <p:nvPr/>
        </p:nvSpPr>
        <p:spPr>
          <a:xfrm>
            <a:off x="8229600" y="2560320"/>
            <a:ext cx="411480" cy="411480"/>
          </a:xfrm>
          <a:prstGeom prst="rect">
            <a:avLst/>
          </a:prstGeom>
          <a:solidFill>
            <a:srgbClr val="8A96A6"/>
          </a:solidFill>
          <a:ln/>
        </p:spPr>
      </p:sp>
      <p:sp>
        <p:nvSpPr>
          <p:cNvPr id="36" name="legend-name-0"/>
          <p:cNvSpPr txBox="1"/>
          <p:nvPr/>
        </p:nvSpPr>
        <p:spPr>
          <a:xfrm>
            <a:off x="8823960" y="2542032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画面イメージ</a:t>
            </a:r>
            <a:endParaRPr lang="en-US" sz="1400" dirty="0"/>
          </a:p>
        </p:txBody>
      </p:sp>
      <p:sp>
        <p:nvSpPr>
          <p:cNvPr id="37" name="legend-desc-0"/>
          <p:cNvSpPr txBox="1"/>
          <p:nvPr/>
        </p:nvSpPr>
        <p:spPr>
          <a:xfrm>
            <a:off x="8823960" y="2852928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Dynatraceの公式デザインに合わせた架空の画面（全章）</a:t>
            </a:r>
            <a:endParaRPr lang="en-US" sz="1200" dirty="0"/>
          </a:p>
        </p:txBody>
      </p:sp>
      <p:sp>
        <p:nvSpPr>
          <p:cNvPr id="38" name="legend-mark-1"/>
          <p:cNvSpPr/>
          <p:nvPr/>
        </p:nvSpPr>
        <p:spPr>
          <a:xfrm>
            <a:off x="8229600" y="3584448"/>
            <a:ext cx="411480" cy="411480"/>
          </a:xfrm>
          <a:prstGeom prst="rect">
            <a:avLst/>
          </a:prstGeom>
          <a:solidFill>
            <a:srgbClr val="0B7FB5"/>
          </a:solidFill>
          <a:ln/>
        </p:spPr>
      </p:sp>
      <p:sp>
        <p:nvSpPr>
          <p:cNvPr id="39" name="legend-name-1"/>
          <p:cNvSpPr txBox="1"/>
          <p:nvPr/>
        </p:nvSpPr>
        <p:spPr>
          <a:xfrm>
            <a:off x="8823960" y="3566160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青の吹き出し</a:t>
            </a:r>
            <a:endParaRPr lang="en-US" sz="1400" dirty="0"/>
          </a:p>
        </p:txBody>
      </p:sp>
      <p:sp>
        <p:nvSpPr>
          <p:cNvPr id="40" name="legend-desc-1"/>
          <p:cNvSpPr txBox="1"/>
          <p:nvPr/>
        </p:nvSpPr>
        <p:spPr>
          <a:xfrm>
            <a:off x="8823960" y="3877056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テックタッチのガイド（案）</a:t>
            </a:r>
            <a:endParaRPr lang="en-US" sz="1200" dirty="0"/>
          </a:p>
        </p:txBody>
      </p:sp>
      <p:sp>
        <p:nvSpPr>
          <p:cNvPr id="41" name="legend-mark-2"/>
          <p:cNvSpPr/>
          <p:nvPr/>
        </p:nvSpPr>
        <p:spPr>
          <a:xfrm>
            <a:off x="8229600" y="4608576"/>
            <a:ext cx="411480" cy="411480"/>
          </a:xfrm>
          <a:prstGeom prst="rect">
            <a:avLst/>
          </a:prstGeom>
          <a:solidFill>
            <a:srgbClr val="6A4C9C"/>
          </a:solidFill>
          <a:ln/>
        </p:spPr>
      </p:sp>
      <p:sp>
        <p:nvSpPr>
          <p:cNvPr id="42" name="legend-name-2"/>
          <p:cNvSpPr txBox="1"/>
          <p:nvPr/>
        </p:nvSpPr>
        <p:spPr>
          <a:xfrm>
            <a:off x="8823960" y="4590288"/>
            <a:ext cx="2773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紫の欄</a:t>
            </a:r>
            <a:endParaRPr lang="en-US" sz="1400" dirty="0"/>
          </a:p>
        </p:txBody>
      </p:sp>
      <p:sp>
        <p:nvSpPr>
          <p:cNvPr id="43" name="legend-desc-2"/>
          <p:cNvSpPr txBox="1"/>
          <p:nvPr/>
        </p:nvSpPr>
        <p:spPr>
          <a:xfrm>
            <a:off x="8823960" y="4901184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Hub（構想・例文）</a:t>
            </a:r>
            <a:endParaRPr lang="en-US" sz="1200" dirty="0"/>
          </a:p>
        </p:txBody>
      </p:sp>
      <p:sp>
        <p:nvSpPr>
          <p:cNvPr id="44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画面上には「構想デモ｜画面・サービス名・手順・数値は架空」の注記を常に表示しています。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デモの前に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ご覧いただく前に</a:t>
            </a:r>
            <a:endParaRPr lang="en-US" sz="2200" dirty="0"/>
          </a:p>
        </p:txBody>
      </p:sp>
      <p:sp>
        <p:nvSpPr>
          <p:cNvPr id="4" name="band"/>
          <p:cNvSpPr/>
          <p:nvPr/>
        </p:nvSpPr>
        <p:spPr>
          <a:xfrm>
            <a:off x="457200" y="1097280"/>
            <a:ext cx="11277295" cy="7315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band-text"/>
          <p:cNvSpPr txBox="1"/>
          <p:nvPr/>
        </p:nvSpPr>
        <p:spPr>
          <a:xfrm>
            <a:off x="594360" y="10972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人物・手順・数値は架空です。デモ動画の中で、右の問いを御社に当てはめてご覧ください</a:t>
            </a:r>
            <a:endParaRPr lang="en-US" sz="1300" dirty="0"/>
          </a:p>
        </p:txBody>
      </p:sp>
      <p:sp>
        <p:nvSpPr>
          <p:cNvPr id="6" name="premise"/>
          <p:cNvSpPr/>
          <p:nvPr/>
        </p:nvSpPr>
        <p:spPr>
          <a:xfrm>
            <a:off x="457200" y="2057400"/>
            <a:ext cx="5394960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premise-head"/>
          <p:cNvSpPr/>
          <p:nvPr/>
        </p:nvSpPr>
        <p:spPr>
          <a:xfrm>
            <a:off x="457200" y="2057400"/>
            <a:ext cx="539496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premise-head-text"/>
          <p:cNvSpPr txBox="1"/>
          <p:nvPr/>
        </p:nvSpPr>
        <p:spPr>
          <a:xfrm>
            <a:off x="548640" y="205740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デモの前提</a:t>
            </a:r>
            <a:endParaRPr lang="en-US" sz="1200" dirty="0"/>
          </a:p>
        </p:txBody>
      </p:sp>
      <p:sp>
        <p:nvSpPr>
          <p:cNvPr id="9" name="premise-head-0"/>
          <p:cNvSpPr txBox="1"/>
          <p:nvPr/>
        </p:nvSpPr>
        <p:spPr>
          <a:xfrm>
            <a:off x="621792" y="2487168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画面はイメージ</a:t>
            </a:r>
            <a:endParaRPr lang="en-US" sz="1300" dirty="0"/>
          </a:p>
        </p:txBody>
      </p:sp>
      <p:sp>
        <p:nvSpPr>
          <p:cNvPr id="10" name="premise-body-0"/>
          <p:cNvSpPr txBox="1"/>
          <p:nvPr/>
        </p:nvSpPr>
        <p:spPr>
          <a:xfrm>
            <a:off x="621792" y="276148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Dynatraceの公式デザインに合わせた画面で、実画面ではありません</a:t>
            </a:r>
            <a:endParaRPr lang="en-US" sz="1200" dirty="0"/>
          </a:p>
        </p:txBody>
      </p:sp>
      <p:sp>
        <p:nvSpPr>
          <p:cNvPr id="11" name="premise-sep-1"/>
          <p:cNvSpPr/>
          <p:nvPr/>
        </p:nvSpPr>
        <p:spPr>
          <a:xfrm>
            <a:off x="594360" y="3127248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premise-head-1"/>
          <p:cNvSpPr txBox="1"/>
          <p:nvPr/>
        </p:nvSpPr>
        <p:spPr>
          <a:xfrm>
            <a:off x="621792" y="320040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架空のシナリオ</a:t>
            </a:r>
            <a:endParaRPr lang="en-US" sz="1300" dirty="0"/>
          </a:p>
        </p:txBody>
      </p:sp>
      <p:sp>
        <p:nvSpPr>
          <p:cNvPr id="13" name="premise-body-1"/>
          <p:cNvSpPr txBox="1"/>
          <p:nvPr/>
        </p:nvSpPr>
        <p:spPr>
          <a:xfrm>
            <a:off x="621792" y="3474720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特定の企業や事案を題材にしていません</a:t>
            </a:r>
            <a:endParaRPr lang="en-US" sz="1200" dirty="0"/>
          </a:p>
        </p:txBody>
      </p:sp>
      <p:sp>
        <p:nvSpPr>
          <p:cNvPr id="14" name="premise-sep-2"/>
          <p:cNvSpPr/>
          <p:nvPr/>
        </p:nvSpPr>
        <p:spPr>
          <a:xfrm>
            <a:off x="594360" y="3840480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premise-head-2"/>
          <p:cNvSpPr txBox="1"/>
          <p:nvPr/>
        </p:nvSpPr>
        <p:spPr>
          <a:xfrm>
            <a:off x="621792" y="3913632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Hubは構想</a:t>
            </a:r>
            <a:endParaRPr lang="en-US" sz="1300" dirty="0"/>
          </a:p>
        </p:txBody>
      </p:sp>
      <p:sp>
        <p:nvSpPr>
          <p:cNvPr id="16" name="premise-body-2"/>
          <p:cNvSpPr txBox="1"/>
          <p:nvPr/>
        </p:nvSpPr>
        <p:spPr>
          <a:xfrm>
            <a:off x="621792" y="4187952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回答は、事前に用意した例文です</a:t>
            </a:r>
            <a:endParaRPr lang="en-US" sz="1200" dirty="0"/>
          </a:p>
        </p:txBody>
      </p:sp>
      <p:sp>
        <p:nvSpPr>
          <p:cNvPr id="17" name="premise-sep-3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premise-head-3"/>
          <p:cNvSpPr txBox="1"/>
          <p:nvPr/>
        </p:nvSpPr>
        <p:spPr>
          <a:xfrm>
            <a:off x="621792" y="4626864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ガイドは案</a:t>
            </a:r>
            <a:endParaRPr lang="en-US" sz="1300" dirty="0"/>
          </a:p>
        </p:txBody>
      </p:sp>
      <p:sp>
        <p:nvSpPr>
          <p:cNvPr id="19" name="premise-body-3"/>
          <p:cNvSpPr txBox="1"/>
          <p:nvPr/>
        </p:nvSpPr>
        <p:spPr>
          <a:xfrm>
            <a:off x="621792" y="4901184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「ひな型から作る」流れもガイドの案です。御社の手順で作ります</a:t>
            </a:r>
            <a:endParaRPr lang="en-US" sz="1200" dirty="0"/>
          </a:p>
        </p:txBody>
      </p:sp>
      <p:sp>
        <p:nvSpPr>
          <p:cNvPr id="20" name="premise-sep-4"/>
          <p:cNvSpPr/>
          <p:nvPr/>
        </p:nvSpPr>
        <p:spPr>
          <a:xfrm>
            <a:off x="594360" y="5266944"/>
            <a:ext cx="5120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premise-head-4"/>
          <p:cNvSpPr txBox="1"/>
          <p:nvPr/>
        </p:nvSpPr>
        <p:spPr>
          <a:xfrm>
            <a:off x="621792" y="534009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数値の約束はしない</a:t>
            </a:r>
            <a:endParaRPr lang="en-US" sz="1300" dirty="0"/>
          </a:p>
        </p:txBody>
      </p:sp>
      <p:sp>
        <p:nvSpPr>
          <p:cNvPr id="22" name="premise-body-4"/>
          <p:cNvSpPr txBox="1"/>
          <p:nvPr/>
        </p:nvSpPr>
        <p:spPr>
          <a:xfrm>
            <a:off x="621792" y="5614416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効果は、自力完了率などの4つの指標で確かめます</a:t>
            </a:r>
            <a:endParaRPr lang="en-US" sz="1200" dirty="0"/>
          </a:p>
        </p:txBody>
      </p:sp>
      <p:sp>
        <p:nvSpPr>
          <p:cNvPr id="23" name="questions"/>
          <p:cNvSpPr/>
          <p:nvPr/>
        </p:nvSpPr>
        <p:spPr>
          <a:xfrm>
            <a:off x="6080760" y="2057400"/>
            <a:ext cx="5653735" cy="404164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questions-head"/>
          <p:cNvSpPr/>
          <p:nvPr/>
        </p:nvSpPr>
        <p:spPr>
          <a:xfrm>
            <a:off x="6080760" y="2057400"/>
            <a:ext cx="5653735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questions-head-text"/>
          <p:cNvSpPr txBox="1"/>
          <p:nvPr/>
        </p:nvSpPr>
        <p:spPr>
          <a:xfrm>
            <a:off x="6172200" y="2057400"/>
            <a:ext cx="5470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デモの中で考えていただきたい問い</a:t>
            </a:r>
            <a:endParaRPr lang="en-US" sz="1200" dirty="0"/>
          </a:p>
        </p:txBody>
      </p:sp>
      <p:sp>
        <p:nvSpPr>
          <p:cNvPr id="26" name="q-num-bg-0"/>
          <p:cNvSpPr/>
          <p:nvPr/>
        </p:nvSpPr>
        <p:spPr>
          <a:xfrm>
            <a:off x="6245352" y="2523744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q-num-0"/>
          <p:cNvSpPr txBox="1"/>
          <p:nvPr/>
        </p:nvSpPr>
        <p:spPr>
          <a:xfrm>
            <a:off x="6245352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28" name="q-text-0"/>
          <p:cNvSpPr txBox="1"/>
          <p:nvPr/>
        </p:nvSpPr>
        <p:spPr>
          <a:xfrm>
            <a:off x="6922008" y="2523744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画面の探し方、絞り込み、時間帯の指定のどこで迷いますか</a:t>
            </a:r>
            <a:endParaRPr lang="en-US" sz="1300" dirty="0"/>
          </a:p>
        </p:txBody>
      </p:sp>
      <p:sp>
        <p:nvSpPr>
          <p:cNvPr id="29" name="q-num-bg-1"/>
          <p:cNvSpPr/>
          <p:nvPr/>
        </p:nvSpPr>
        <p:spPr>
          <a:xfrm>
            <a:off x="6245352" y="3236976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q-num-1"/>
          <p:cNvSpPr txBox="1"/>
          <p:nvPr/>
        </p:nvSpPr>
        <p:spPr>
          <a:xfrm>
            <a:off x="6245352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31" name="q-text-1"/>
          <p:cNvSpPr txBox="1"/>
          <p:nvPr/>
        </p:nvSpPr>
        <p:spPr>
          <a:xfrm>
            <a:off x="6922008" y="3236976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障害時の一次確認で、人によって手順がばらつくのはどこですか</a:t>
            </a:r>
            <a:endParaRPr lang="en-US" sz="1300" dirty="0"/>
          </a:p>
        </p:txBody>
      </p:sp>
      <p:sp>
        <p:nvSpPr>
          <p:cNvPr id="32" name="q-num-bg-2"/>
          <p:cNvSpPr/>
          <p:nvPr/>
        </p:nvSpPr>
        <p:spPr>
          <a:xfrm>
            <a:off x="6245352" y="3950208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q-num-2"/>
          <p:cNvSpPr txBox="1"/>
          <p:nvPr/>
        </p:nvSpPr>
        <p:spPr>
          <a:xfrm>
            <a:off x="6245352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34" name="q-text-2"/>
          <p:cNvSpPr txBox="1"/>
          <p:nvPr/>
        </p:nvSpPr>
        <p:spPr>
          <a:xfrm>
            <a:off x="6922008" y="3950208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ひな型選択、条件の変更、結果の検証のどこで依頼しますか</a:t>
            </a:r>
            <a:endParaRPr lang="en-US" sz="1300" dirty="0"/>
          </a:p>
        </p:txBody>
      </p:sp>
      <p:sp>
        <p:nvSpPr>
          <p:cNvPr id="35" name="q-num-bg-3"/>
          <p:cNvSpPr/>
          <p:nvPr/>
        </p:nvSpPr>
        <p:spPr>
          <a:xfrm>
            <a:off x="6245352" y="4663440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q-num-3"/>
          <p:cNvSpPr txBox="1"/>
          <p:nvPr/>
        </p:nvSpPr>
        <p:spPr>
          <a:xfrm>
            <a:off x="6245352" y="4663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Q4</a:t>
            </a:r>
            <a:endParaRPr lang="en-US" sz="1300" dirty="0"/>
          </a:p>
        </p:txBody>
      </p:sp>
      <p:sp>
        <p:nvSpPr>
          <p:cNvPr id="37" name="q-text-3"/>
          <p:cNvSpPr txBox="1"/>
          <p:nvPr/>
        </p:nvSpPr>
        <p:spPr>
          <a:xfrm>
            <a:off x="6922008" y="4663440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迷ったとき、今は誰に聞いていますか</a:t>
            </a:r>
            <a:endParaRPr lang="en-US" sz="1300" dirty="0"/>
          </a:p>
        </p:txBody>
      </p:sp>
      <p:sp>
        <p:nvSpPr>
          <p:cNvPr id="38" name="q-num-bg-4"/>
          <p:cNvSpPr/>
          <p:nvPr/>
        </p:nvSpPr>
        <p:spPr>
          <a:xfrm>
            <a:off x="6245352" y="5376672"/>
            <a:ext cx="548640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q-num-4"/>
          <p:cNvSpPr txBox="1"/>
          <p:nvPr/>
        </p:nvSpPr>
        <p:spPr>
          <a:xfrm>
            <a:off x="6245352" y="5376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40" name="q-text-4"/>
          <p:cNvSpPr txBox="1"/>
          <p:nvPr/>
        </p:nvSpPr>
        <p:spPr>
          <a:xfrm>
            <a:off x="6922008" y="5376672"/>
            <a:ext cx="4647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「自分でできた」と判断する基準はありますか</a:t>
            </a:r>
            <a:endParaRPr lang="en-US" sz="1300" dirty="0"/>
          </a:p>
        </p:txBody>
      </p:sp>
      <p:sp>
        <p:nvSpPr>
          <p:cNvPr id="41" name="footnote"/>
          <p:cNvSpPr txBox="1"/>
          <p:nvPr/>
        </p:nvSpPr>
        <p:spPr>
          <a:xfrm>
            <a:off x="457200" y="6327648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答えにくい問いが、デモで一緒に確かめたいところです。章の終わりごとに伺います。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touch">
  <a:themeElements>
    <a:clrScheme name="Techtouch">
      <a:dk1>
        <a:srgbClr val="1F2A37"/>
      </a:dk1>
      <a:lt1>
        <a:srgbClr val="FFFFFF"/>
      </a:lt1>
      <a:dk2>
        <a:srgbClr val="055BB8"/>
      </a:dk2>
      <a:lt2>
        <a:srgbClr val="F0F3F6"/>
      </a:lt2>
      <a:accent1>
        <a:srgbClr val="055BB8"/>
      </a:accent1>
      <a:accent2>
        <a:srgbClr val="0876E8"/>
      </a:accent2>
      <a:accent3>
        <a:srgbClr val="EEF7FD"/>
      </a:accent3>
      <a:accent4>
        <a:srgbClr val="C86A00"/>
      </a:accent4>
      <a:accent5>
        <a:srgbClr val="596573"/>
      </a:accent5>
      <a:accent6>
        <a:srgbClr val="D6DDE5"/>
      </a:accent6>
      <a:hlink>
        <a:srgbClr val="0876E8"/>
      </a:hlink>
      <a:folHlink>
        <a:srgbClr val="4A90E2"/>
      </a:folHlink>
    </a:clrScheme>
    <a:fontScheme name="Techtouch">
      <a:majorFont>
        <a:latin typeface="Yu Gothic"/>
        <a:ea typeface="Yu Gothic"/>
        <a:cs typeface=""/>
        <a:font script="Jpan" typeface="Yu 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テックタッチ株式会社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Dynatrace 運用担当者の一日 デモのご説明</dc:title>
  <dc:subject>Dynatrace × テックタッチ（DAP＋AI Hub）構想デモの説明</dc:subject>
  <dc:creator>テックタッチ</dc:creator>
  <cp:lastModifiedBy>テックタッチ</cp:lastModifiedBy>
  <cp:revision>1</cp:revision>
  <dcterms:created xsi:type="dcterms:W3CDTF">2026-10-22T04:08:39Z</dcterms:created>
  <dcterms:modified xsi:type="dcterms:W3CDTF">2026-10-22T04:08:39Z</dcterms:modified>
</cp:coreProperties>
</file>