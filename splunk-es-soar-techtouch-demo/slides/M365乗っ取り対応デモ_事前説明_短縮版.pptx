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デモの前に、3枚で前提をご説明します。架空のA社を舞台にした、一般的なSOC事案の型のシナリオです。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製品を足す提案ではありません。入っているES・UEBA・SOARを、社内の人が判断・承認・記録まで使い切る提案です。入口のフィッシングを防ぐ話はしません。委託先の仕事を取り上げる話でもありません。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各場面の終わりに「伺いたいこと」を一つ出します。時間が限られる場合は、S1・S5・S6を中心に短くできます。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デモの前提です。画面はイメージで、実画面ではありません。数字や人物はすべて架空です。デモの中で、この5つの問いを御社に当てはめてご覧ください。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057400"/>
            <a:ext cx="38404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4160520"/>
            <a:ext cx="3840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4" name="Text 0"/>
          <p:cNvSpPr/>
          <p:nvPr/>
        </p:nvSpPr>
        <p:spPr>
          <a:xfrm>
            <a:off x="8534095" y="201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架空のシナリオ・イメージデモ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0574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M365アカウント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乗っ取り対応デモ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のご説明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41605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Splunk ES＋UEBA＋SOAR ×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テックタッチ（DAP＋AI Hub）</a:t>
            </a:r>
            <a:endParaRPr lang="en-US" sz="1300" dirty="0"/>
          </a:p>
        </p:txBody>
      </p:sp>
      <p:sp>
        <p:nvSpPr>
          <p:cNvPr id="4" name="headline"/>
          <p:cNvSpPr txBox="1"/>
          <p:nvPr/>
        </p:nvSpPr>
        <p:spPr>
          <a:xfrm>
            <a:off x="5257800" y="2240280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入っているSplunkを、社内の人が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判断・承認・記録まで使い切る</a:t>
            </a:r>
            <a:endParaRPr lang="en-US" sz="2200" dirty="0"/>
          </a:p>
        </p:txBody>
      </p:sp>
      <p:sp>
        <p:nvSpPr>
          <p:cNvPr id="5" name="headline-points"/>
          <p:cNvSpPr txBox="1"/>
          <p:nvPr/>
        </p:nvSpPr>
        <p:spPr>
          <a:xfrm>
            <a:off x="5257800" y="342900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架空のA社を舞台にした、一般的なSOC事案の型（M365アカウントの乗っ取り）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デモは9場面（36分）＋振り返り（1分）</a:t>
            </a:r>
            <a:endParaRPr lang="en-US" sz="1500" dirty="0"/>
          </a:p>
        </p:txBody>
      </p:sp>
      <p:sp>
        <p:nvSpPr>
          <p:cNvPr id="6" name="meta"/>
          <p:cNvSpPr txBox="1"/>
          <p:nvPr/>
        </p:nvSpPr>
        <p:spPr>
          <a:xfrm>
            <a:off x="5257800" y="502920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テックタッチ株式会社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2026年10月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架空のシナリオ・イメージデモです。特定の企業や事案を題材にしたものではありません。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デモの前に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このデモでお見せすること</a:t>
            </a:r>
            <a:endParaRPr lang="en-US" sz="2200" dirty="0"/>
          </a:p>
        </p:txBody>
      </p:sp>
      <p:sp>
        <p:nvSpPr>
          <p:cNvPr id="4" name="band"/>
          <p:cNvSpPr/>
          <p:nvPr/>
        </p:nvSpPr>
        <p:spPr>
          <a:xfrm>
            <a:off x="457200" y="1097280"/>
            <a:ext cx="11277295" cy="7315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band-text"/>
          <p:cNvSpPr txBox="1"/>
          <p:nvPr/>
        </p:nvSpPr>
        <p:spPr>
          <a:xfrm>
            <a:off x="594360" y="109728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製品を足す話ではない。入っているES・UEBA・SOARを、社内の人がノータブルの後の判断・承認・記録まで使い切る姿を見せる</a:t>
            </a:r>
            <a:endParaRPr lang="en-US" sz="1300" dirty="0"/>
          </a:p>
        </p:txBody>
      </p:sp>
      <p:sp>
        <p:nvSpPr>
          <p:cNvPr id="6" name="theme-head"/>
          <p:cNvSpPr txBox="1"/>
          <p:nvPr/>
        </p:nvSpPr>
        <p:spPr>
          <a:xfrm>
            <a:off x="457200" y="193852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題材：M365アカウントの乗っ取り（架空のA社）</a:t>
            </a:r>
            <a:endParaRPr lang="en-US" sz="1300" dirty="0"/>
          </a:p>
        </p:txBody>
      </p:sp>
      <p:sp>
        <p:nvSpPr>
          <p:cNvPr id="7" name="step-0"/>
          <p:cNvSpPr/>
          <p:nvPr/>
        </p:nvSpPr>
        <p:spPr>
          <a:xfrm>
            <a:off x="457200" y="2267712"/>
            <a:ext cx="1681429" cy="8229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step-0-head"/>
          <p:cNvSpPr/>
          <p:nvPr/>
        </p:nvSpPr>
        <p:spPr>
          <a:xfrm>
            <a:off x="457200" y="2267712"/>
            <a:ext cx="1681429" cy="347472"/>
          </a:xfrm>
          <a:prstGeom prst="rect">
            <a:avLst/>
          </a:prstGeom>
          <a:solidFill>
            <a:srgbClr val="8A96A6"/>
          </a:solidFill>
          <a:ln/>
        </p:spPr>
      </p:sp>
      <p:sp>
        <p:nvSpPr>
          <p:cNvPr id="9" name="step-0-head-text"/>
          <p:cNvSpPr txBox="1"/>
          <p:nvPr/>
        </p:nvSpPr>
        <p:spPr>
          <a:xfrm>
            <a:off x="548640" y="2267712"/>
            <a:ext cx="14985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① フィッシング</a:t>
            </a:r>
            <a:endParaRPr lang="en-US" sz="1200" dirty="0"/>
          </a:p>
        </p:txBody>
      </p:sp>
      <p:sp>
        <p:nvSpPr>
          <p:cNvPr id="10" name="step-body-0"/>
          <p:cNvSpPr txBox="1"/>
          <p:nvPr/>
        </p:nvSpPr>
        <p:spPr>
          <a:xfrm>
            <a:off x="548640" y="2651760"/>
            <a:ext cx="14985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取引先を装ったリンク</a:t>
            </a:r>
            <a:endParaRPr lang="en-US" sz="1200" dirty="0"/>
          </a:p>
        </p:txBody>
      </p:sp>
      <p:sp>
        <p:nvSpPr>
          <p:cNvPr id="11" name="step-arrow-0"/>
          <p:cNvSpPr/>
          <p:nvPr/>
        </p:nvSpPr>
        <p:spPr>
          <a:xfrm>
            <a:off x="2202637" y="2542032"/>
            <a:ext cx="109728" cy="274320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12" name="step-1"/>
          <p:cNvSpPr/>
          <p:nvPr/>
        </p:nvSpPr>
        <p:spPr>
          <a:xfrm>
            <a:off x="2376373" y="2267712"/>
            <a:ext cx="1681429" cy="8229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step-1-head"/>
          <p:cNvSpPr/>
          <p:nvPr/>
        </p:nvSpPr>
        <p:spPr>
          <a:xfrm>
            <a:off x="2376373" y="2267712"/>
            <a:ext cx="1681429" cy="347472"/>
          </a:xfrm>
          <a:prstGeom prst="rect">
            <a:avLst/>
          </a:prstGeom>
          <a:solidFill>
            <a:srgbClr val="8A96A6"/>
          </a:solidFill>
          <a:ln/>
        </p:spPr>
      </p:sp>
      <p:sp>
        <p:nvSpPr>
          <p:cNvPr id="14" name="step-1-head-text"/>
          <p:cNvSpPr txBox="1"/>
          <p:nvPr/>
        </p:nvSpPr>
        <p:spPr>
          <a:xfrm>
            <a:off x="2467813" y="2267712"/>
            <a:ext cx="14985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② セッション奪取</a:t>
            </a:r>
            <a:endParaRPr lang="en-US" sz="1200" dirty="0"/>
          </a:p>
        </p:txBody>
      </p:sp>
      <p:sp>
        <p:nvSpPr>
          <p:cNvPr id="15" name="step-body-1"/>
          <p:cNvSpPr txBox="1"/>
          <p:nvPr/>
        </p:nvSpPr>
        <p:spPr>
          <a:xfrm>
            <a:off x="2467813" y="2651760"/>
            <a:ext cx="14985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AiTM型の想定</a:t>
            </a:r>
            <a:endParaRPr lang="en-US" sz="1200" dirty="0"/>
          </a:p>
        </p:txBody>
      </p:sp>
      <p:sp>
        <p:nvSpPr>
          <p:cNvPr id="16" name="step-arrow-1"/>
          <p:cNvSpPr/>
          <p:nvPr/>
        </p:nvSpPr>
        <p:spPr>
          <a:xfrm>
            <a:off x="4121810" y="2542032"/>
            <a:ext cx="109728" cy="274320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17" name="step-2"/>
          <p:cNvSpPr/>
          <p:nvPr/>
        </p:nvSpPr>
        <p:spPr>
          <a:xfrm>
            <a:off x="4295546" y="2267712"/>
            <a:ext cx="1681429" cy="8229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step-2-head"/>
          <p:cNvSpPr/>
          <p:nvPr/>
        </p:nvSpPr>
        <p:spPr>
          <a:xfrm>
            <a:off x="4295546" y="2267712"/>
            <a:ext cx="1681429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9" name="step-2-head-text"/>
          <p:cNvSpPr txBox="1"/>
          <p:nvPr/>
        </p:nvSpPr>
        <p:spPr>
          <a:xfrm>
            <a:off x="4386986" y="2267712"/>
            <a:ext cx="14985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③ 不審なサインイン</a:t>
            </a:r>
            <a:endParaRPr lang="en-US" sz="1200" dirty="0"/>
          </a:p>
        </p:txBody>
      </p:sp>
      <p:sp>
        <p:nvSpPr>
          <p:cNvPr id="20" name="step-body-2"/>
          <p:cNvSpPr txBox="1"/>
          <p:nvPr/>
        </p:nvSpPr>
        <p:spPr>
          <a:xfrm>
            <a:off x="4386986" y="2651760"/>
            <a:ext cx="14985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深夜・国外・ASN</a:t>
            </a:r>
            <a:endParaRPr lang="en-US" sz="1200" dirty="0"/>
          </a:p>
        </p:txBody>
      </p:sp>
      <p:sp>
        <p:nvSpPr>
          <p:cNvPr id="21" name="step-arrow-2"/>
          <p:cNvSpPr/>
          <p:nvPr/>
        </p:nvSpPr>
        <p:spPr>
          <a:xfrm>
            <a:off x="6040984" y="2542032"/>
            <a:ext cx="109728" cy="274320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22" name="step-3"/>
          <p:cNvSpPr/>
          <p:nvPr/>
        </p:nvSpPr>
        <p:spPr>
          <a:xfrm>
            <a:off x="6214720" y="2267712"/>
            <a:ext cx="1681429" cy="8229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step-3-head"/>
          <p:cNvSpPr/>
          <p:nvPr/>
        </p:nvSpPr>
        <p:spPr>
          <a:xfrm>
            <a:off x="6214720" y="2267712"/>
            <a:ext cx="1681429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4" name="step-3-head-text"/>
          <p:cNvSpPr txBox="1"/>
          <p:nvPr/>
        </p:nvSpPr>
        <p:spPr>
          <a:xfrm>
            <a:off x="6306160" y="2267712"/>
            <a:ext cx="14985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④ 外部転送ルール</a:t>
            </a:r>
            <a:endParaRPr lang="en-US" sz="1200" dirty="0"/>
          </a:p>
        </p:txBody>
      </p:sp>
      <p:sp>
        <p:nvSpPr>
          <p:cNvPr id="25" name="step-body-3"/>
          <p:cNvSpPr txBox="1"/>
          <p:nvPr/>
        </p:nvSpPr>
        <p:spPr>
          <a:xfrm>
            <a:off x="6306160" y="2651760"/>
            <a:ext cx="14985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受信トレイのルール</a:t>
            </a:r>
            <a:endParaRPr lang="en-US" sz="1200" dirty="0"/>
          </a:p>
        </p:txBody>
      </p:sp>
      <p:sp>
        <p:nvSpPr>
          <p:cNvPr id="26" name="step-arrow-3"/>
          <p:cNvSpPr/>
          <p:nvPr/>
        </p:nvSpPr>
        <p:spPr>
          <a:xfrm>
            <a:off x="7960157" y="2542032"/>
            <a:ext cx="109728" cy="274320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27" name="step-4"/>
          <p:cNvSpPr/>
          <p:nvPr/>
        </p:nvSpPr>
        <p:spPr>
          <a:xfrm>
            <a:off x="8133893" y="2267712"/>
            <a:ext cx="1681429" cy="8229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step-4-head"/>
          <p:cNvSpPr/>
          <p:nvPr/>
        </p:nvSpPr>
        <p:spPr>
          <a:xfrm>
            <a:off x="8133893" y="2267712"/>
            <a:ext cx="1681429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9" name="step-4-head-text"/>
          <p:cNvSpPr txBox="1"/>
          <p:nvPr/>
        </p:nvSpPr>
        <p:spPr>
          <a:xfrm>
            <a:off x="8225333" y="2267712"/>
            <a:ext cx="14985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⑤ 大量ダウンロード</a:t>
            </a:r>
            <a:endParaRPr lang="en-US" sz="1200" dirty="0"/>
          </a:p>
        </p:txBody>
      </p:sp>
      <p:sp>
        <p:nvSpPr>
          <p:cNvPr id="30" name="step-body-4"/>
          <p:cNvSpPr txBox="1"/>
          <p:nvPr/>
        </p:nvSpPr>
        <p:spPr>
          <a:xfrm>
            <a:off x="8225333" y="2651760"/>
            <a:ext cx="14985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SharePointから1,200件</a:t>
            </a:r>
            <a:endParaRPr lang="en-US" sz="1200" dirty="0"/>
          </a:p>
        </p:txBody>
      </p:sp>
      <p:sp>
        <p:nvSpPr>
          <p:cNvPr id="31" name="step-arrow-4"/>
          <p:cNvSpPr/>
          <p:nvPr/>
        </p:nvSpPr>
        <p:spPr>
          <a:xfrm>
            <a:off x="9879330" y="2542032"/>
            <a:ext cx="109728" cy="274320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32" name="step-5"/>
          <p:cNvSpPr/>
          <p:nvPr/>
        </p:nvSpPr>
        <p:spPr>
          <a:xfrm>
            <a:off x="10053066" y="2267712"/>
            <a:ext cx="1681429" cy="8229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3" name="step-5-head"/>
          <p:cNvSpPr/>
          <p:nvPr/>
        </p:nvSpPr>
        <p:spPr>
          <a:xfrm>
            <a:off x="10053066" y="2267712"/>
            <a:ext cx="1681429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4" name="step-5-head-text"/>
          <p:cNvSpPr txBox="1"/>
          <p:nvPr/>
        </p:nvSpPr>
        <p:spPr>
          <a:xfrm>
            <a:off x="10144506" y="2267712"/>
            <a:ext cx="14985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⑥ 社内へ拡散</a:t>
            </a:r>
            <a:endParaRPr lang="en-US" sz="1200" dirty="0"/>
          </a:p>
        </p:txBody>
      </p:sp>
      <p:sp>
        <p:nvSpPr>
          <p:cNvPr id="35" name="step-body-5"/>
          <p:cNvSpPr txBox="1"/>
          <p:nvPr/>
        </p:nvSpPr>
        <p:spPr>
          <a:xfrm>
            <a:off x="10144506" y="2651760"/>
            <a:ext cx="14985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380名へリンク付きメール</a:t>
            </a:r>
            <a:endParaRPr lang="en-US" sz="1200" dirty="0"/>
          </a:p>
        </p:txBody>
      </p:sp>
      <p:sp>
        <p:nvSpPr>
          <p:cNvPr id="36" name="scope-out"/>
          <p:cNvSpPr/>
          <p:nvPr/>
        </p:nvSpPr>
        <p:spPr>
          <a:xfrm>
            <a:off x="457200" y="3182112"/>
            <a:ext cx="3600602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7" name="scope-out-text"/>
          <p:cNvSpPr txBox="1"/>
          <p:nvPr/>
        </p:nvSpPr>
        <p:spPr>
          <a:xfrm>
            <a:off x="457200" y="3182112"/>
            <a:ext cx="36006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範囲外（入口の防止）</a:t>
            </a:r>
            <a:endParaRPr lang="en-US" sz="1200" dirty="0"/>
          </a:p>
        </p:txBody>
      </p:sp>
      <p:sp>
        <p:nvSpPr>
          <p:cNvPr id="38" name="scope-in"/>
          <p:cNvSpPr/>
          <p:nvPr/>
        </p:nvSpPr>
        <p:spPr>
          <a:xfrm>
            <a:off x="4295546" y="3182112"/>
            <a:ext cx="7438949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9" name="scope-in-text"/>
          <p:cNvSpPr txBox="1"/>
          <p:nvPr/>
        </p:nvSpPr>
        <p:spPr>
          <a:xfrm>
            <a:off x="4295546" y="3182112"/>
            <a:ext cx="74389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デモの範囲：速く気づき、社内で止め、範囲を確定し、記録する</a:t>
            </a:r>
            <a:endParaRPr lang="en-US" sz="1300" dirty="0"/>
          </a:p>
        </p:txBody>
      </p:sp>
      <p:sp>
        <p:nvSpPr>
          <p:cNvPr id="40" name="point-0"/>
          <p:cNvSpPr/>
          <p:nvPr/>
        </p:nvSpPr>
        <p:spPr>
          <a:xfrm>
            <a:off x="457200" y="3767328"/>
            <a:ext cx="3637178" cy="160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1" name="point-0-head"/>
          <p:cNvSpPr/>
          <p:nvPr/>
        </p:nvSpPr>
        <p:spPr>
          <a:xfrm>
            <a:off x="457200" y="3767328"/>
            <a:ext cx="3637178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2" name="point-0-head-text"/>
          <p:cNvSpPr txBox="1"/>
          <p:nvPr/>
        </p:nvSpPr>
        <p:spPr>
          <a:xfrm>
            <a:off x="548640" y="3767328"/>
            <a:ext cx="34542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①　ノータブルの後を、社内で進める</a:t>
            </a:r>
            <a:endParaRPr lang="en-US" sz="1200" dirty="0"/>
          </a:p>
        </p:txBody>
      </p:sp>
      <p:sp>
        <p:nvSpPr>
          <p:cNvPr id="43" name="point-body-0"/>
          <p:cNvSpPr txBox="1"/>
          <p:nvPr/>
        </p:nvSpPr>
        <p:spPr>
          <a:xfrm>
            <a:off x="566928" y="4206240"/>
            <a:ext cx="341772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「本人の利用か」を本人と上長に確かめ、チェックリストが埋まるまで封じ込めに進まない</a:t>
            </a:r>
            <a:endParaRPr lang="en-US" sz="1300" dirty="0"/>
          </a:p>
        </p:txBody>
      </p:sp>
      <p:sp>
        <p:nvSpPr>
          <p:cNvPr id="44" name="point-1"/>
          <p:cNvSpPr/>
          <p:nvPr/>
        </p:nvSpPr>
        <p:spPr>
          <a:xfrm>
            <a:off x="4277258" y="3767328"/>
            <a:ext cx="3637178" cy="160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5" name="point-1-head"/>
          <p:cNvSpPr/>
          <p:nvPr/>
        </p:nvSpPr>
        <p:spPr>
          <a:xfrm>
            <a:off x="4277258" y="3767328"/>
            <a:ext cx="3637178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6" name="point-1-head-text"/>
          <p:cNvSpPr txBox="1"/>
          <p:nvPr/>
        </p:nvSpPr>
        <p:spPr>
          <a:xfrm>
            <a:off x="4368698" y="3767328"/>
            <a:ext cx="34542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②　承認段階を決めて、SOARを動かす</a:t>
            </a:r>
            <a:endParaRPr lang="en-US" sz="1200" dirty="0"/>
          </a:p>
        </p:txBody>
      </p:sp>
      <p:sp>
        <p:nvSpPr>
          <p:cNvPr id="47" name="point-body-1"/>
          <p:cNvSpPr txBox="1"/>
          <p:nvPr/>
        </p:nvSpPr>
        <p:spPr>
          <a:xfrm>
            <a:off x="4386986" y="4206240"/>
            <a:ext cx="341772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①②は担当者が即時、③はSOC責任者、④はCSIRT責任者。承認番号をプレイブックに残す</a:t>
            </a:r>
            <a:endParaRPr lang="en-US" sz="1300" dirty="0"/>
          </a:p>
        </p:txBody>
      </p:sp>
      <p:sp>
        <p:nvSpPr>
          <p:cNvPr id="48" name="point-2"/>
          <p:cNvSpPr/>
          <p:nvPr/>
        </p:nvSpPr>
        <p:spPr>
          <a:xfrm>
            <a:off x="8097317" y="3767328"/>
            <a:ext cx="3637178" cy="160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9" name="point-2-head"/>
          <p:cNvSpPr/>
          <p:nvPr/>
        </p:nvSpPr>
        <p:spPr>
          <a:xfrm>
            <a:off x="8097317" y="3767328"/>
            <a:ext cx="3637178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0" name="point-2-head-text"/>
          <p:cNvSpPr txBox="1"/>
          <p:nvPr/>
        </p:nvSpPr>
        <p:spPr>
          <a:xfrm>
            <a:off x="8188757" y="3767328"/>
            <a:ext cx="34542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③　範囲・記録・改善を、社内に残す</a:t>
            </a:r>
            <a:endParaRPr lang="en-US" sz="1200" dirty="0"/>
          </a:p>
        </p:txBody>
      </p:sp>
      <p:sp>
        <p:nvSpPr>
          <p:cNvPr id="51" name="point-body-2"/>
          <p:cNvSpPr txBox="1"/>
          <p:nvPr/>
        </p:nvSpPr>
        <p:spPr>
          <a:xfrm>
            <a:off x="8207045" y="4206240"/>
            <a:ext cx="341772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乗っ取られた間の操作と他アカウントを確定し、検知条件・承認段階・記録をナレッジにする</a:t>
            </a:r>
            <a:endParaRPr lang="en-US" sz="1300" dirty="0"/>
          </a:p>
        </p:txBody>
      </p:sp>
      <p:sp>
        <p:nvSpPr>
          <p:cNvPr id="52" name="hypo"/>
          <p:cNvSpPr txBox="1"/>
          <p:nvPr/>
        </p:nvSpPr>
        <p:spPr>
          <a:xfrm>
            <a:off x="457200" y="548640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デモが置く仮説（確認必要）：ノータブルは出たが、本人確認の手順と承認者が社内に無く、委託先待ちで一次対応が4時間止まる</a:t>
            </a:r>
            <a:endParaRPr lang="en-US" sz="1300" dirty="0"/>
          </a:p>
        </p:txBody>
      </p:sp>
      <p:sp>
        <p:nvSpPr>
          <p:cNvPr id="53" name="footnote"/>
          <p:cNvSpPr txBox="1"/>
          <p:nvPr/>
        </p:nvSpPr>
        <p:spPr>
          <a:xfrm>
            <a:off x="457200" y="632764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委託先の夜間監視・高度な分析・フォレンジックは、これまでどおりです。件数・時刻はデモ用の架空の値です。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デモの前に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デモの流れと見どころ</a:t>
            </a:r>
            <a:endParaRPr lang="en-US" sz="2200" dirty="0"/>
          </a:p>
        </p:txBody>
      </p:sp>
      <p:sp>
        <p:nvSpPr>
          <p:cNvPr id="4" name="band"/>
          <p:cNvSpPr/>
          <p:nvPr/>
        </p:nvSpPr>
        <p:spPr>
          <a:xfrm>
            <a:off x="457200" y="1097280"/>
            <a:ext cx="11277295" cy="7315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band-text"/>
          <p:cNvSpPr txBox="1"/>
          <p:nvPr/>
        </p:nvSpPr>
        <p:spPr>
          <a:xfrm>
            <a:off x="594360" y="109728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SOC担当者の山田さん（架空）が、9場面で検知から記録・改善までを一人で進める。見せ場はS5の一次対応とS6の封じ込め</a:t>
            </a:r>
            <a:endParaRPr lang="en-US" sz="1300" dirty="0"/>
          </a:p>
        </p:txBody>
      </p:sp>
      <p:sp>
        <p:nvSpPr>
          <p:cNvPr id="6" name="scene-0"/>
          <p:cNvSpPr/>
          <p:nvPr/>
        </p:nvSpPr>
        <p:spPr>
          <a:xfrm>
            <a:off x="457200" y="2057400"/>
            <a:ext cx="2362200" cy="126187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scene-0-head"/>
          <p:cNvSpPr/>
          <p:nvPr/>
        </p:nvSpPr>
        <p:spPr>
          <a:xfrm>
            <a:off x="457200" y="2057400"/>
            <a:ext cx="2362200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" name="scene-0-head-text"/>
          <p:cNvSpPr txBox="1"/>
          <p:nvPr/>
        </p:nvSpPr>
        <p:spPr>
          <a:xfrm>
            <a:off x="548640" y="2057400"/>
            <a:ext cx="2179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S0　現場の問題</a:t>
            </a:r>
            <a:endParaRPr lang="en-US" sz="1200" dirty="0"/>
          </a:p>
        </p:txBody>
      </p:sp>
      <p:sp>
        <p:nvSpPr>
          <p:cNvPr id="9" name="scene-time-0"/>
          <p:cNvSpPr txBox="1"/>
          <p:nvPr/>
        </p:nvSpPr>
        <p:spPr>
          <a:xfrm>
            <a:off x="2133600" y="205740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2分</a:t>
            </a:r>
            <a:endParaRPr lang="en-US" sz="1200" dirty="0"/>
          </a:p>
        </p:txBody>
      </p:sp>
      <p:sp>
        <p:nvSpPr>
          <p:cNvPr id="10" name="scene-desc-0"/>
          <p:cNvSpPr txBox="1"/>
          <p:nvPr/>
        </p:nvSpPr>
        <p:spPr>
          <a:xfrm>
            <a:off x="566928" y="2496312"/>
            <a:ext cx="2142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依頼カードと5つの成果物</a:t>
            </a:r>
            <a:endParaRPr lang="en-US" sz="1200" dirty="0"/>
          </a:p>
        </p:txBody>
      </p:sp>
      <p:sp>
        <p:nvSpPr>
          <p:cNvPr id="11" name="scene-1"/>
          <p:cNvSpPr/>
          <p:nvPr/>
        </p:nvSpPr>
        <p:spPr>
          <a:xfrm>
            <a:off x="2956560" y="2057400"/>
            <a:ext cx="2362200" cy="126187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scene-1-head"/>
          <p:cNvSpPr/>
          <p:nvPr/>
        </p:nvSpPr>
        <p:spPr>
          <a:xfrm>
            <a:off x="2956560" y="2057400"/>
            <a:ext cx="2362200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scene-1-head-text"/>
          <p:cNvSpPr txBox="1"/>
          <p:nvPr/>
        </p:nvSpPr>
        <p:spPr>
          <a:xfrm>
            <a:off x="3048000" y="2057400"/>
            <a:ext cx="2179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S1　Before</a:t>
            </a:r>
            <a:endParaRPr lang="en-US" sz="1200" dirty="0"/>
          </a:p>
        </p:txBody>
      </p:sp>
      <p:sp>
        <p:nvSpPr>
          <p:cNvPr id="14" name="scene-time-1"/>
          <p:cNvSpPr txBox="1"/>
          <p:nvPr/>
        </p:nvSpPr>
        <p:spPr>
          <a:xfrm>
            <a:off x="4632960" y="205740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3分</a:t>
            </a:r>
            <a:endParaRPr lang="en-US" sz="1200" dirty="0"/>
          </a:p>
        </p:txBody>
      </p:sp>
      <p:sp>
        <p:nvSpPr>
          <p:cNvPr id="15" name="scene-desc-1"/>
          <p:cNvSpPr txBox="1"/>
          <p:nvPr/>
        </p:nvSpPr>
        <p:spPr>
          <a:xfrm>
            <a:off x="3066288" y="2496312"/>
            <a:ext cx="2142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ノータブルが4時間未割当</a:t>
            </a:r>
            <a:endParaRPr lang="en-US" sz="1200" dirty="0"/>
          </a:p>
        </p:txBody>
      </p:sp>
      <p:sp>
        <p:nvSpPr>
          <p:cNvPr id="16" name="scene-2"/>
          <p:cNvSpPr/>
          <p:nvPr/>
        </p:nvSpPr>
        <p:spPr>
          <a:xfrm>
            <a:off x="5455920" y="2057400"/>
            <a:ext cx="2362200" cy="126187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scene-2-head"/>
          <p:cNvSpPr/>
          <p:nvPr/>
        </p:nvSpPr>
        <p:spPr>
          <a:xfrm>
            <a:off x="5455920" y="2057400"/>
            <a:ext cx="2362200" cy="34747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8" name="scene-2-head-text"/>
          <p:cNvSpPr txBox="1"/>
          <p:nvPr/>
        </p:nvSpPr>
        <p:spPr>
          <a:xfrm>
            <a:off x="5547360" y="2057400"/>
            <a:ext cx="2179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S2　要件整理</a:t>
            </a:r>
            <a:endParaRPr lang="en-US" sz="1200" dirty="0"/>
          </a:p>
        </p:txBody>
      </p:sp>
      <p:sp>
        <p:nvSpPr>
          <p:cNvPr id="19" name="scene-time-2"/>
          <p:cNvSpPr txBox="1"/>
          <p:nvPr/>
        </p:nvSpPr>
        <p:spPr>
          <a:xfrm>
            <a:off x="7132320" y="205740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4分</a:t>
            </a:r>
            <a:endParaRPr lang="en-US" sz="1200" dirty="0"/>
          </a:p>
        </p:txBody>
      </p:sp>
      <p:sp>
        <p:nvSpPr>
          <p:cNvPr id="20" name="scene-desc-2"/>
          <p:cNvSpPr txBox="1"/>
          <p:nvPr/>
        </p:nvSpPr>
        <p:spPr>
          <a:xfrm>
            <a:off x="5565648" y="2496312"/>
            <a:ext cx="2142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日本語の依頼をAI Hubが整理</a:t>
            </a:r>
            <a:endParaRPr lang="en-US" sz="1200" dirty="0"/>
          </a:p>
        </p:txBody>
      </p:sp>
      <p:sp>
        <p:nvSpPr>
          <p:cNvPr id="21" name="scene-3"/>
          <p:cNvSpPr/>
          <p:nvPr/>
        </p:nvSpPr>
        <p:spPr>
          <a:xfrm>
            <a:off x="457200" y="3447288"/>
            <a:ext cx="2362200" cy="126187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scene-3-head"/>
          <p:cNvSpPr/>
          <p:nvPr/>
        </p:nvSpPr>
        <p:spPr>
          <a:xfrm>
            <a:off x="457200" y="3447288"/>
            <a:ext cx="2362200" cy="34747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3" name="scene-3-head-text"/>
          <p:cNvSpPr txBox="1"/>
          <p:nvPr/>
        </p:nvSpPr>
        <p:spPr>
          <a:xfrm>
            <a:off x="548640" y="3447288"/>
            <a:ext cx="2179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S3　相関検索案・照合</a:t>
            </a:r>
            <a:endParaRPr lang="en-US" sz="1200" dirty="0"/>
          </a:p>
        </p:txBody>
      </p:sp>
      <p:sp>
        <p:nvSpPr>
          <p:cNvPr id="24" name="scene-time-3"/>
          <p:cNvSpPr txBox="1"/>
          <p:nvPr/>
        </p:nvSpPr>
        <p:spPr>
          <a:xfrm>
            <a:off x="2133600" y="344728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5分</a:t>
            </a:r>
            <a:endParaRPr lang="en-US" sz="1200" dirty="0"/>
          </a:p>
        </p:txBody>
      </p:sp>
      <p:sp>
        <p:nvSpPr>
          <p:cNvPr id="25" name="scene-desc-3"/>
          <p:cNvSpPr txBox="1"/>
          <p:nvPr/>
        </p:nvSpPr>
        <p:spPr>
          <a:xfrm>
            <a:off x="566928" y="3886200"/>
            <a:ext cx="2142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Assistantの案をD-02と照合</a:t>
            </a:r>
            <a:endParaRPr lang="en-US" sz="1200" dirty="0"/>
          </a:p>
        </p:txBody>
      </p:sp>
      <p:sp>
        <p:nvSpPr>
          <p:cNvPr id="26" name="scene-4"/>
          <p:cNvSpPr/>
          <p:nvPr/>
        </p:nvSpPr>
        <p:spPr>
          <a:xfrm>
            <a:off x="2956560" y="3447288"/>
            <a:ext cx="2362200" cy="126187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7" name="scene-4-head"/>
          <p:cNvSpPr/>
          <p:nvPr/>
        </p:nvSpPr>
        <p:spPr>
          <a:xfrm>
            <a:off x="2956560" y="3447288"/>
            <a:ext cx="2362200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8" name="scene-4-head-text"/>
          <p:cNvSpPr txBox="1"/>
          <p:nvPr/>
        </p:nvSpPr>
        <p:spPr>
          <a:xfrm>
            <a:off x="3048000" y="3447288"/>
            <a:ext cx="2179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S4　検証・保存</a:t>
            </a:r>
            <a:endParaRPr lang="en-US" sz="1200" dirty="0"/>
          </a:p>
        </p:txBody>
      </p:sp>
      <p:sp>
        <p:nvSpPr>
          <p:cNvPr id="29" name="scene-time-4"/>
          <p:cNvSpPr txBox="1"/>
          <p:nvPr/>
        </p:nvSpPr>
        <p:spPr>
          <a:xfrm>
            <a:off x="4632960" y="344728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5分</a:t>
            </a:r>
            <a:endParaRPr lang="en-US" sz="1200" dirty="0"/>
          </a:p>
        </p:txBody>
      </p:sp>
      <p:sp>
        <p:nvSpPr>
          <p:cNvPr id="30" name="scene-desc-4"/>
          <p:cNvSpPr txBox="1"/>
          <p:nvPr/>
        </p:nvSpPr>
        <p:spPr>
          <a:xfrm>
            <a:off x="3066288" y="3886200"/>
            <a:ext cx="2142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テストログで検証して保存</a:t>
            </a:r>
            <a:endParaRPr lang="en-US" sz="1200" dirty="0"/>
          </a:p>
        </p:txBody>
      </p:sp>
      <p:sp>
        <p:nvSpPr>
          <p:cNvPr id="31" name="scene-5"/>
          <p:cNvSpPr/>
          <p:nvPr/>
        </p:nvSpPr>
        <p:spPr>
          <a:xfrm>
            <a:off x="5455920" y="3447288"/>
            <a:ext cx="2362200" cy="126187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scene-5-head"/>
          <p:cNvSpPr/>
          <p:nvPr/>
        </p:nvSpPr>
        <p:spPr>
          <a:xfrm>
            <a:off x="5455920" y="3447288"/>
            <a:ext cx="2362200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3" name="scene-5-head-text"/>
          <p:cNvSpPr txBox="1"/>
          <p:nvPr/>
        </p:nvSpPr>
        <p:spPr>
          <a:xfrm>
            <a:off x="5547360" y="3447288"/>
            <a:ext cx="2179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S5　一次対応</a:t>
            </a:r>
            <a:endParaRPr lang="en-US" sz="1200" dirty="0"/>
          </a:p>
        </p:txBody>
      </p:sp>
      <p:sp>
        <p:nvSpPr>
          <p:cNvPr id="34" name="scene-time-5"/>
          <p:cNvSpPr txBox="1"/>
          <p:nvPr/>
        </p:nvSpPr>
        <p:spPr>
          <a:xfrm>
            <a:off x="7132320" y="344728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5分</a:t>
            </a:r>
            <a:endParaRPr lang="en-US" sz="1200" dirty="0"/>
          </a:p>
        </p:txBody>
      </p:sp>
      <p:sp>
        <p:nvSpPr>
          <p:cNvPr id="35" name="scene-desc-5"/>
          <p:cNvSpPr txBox="1"/>
          <p:nvPr/>
        </p:nvSpPr>
        <p:spPr>
          <a:xfrm>
            <a:off x="5565648" y="3886200"/>
            <a:ext cx="2142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本人・上長に確認し、チェックリスト</a:t>
            </a:r>
            <a:endParaRPr lang="en-US" sz="1200" dirty="0"/>
          </a:p>
        </p:txBody>
      </p:sp>
      <p:sp>
        <p:nvSpPr>
          <p:cNvPr id="36" name="scene-key-5"/>
          <p:cNvSpPr txBox="1"/>
          <p:nvPr/>
        </p:nvSpPr>
        <p:spPr>
          <a:xfrm>
            <a:off x="5565648" y="4379976"/>
            <a:ext cx="2142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見せ場</a:t>
            </a:r>
            <a:endParaRPr lang="en-US" sz="1100" dirty="0"/>
          </a:p>
        </p:txBody>
      </p:sp>
      <p:sp>
        <p:nvSpPr>
          <p:cNvPr id="37" name="scene-6"/>
          <p:cNvSpPr/>
          <p:nvPr/>
        </p:nvSpPr>
        <p:spPr>
          <a:xfrm>
            <a:off x="457200" y="4837176"/>
            <a:ext cx="2362200" cy="126187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8" name="scene-6-head"/>
          <p:cNvSpPr/>
          <p:nvPr/>
        </p:nvSpPr>
        <p:spPr>
          <a:xfrm>
            <a:off x="457200" y="4837176"/>
            <a:ext cx="2362200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9" name="scene-6-head-text"/>
          <p:cNvSpPr txBox="1"/>
          <p:nvPr/>
        </p:nvSpPr>
        <p:spPr>
          <a:xfrm>
            <a:off x="548640" y="4837176"/>
            <a:ext cx="2179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S6　封じ込め</a:t>
            </a:r>
            <a:endParaRPr lang="en-US" sz="1200" dirty="0"/>
          </a:p>
        </p:txBody>
      </p:sp>
      <p:sp>
        <p:nvSpPr>
          <p:cNvPr id="40" name="scene-time-6"/>
          <p:cNvSpPr txBox="1"/>
          <p:nvPr/>
        </p:nvSpPr>
        <p:spPr>
          <a:xfrm>
            <a:off x="2133600" y="483717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4分</a:t>
            </a:r>
            <a:endParaRPr lang="en-US" sz="1200" dirty="0"/>
          </a:p>
        </p:txBody>
      </p:sp>
      <p:sp>
        <p:nvSpPr>
          <p:cNvPr id="41" name="scene-desc-6"/>
          <p:cNvSpPr txBox="1"/>
          <p:nvPr/>
        </p:nvSpPr>
        <p:spPr>
          <a:xfrm>
            <a:off x="566928" y="5276088"/>
            <a:ext cx="2142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承認段階どおりにSOARを実行</a:t>
            </a:r>
            <a:endParaRPr lang="en-US" sz="1200" dirty="0"/>
          </a:p>
        </p:txBody>
      </p:sp>
      <p:sp>
        <p:nvSpPr>
          <p:cNvPr id="42" name="scene-key-6"/>
          <p:cNvSpPr txBox="1"/>
          <p:nvPr/>
        </p:nvSpPr>
        <p:spPr>
          <a:xfrm>
            <a:off x="566928" y="5769864"/>
            <a:ext cx="2142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見せ場</a:t>
            </a:r>
            <a:endParaRPr lang="en-US" sz="1100" dirty="0"/>
          </a:p>
        </p:txBody>
      </p:sp>
      <p:sp>
        <p:nvSpPr>
          <p:cNvPr id="43" name="scene-7"/>
          <p:cNvSpPr/>
          <p:nvPr/>
        </p:nvSpPr>
        <p:spPr>
          <a:xfrm>
            <a:off x="2956560" y="4837176"/>
            <a:ext cx="2362200" cy="126187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4" name="scene-7-head"/>
          <p:cNvSpPr/>
          <p:nvPr/>
        </p:nvSpPr>
        <p:spPr>
          <a:xfrm>
            <a:off x="2956560" y="4837176"/>
            <a:ext cx="2362200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5" name="scene-7-head-text"/>
          <p:cNvSpPr txBox="1"/>
          <p:nvPr/>
        </p:nvSpPr>
        <p:spPr>
          <a:xfrm>
            <a:off x="3048000" y="4837176"/>
            <a:ext cx="2179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S7　範囲の確定・記録</a:t>
            </a:r>
            <a:endParaRPr lang="en-US" sz="1200" dirty="0"/>
          </a:p>
        </p:txBody>
      </p:sp>
      <p:sp>
        <p:nvSpPr>
          <p:cNvPr id="46" name="scene-time-7"/>
          <p:cNvSpPr txBox="1"/>
          <p:nvPr/>
        </p:nvSpPr>
        <p:spPr>
          <a:xfrm>
            <a:off x="4632960" y="483717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5分</a:t>
            </a:r>
            <a:endParaRPr lang="en-US" sz="1200" dirty="0"/>
          </a:p>
        </p:txBody>
      </p:sp>
      <p:sp>
        <p:nvSpPr>
          <p:cNvPr id="47" name="scene-desc-7"/>
          <p:cNvSpPr txBox="1"/>
          <p:nvPr/>
        </p:nvSpPr>
        <p:spPr>
          <a:xfrm>
            <a:off x="3066288" y="5276088"/>
            <a:ext cx="2142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操作と他アカウントを確定し記録</a:t>
            </a:r>
            <a:endParaRPr lang="en-US" sz="1200" dirty="0"/>
          </a:p>
        </p:txBody>
      </p:sp>
      <p:sp>
        <p:nvSpPr>
          <p:cNvPr id="48" name="scene-8"/>
          <p:cNvSpPr/>
          <p:nvPr/>
        </p:nvSpPr>
        <p:spPr>
          <a:xfrm>
            <a:off x="5455920" y="4837176"/>
            <a:ext cx="2362200" cy="126187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9" name="scene-8-head"/>
          <p:cNvSpPr/>
          <p:nvPr/>
        </p:nvSpPr>
        <p:spPr>
          <a:xfrm>
            <a:off x="5455920" y="4837176"/>
            <a:ext cx="2362200" cy="34747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50" name="scene-8-head-text"/>
          <p:cNvSpPr txBox="1"/>
          <p:nvPr/>
        </p:nvSpPr>
        <p:spPr>
          <a:xfrm>
            <a:off x="5547360" y="4837176"/>
            <a:ext cx="2179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S8　改善</a:t>
            </a:r>
            <a:endParaRPr lang="en-US" sz="1200" dirty="0"/>
          </a:p>
        </p:txBody>
      </p:sp>
      <p:sp>
        <p:nvSpPr>
          <p:cNvPr id="51" name="scene-time-8"/>
          <p:cNvSpPr txBox="1"/>
          <p:nvPr/>
        </p:nvSpPr>
        <p:spPr>
          <a:xfrm>
            <a:off x="7132320" y="483717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3分</a:t>
            </a:r>
            <a:endParaRPr lang="en-US" sz="1200" dirty="0"/>
          </a:p>
        </p:txBody>
      </p:sp>
      <p:sp>
        <p:nvSpPr>
          <p:cNvPr id="52" name="scene-desc-8"/>
          <p:cNvSpPr txBox="1"/>
          <p:nvPr/>
        </p:nvSpPr>
        <p:spPr>
          <a:xfrm>
            <a:off x="5565648" y="5276088"/>
            <a:ext cx="2142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ナレッジと役割分担を更新</a:t>
            </a:r>
            <a:endParaRPr lang="en-US" sz="1200" dirty="0"/>
          </a:p>
        </p:txBody>
      </p:sp>
      <p:sp>
        <p:nvSpPr>
          <p:cNvPr id="53" name="goals"/>
          <p:cNvSpPr/>
          <p:nvPr/>
        </p:nvSpPr>
        <p:spPr>
          <a:xfrm>
            <a:off x="8046720" y="2057400"/>
            <a:ext cx="3687775" cy="40416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4" name="goals-head"/>
          <p:cNvSpPr/>
          <p:nvPr/>
        </p:nvSpPr>
        <p:spPr>
          <a:xfrm>
            <a:off x="8046720" y="2057400"/>
            <a:ext cx="3687775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5" name="goals-head-text"/>
          <p:cNvSpPr txBox="1"/>
          <p:nvPr/>
        </p:nvSpPr>
        <p:spPr>
          <a:xfrm>
            <a:off x="8138160" y="2057400"/>
            <a:ext cx="35048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画面に残す5つの成果物</a:t>
            </a:r>
            <a:endParaRPr lang="en-US" sz="1200" dirty="0"/>
          </a:p>
        </p:txBody>
      </p:sp>
      <p:sp>
        <p:nvSpPr>
          <p:cNvPr id="56" name="goal-num-bg-0"/>
          <p:cNvSpPr/>
          <p:nvPr/>
        </p:nvSpPr>
        <p:spPr>
          <a:xfrm>
            <a:off x="8211312" y="2487168"/>
            <a:ext cx="457200" cy="4572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7" name="goal-num-0"/>
          <p:cNvSpPr txBox="1"/>
          <p:nvPr/>
        </p:nvSpPr>
        <p:spPr>
          <a:xfrm>
            <a:off x="8211312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①</a:t>
            </a:r>
            <a:endParaRPr lang="en-US" sz="1500" dirty="0"/>
          </a:p>
        </p:txBody>
      </p:sp>
      <p:sp>
        <p:nvSpPr>
          <p:cNvPr id="58" name="goal-name-0"/>
          <p:cNvSpPr txBox="1"/>
          <p:nvPr/>
        </p:nvSpPr>
        <p:spPr>
          <a:xfrm>
            <a:off x="8796528" y="2487168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社内基準D-02の相関検索</a:t>
            </a:r>
            <a:endParaRPr lang="en-US" sz="1400" dirty="0"/>
          </a:p>
        </p:txBody>
      </p:sp>
      <p:sp>
        <p:nvSpPr>
          <p:cNvPr id="59" name="goal-num-bg-1"/>
          <p:cNvSpPr/>
          <p:nvPr/>
        </p:nvSpPr>
        <p:spPr>
          <a:xfrm>
            <a:off x="8211312" y="3090672"/>
            <a:ext cx="457200" cy="4572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0" name="goal-num-1"/>
          <p:cNvSpPr txBox="1"/>
          <p:nvPr/>
        </p:nvSpPr>
        <p:spPr>
          <a:xfrm>
            <a:off x="8211312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②</a:t>
            </a:r>
            <a:endParaRPr lang="en-US" sz="1500" dirty="0"/>
          </a:p>
        </p:txBody>
      </p:sp>
      <p:sp>
        <p:nvSpPr>
          <p:cNvPr id="61" name="goal-name-1"/>
          <p:cNvSpPr txBox="1"/>
          <p:nvPr/>
        </p:nvSpPr>
        <p:spPr>
          <a:xfrm>
            <a:off x="8796528" y="3090672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一次対応のチェックリスト</a:t>
            </a:r>
            <a:endParaRPr lang="en-US" sz="1400" dirty="0"/>
          </a:p>
        </p:txBody>
      </p:sp>
      <p:sp>
        <p:nvSpPr>
          <p:cNvPr id="62" name="goal-num-bg-2"/>
          <p:cNvSpPr/>
          <p:nvPr/>
        </p:nvSpPr>
        <p:spPr>
          <a:xfrm>
            <a:off x="8211312" y="3694176"/>
            <a:ext cx="457200" cy="4572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3" name="goal-num-2"/>
          <p:cNvSpPr txBox="1"/>
          <p:nvPr/>
        </p:nvSpPr>
        <p:spPr>
          <a:xfrm>
            <a:off x="8211312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③</a:t>
            </a:r>
            <a:endParaRPr lang="en-US" sz="1500" dirty="0"/>
          </a:p>
        </p:txBody>
      </p:sp>
      <p:sp>
        <p:nvSpPr>
          <p:cNvPr id="64" name="goal-name-2"/>
          <p:cNvSpPr txBox="1"/>
          <p:nvPr/>
        </p:nvSpPr>
        <p:spPr>
          <a:xfrm>
            <a:off x="8796528" y="3694176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封じ込めの承認段階</a:t>
            </a:r>
            <a:endParaRPr lang="en-US" sz="1400" dirty="0"/>
          </a:p>
        </p:txBody>
      </p:sp>
      <p:sp>
        <p:nvSpPr>
          <p:cNvPr id="65" name="goal-num-bg-3"/>
          <p:cNvSpPr/>
          <p:nvPr/>
        </p:nvSpPr>
        <p:spPr>
          <a:xfrm>
            <a:off x="8211312" y="4297680"/>
            <a:ext cx="457200" cy="4572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6" name="goal-num-3"/>
          <p:cNvSpPr txBox="1"/>
          <p:nvPr/>
        </p:nvSpPr>
        <p:spPr>
          <a:xfrm>
            <a:off x="8211312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④</a:t>
            </a:r>
            <a:endParaRPr lang="en-US" sz="1500" dirty="0"/>
          </a:p>
        </p:txBody>
      </p:sp>
      <p:sp>
        <p:nvSpPr>
          <p:cNvPr id="67" name="goal-name-3"/>
          <p:cNvSpPr txBox="1"/>
          <p:nvPr/>
        </p:nvSpPr>
        <p:spPr>
          <a:xfrm>
            <a:off x="8796528" y="429768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範囲の確定と記録</a:t>
            </a:r>
            <a:endParaRPr lang="en-US" sz="1400" dirty="0"/>
          </a:p>
        </p:txBody>
      </p:sp>
      <p:sp>
        <p:nvSpPr>
          <p:cNvPr id="68" name="goal-num-bg-4"/>
          <p:cNvSpPr/>
          <p:nvPr/>
        </p:nvSpPr>
        <p:spPr>
          <a:xfrm>
            <a:off x="8211312" y="4901184"/>
            <a:ext cx="457200" cy="4572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9" name="goal-num-4"/>
          <p:cNvSpPr txBox="1"/>
          <p:nvPr/>
        </p:nvSpPr>
        <p:spPr>
          <a:xfrm>
            <a:off x="8211312" y="4901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⑤</a:t>
            </a:r>
            <a:endParaRPr lang="en-US" sz="1500" dirty="0"/>
          </a:p>
        </p:txBody>
      </p:sp>
      <p:sp>
        <p:nvSpPr>
          <p:cNvPr id="70" name="goal-name-4"/>
          <p:cNvSpPr txBox="1"/>
          <p:nvPr/>
        </p:nvSpPr>
        <p:spPr>
          <a:xfrm>
            <a:off x="8796528" y="4901184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ナレッジと役割分担</a:t>
            </a:r>
            <a:endParaRPr lang="en-US" sz="1400" dirty="0"/>
          </a:p>
        </p:txBody>
      </p:sp>
      <p:sp>
        <p:nvSpPr>
          <p:cNvPr id="71" name="goals-note"/>
          <p:cNvSpPr txBox="1"/>
          <p:nvPr/>
        </p:nvSpPr>
        <p:spPr>
          <a:xfrm>
            <a:off x="8211312" y="5559552"/>
            <a:ext cx="335859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デモの成否は、この5つが画面に残るかで判断します。</a:t>
            </a:r>
            <a:endParaRPr lang="en-US" sz="1200" dirty="0"/>
          </a:p>
        </p:txBody>
      </p:sp>
      <p:sp>
        <p:nvSpPr>
          <p:cNvPr id="72" name="footnote"/>
          <p:cNvSpPr txBox="1"/>
          <p:nvPr/>
        </p:nvSpPr>
        <p:spPr>
          <a:xfrm>
            <a:off x="457200" y="632764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見出しが淡い青の場面（S2・S3・S8）はAI Hubが中心、濃い青の場面（S5・S6）が見せ場です。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デモの前に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ご覧いただく前に</a:t>
            </a:r>
            <a:endParaRPr lang="en-US" sz="2200" dirty="0"/>
          </a:p>
        </p:txBody>
      </p:sp>
      <p:sp>
        <p:nvSpPr>
          <p:cNvPr id="4" name="band"/>
          <p:cNvSpPr/>
          <p:nvPr/>
        </p:nvSpPr>
        <p:spPr>
          <a:xfrm>
            <a:off x="457200" y="1097280"/>
            <a:ext cx="11277295" cy="7315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band-text"/>
          <p:cNvSpPr txBox="1"/>
          <p:nvPr/>
        </p:nvSpPr>
        <p:spPr>
          <a:xfrm>
            <a:off x="594360" y="109728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画面・人物・数値はすべて架空です。デモの中で、右の問いを御社に当てはめてご覧ください</a:t>
            </a:r>
            <a:endParaRPr lang="en-US" sz="1300" dirty="0"/>
          </a:p>
        </p:txBody>
      </p:sp>
      <p:sp>
        <p:nvSpPr>
          <p:cNvPr id="6" name="premise"/>
          <p:cNvSpPr/>
          <p:nvPr/>
        </p:nvSpPr>
        <p:spPr>
          <a:xfrm>
            <a:off x="457200" y="2057400"/>
            <a:ext cx="5394960" cy="40416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premise-head"/>
          <p:cNvSpPr/>
          <p:nvPr/>
        </p:nvSpPr>
        <p:spPr>
          <a:xfrm>
            <a:off x="457200" y="2057400"/>
            <a:ext cx="5394960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" name="premise-head-text"/>
          <p:cNvSpPr txBox="1"/>
          <p:nvPr/>
        </p:nvSpPr>
        <p:spPr>
          <a:xfrm>
            <a:off x="548640" y="205740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デモの前提</a:t>
            </a:r>
            <a:endParaRPr lang="en-US" sz="1200" dirty="0"/>
          </a:p>
        </p:txBody>
      </p:sp>
      <p:sp>
        <p:nvSpPr>
          <p:cNvPr id="9" name="premise-head-0"/>
          <p:cNvSpPr txBox="1"/>
          <p:nvPr/>
        </p:nvSpPr>
        <p:spPr>
          <a:xfrm>
            <a:off x="621792" y="2487168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架空のシナリオ</a:t>
            </a:r>
            <a:endParaRPr lang="en-US" sz="1300" dirty="0"/>
          </a:p>
        </p:txBody>
      </p:sp>
      <p:sp>
        <p:nvSpPr>
          <p:cNvPr id="10" name="premise-body-0"/>
          <p:cNvSpPr txBox="1"/>
          <p:nvPr/>
        </p:nvSpPr>
        <p:spPr>
          <a:xfrm>
            <a:off x="621792" y="2761488"/>
            <a:ext cx="5065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特定の企業や事案を題材にしていません</a:t>
            </a:r>
            <a:endParaRPr lang="en-US" sz="1200" dirty="0"/>
          </a:p>
        </p:txBody>
      </p:sp>
      <p:sp>
        <p:nvSpPr>
          <p:cNvPr id="11" name="premise-sep-1"/>
          <p:cNvSpPr/>
          <p:nvPr/>
        </p:nvSpPr>
        <p:spPr>
          <a:xfrm>
            <a:off x="594360" y="3127248"/>
            <a:ext cx="51206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2" name="premise-head-1"/>
          <p:cNvSpPr txBox="1"/>
          <p:nvPr/>
        </p:nvSpPr>
        <p:spPr>
          <a:xfrm>
            <a:off x="621792" y="3200400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画面はイメージ</a:t>
            </a:r>
            <a:endParaRPr lang="en-US" sz="1300" dirty="0"/>
          </a:p>
        </p:txBody>
      </p:sp>
      <p:sp>
        <p:nvSpPr>
          <p:cNvPr id="13" name="premise-body-1"/>
          <p:cNvSpPr txBox="1"/>
          <p:nvPr/>
        </p:nvSpPr>
        <p:spPr>
          <a:xfrm>
            <a:off x="621792" y="3474720"/>
            <a:ext cx="5065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ES・SOARの実画面ではありません。画面名は版で異なる場合あり</a:t>
            </a:r>
            <a:endParaRPr lang="en-US" sz="1200" dirty="0"/>
          </a:p>
        </p:txBody>
      </p:sp>
      <p:sp>
        <p:nvSpPr>
          <p:cNvPr id="14" name="premise-sep-2"/>
          <p:cNvSpPr/>
          <p:nvPr/>
        </p:nvSpPr>
        <p:spPr>
          <a:xfrm>
            <a:off x="594360" y="3840480"/>
            <a:ext cx="51206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5" name="premise-head-2"/>
          <p:cNvSpPr txBox="1"/>
          <p:nvPr/>
        </p:nvSpPr>
        <p:spPr>
          <a:xfrm>
            <a:off x="621792" y="3913632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AIの回答は準備した例</a:t>
            </a:r>
            <a:endParaRPr lang="en-US" sz="1300" dirty="0"/>
          </a:p>
        </p:txBody>
      </p:sp>
      <p:sp>
        <p:nvSpPr>
          <p:cNvPr id="16" name="premise-body-2"/>
          <p:cNvSpPr txBox="1"/>
          <p:nvPr/>
        </p:nvSpPr>
        <p:spPr>
          <a:xfrm>
            <a:off x="621792" y="4187952"/>
            <a:ext cx="5065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Assistantは参考画面、AI Hubは構想と例文です</a:t>
            </a:r>
            <a:endParaRPr lang="en-US" sz="1200" dirty="0"/>
          </a:p>
        </p:txBody>
      </p:sp>
      <p:sp>
        <p:nvSpPr>
          <p:cNvPr id="17" name="premise-sep-3"/>
          <p:cNvSpPr/>
          <p:nvPr/>
        </p:nvSpPr>
        <p:spPr>
          <a:xfrm>
            <a:off x="594360" y="4553712"/>
            <a:ext cx="51206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8" name="premise-head-3"/>
          <p:cNvSpPr txBox="1"/>
          <p:nvPr/>
        </p:nvSpPr>
        <p:spPr>
          <a:xfrm>
            <a:off x="621792" y="4626864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ガイドは案</a:t>
            </a:r>
            <a:endParaRPr lang="en-US" sz="1300" dirty="0"/>
          </a:p>
        </p:txBody>
      </p:sp>
      <p:sp>
        <p:nvSpPr>
          <p:cNvPr id="19" name="premise-body-3"/>
          <p:cNvSpPr txBox="1"/>
          <p:nvPr/>
        </p:nvSpPr>
        <p:spPr>
          <a:xfrm>
            <a:off x="621792" y="4901184"/>
            <a:ext cx="5065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ガイド・入力チェックは、御社の手順に合わせて作ります</a:t>
            </a:r>
            <a:endParaRPr lang="en-US" sz="1200" dirty="0"/>
          </a:p>
        </p:txBody>
      </p:sp>
      <p:sp>
        <p:nvSpPr>
          <p:cNvPr id="20" name="premise-sep-4"/>
          <p:cNvSpPr/>
          <p:nvPr/>
        </p:nvSpPr>
        <p:spPr>
          <a:xfrm>
            <a:off x="594360" y="5266944"/>
            <a:ext cx="51206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1" name="premise-head-4"/>
          <p:cNvSpPr txBox="1"/>
          <p:nvPr/>
        </p:nvSpPr>
        <p:spPr>
          <a:xfrm>
            <a:off x="621792" y="5340096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数値の約束はしない</a:t>
            </a:r>
            <a:endParaRPr lang="en-US" sz="1300" dirty="0"/>
          </a:p>
        </p:txBody>
      </p:sp>
      <p:sp>
        <p:nvSpPr>
          <p:cNvPr id="22" name="premise-body-4"/>
          <p:cNvSpPr txBox="1"/>
          <p:nvPr/>
        </p:nvSpPr>
        <p:spPr>
          <a:xfrm>
            <a:off x="621792" y="5614416"/>
            <a:ext cx="5065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効果は、封じ込めまでの時間などの4つの指標で確かめます</a:t>
            </a:r>
            <a:endParaRPr lang="en-US" sz="1200" dirty="0"/>
          </a:p>
        </p:txBody>
      </p:sp>
      <p:sp>
        <p:nvSpPr>
          <p:cNvPr id="23" name="questions"/>
          <p:cNvSpPr/>
          <p:nvPr/>
        </p:nvSpPr>
        <p:spPr>
          <a:xfrm>
            <a:off x="6080760" y="2057400"/>
            <a:ext cx="5653735" cy="40416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questions-head"/>
          <p:cNvSpPr/>
          <p:nvPr/>
        </p:nvSpPr>
        <p:spPr>
          <a:xfrm>
            <a:off x="6080760" y="2057400"/>
            <a:ext cx="5653735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questions-head-text"/>
          <p:cNvSpPr txBox="1"/>
          <p:nvPr/>
        </p:nvSpPr>
        <p:spPr>
          <a:xfrm>
            <a:off x="6172200" y="2057400"/>
            <a:ext cx="5470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デモの中で考えていただきたい問い</a:t>
            </a:r>
            <a:endParaRPr lang="en-US" sz="1200" dirty="0"/>
          </a:p>
        </p:txBody>
      </p:sp>
      <p:sp>
        <p:nvSpPr>
          <p:cNvPr id="26" name="q-num-bg-0"/>
          <p:cNvSpPr/>
          <p:nvPr/>
        </p:nvSpPr>
        <p:spPr>
          <a:xfrm>
            <a:off x="6245352" y="2551176"/>
            <a:ext cx="54864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7" name="q-num-0"/>
          <p:cNvSpPr txBox="1"/>
          <p:nvPr/>
        </p:nvSpPr>
        <p:spPr>
          <a:xfrm>
            <a:off x="6245352" y="255117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Q1</a:t>
            </a:r>
            <a:endParaRPr lang="en-US" sz="1300" dirty="0"/>
          </a:p>
        </p:txBody>
      </p:sp>
      <p:sp>
        <p:nvSpPr>
          <p:cNvPr id="28" name="q-text-0"/>
          <p:cNvSpPr txBox="1"/>
          <p:nvPr/>
        </p:nvSpPr>
        <p:spPr>
          <a:xfrm>
            <a:off x="6922008" y="2551176"/>
            <a:ext cx="4647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ノータブルの後の一次対応は、委託先のチケットを待つ形ですか</a:t>
            </a:r>
            <a:endParaRPr lang="en-US" sz="1300" dirty="0"/>
          </a:p>
        </p:txBody>
      </p:sp>
      <p:sp>
        <p:nvSpPr>
          <p:cNvPr id="29" name="q-num-bg-1"/>
          <p:cNvSpPr/>
          <p:nvPr/>
        </p:nvSpPr>
        <p:spPr>
          <a:xfrm>
            <a:off x="6245352" y="3264408"/>
            <a:ext cx="54864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0" name="q-num-1"/>
          <p:cNvSpPr txBox="1"/>
          <p:nvPr/>
        </p:nvSpPr>
        <p:spPr>
          <a:xfrm>
            <a:off x="6245352" y="32644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Q2</a:t>
            </a:r>
            <a:endParaRPr lang="en-US" sz="1300" dirty="0"/>
          </a:p>
        </p:txBody>
      </p:sp>
      <p:sp>
        <p:nvSpPr>
          <p:cNvPr id="31" name="q-text-1"/>
          <p:cNvSpPr txBox="1"/>
          <p:nvPr/>
        </p:nvSpPr>
        <p:spPr>
          <a:xfrm>
            <a:off x="6922008" y="3264408"/>
            <a:ext cx="4647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検知ルールや閾値を変えるとき、委託先の見積もりと改修を待ちますか</a:t>
            </a:r>
            <a:endParaRPr lang="en-US" sz="1300" dirty="0"/>
          </a:p>
        </p:txBody>
      </p:sp>
      <p:sp>
        <p:nvSpPr>
          <p:cNvPr id="32" name="q-num-bg-2"/>
          <p:cNvSpPr/>
          <p:nvPr/>
        </p:nvSpPr>
        <p:spPr>
          <a:xfrm>
            <a:off x="6245352" y="3977640"/>
            <a:ext cx="54864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3" name="q-num-2"/>
          <p:cNvSpPr txBox="1"/>
          <p:nvPr/>
        </p:nvSpPr>
        <p:spPr>
          <a:xfrm>
            <a:off x="6245352" y="3977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Q3</a:t>
            </a:r>
            <a:endParaRPr lang="en-US" sz="1300" dirty="0"/>
          </a:p>
        </p:txBody>
      </p:sp>
      <p:sp>
        <p:nvSpPr>
          <p:cNvPr id="34" name="q-text-2"/>
          <p:cNvSpPr txBox="1"/>
          <p:nvPr/>
        </p:nvSpPr>
        <p:spPr>
          <a:xfrm>
            <a:off x="6922008" y="3977640"/>
            <a:ext cx="4647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SOARが「いつ・何を・誰の承認で」動くかを、社内で説明できますか</a:t>
            </a:r>
            <a:endParaRPr lang="en-US" sz="1300" dirty="0"/>
          </a:p>
        </p:txBody>
      </p:sp>
      <p:sp>
        <p:nvSpPr>
          <p:cNvPr id="35" name="q-num-bg-3"/>
          <p:cNvSpPr/>
          <p:nvPr/>
        </p:nvSpPr>
        <p:spPr>
          <a:xfrm>
            <a:off x="6245352" y="4690872"/>
            <a:ext cx="54864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6" name="q-num-3"/>
          <p:cNvSpPr txBox="1"/>
          <p:nvPr/>
        </p:nvSpPr>
        <p:spPr>
          <a:xfrm>
            <a:off x="6245352" y="46908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Q4</a:t>
            </a:r>
            <a:endParaRPr lang="en-US" sz="1300" dirty="0"/>
          </a:p>
        </p:txBody>
      </p:sp>
      <p:sp>
        <p:nvSpPr>
          <p:cNvPr id="37" name="q-text-3"/>
          <p:cNvSpPr txBox="1"/>
          <p:nvPr/>
        </p:nvSpPr>
        <p:spPr>
          <a:xfrm>
            <a:off x="6922008" y="4690872"/>
            <a:ext cx="4647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過去の事案の調査記録と判断理由は、社内が読める場所にありますか</a:t>
            </a:r>
            <a:endParaRPr lang="en-US" sz="1300" dirty="0"/>
          </a:p>
        </p:txBody>
      </p:sp>
      <p:sp>
        <p:nvSpPr>
          <p:cNvPr id="38" name="q-num-bg-4"/>
          <p:cNvSpPr/>
          <p:nvPr/>
        </p:nvSpPr>
        <p:spPr>
          <a:xfrm>
            <a:off x="6245352" y="5404104"/>
            <a:ext cx="54864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9" name="q-num-4"/>
          <p:cNvSpPr txBox="1"/>
          <p:nvPr/>
        </p:nvSpPr>
        <p:spPr>
          <a:xfrm>
            <a:off x="6245352" y="540410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Q5</a:t>
            </a:r>
            <a:endParaRPr lang="en-US" sz="1300" dirty="0"/>
          </a:p>
        </p:txBody>
      </p:sp>
      <p:sp>
        <p:nvSpPr>
          <p:cNvPr id="40" name="q-text-4"/>
          <p:cNvSpPr txBox="1"/>
          <p:nvPr/>
        </p:nvSpPr>
        <p:spPr>
          <a:xfrm>
            <a:off x="6922008" y="5404104"/>
            <a:ext cx="4647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直近の事案の発見は、自社の検知でしたか、外部からでしたか</a:t>
            </a:r>
            <a:endParaRPr lang="en-US" sz="1300" dirty="0"/>
          </a:p>
        </p:txBody>
      </p:sp>
      <p:sp>
        <p:nvSpPr>
          <p:cNvPr id="41" name="footnote"/>
          <p:cNvSpPr txBox="1"/>
          <p:nvPr/>
        </p:nvSpPr>
        <p:spPr>
          <a:xfrm>
            <a:off x="457200" y="632764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答えにくい問いが、デモで一緒に確かめたいところです。場面の終わりごとに伺います。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touch">
  <a:themeElements>
    <a:clrScheme name="Techtouch">
      <a:dk1>
        <a:srgbClr val="1F2A37"/>
      </a:dk1>
      <a:lt1>
        <a:srgbClr val="FFFFFF"/>
      </a:lt1>
      <a:dk2>
        <a:srgbClr val="055BB8"/>
      </a:dk2>
      <a:lt2>
        <a:srgbClr val="F0F3F6"/>
      </a:lt2>
      <a:accent1>
        <a:srgbClr val="055BB8"/>
      </a:accent1>
      <a:accent2>
        <a:srgbClr val="0876E8"/>
      </a:accent2>
      <a:accent3>
        <a:srgbClr val="EEF7FD"/>
      </a:accent3>
      <a:accent4>
        <a:srgbClr val="C86A00"/>
      </a:accent4>
      <a:accent5>
        <a:srgbClr val="596573"/>
      </a:accent5>
      <a:accent6>
        <a:srgbClr val="D6DDE5"/>
      </a:accent6>
      <a:hlink>
        <a:srgbClr val="0876E8"/>
      </a:hlink>
      <a:folHlink>
        <a:srgbClr val="4A90E2"/>
      </a:folHlink>
    </a:clrScheme>
    <a:fontScheme name="Techtouch">
      <a:majorFont>
        <a:latin typeface="Yu Gothic"/>
        <a:ea typeface="Yu Gothic"/>
        <a:cs typeface=""/>
        <a:font script="Jpan" typeface="Yu Gothic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Yu Gothic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テックタッチ株式会社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M365アカウント乗っ取り対応デモ 事前説明（短縮版）</dc:title>
  <dc:subject>Splunk ES＋UEBA＋SOAR × テックタッチ（DAP＋AI Hub）イメージデモの事前説明</dc:subject>
  <dc:creator>テックタッチ</dc:creator>
  <cp:lastModifiedBy>テックタッチ</cp:lastModifiedBy>
  <cp:revision>1</cp:revision>
  <dcterms:created xsi:type="dcterms:W3CDTF">2026-10-19T06:35:59Z</dcterms:created>
  <dcterms:modified xsi:type="dcterms:W3CDTF">2026-10-19T06:35:59Z</dcterms:modified>
</cp:coreProperties>
</file>