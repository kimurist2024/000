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fd9a9376-91b5-d65e-2116-e5a7439e688d}">
          <p14:sldIdLst>
            <p14:sldId id="256"/>
            <p14:sldId id="257"/>
          </p14:sldIdLst>
        </p14:section>
        <p14:section name="シナリオ" id="{a8add2de-e5ab-5a29-da8f-bca098f1ff13}">
          <p14:sldIdLst>
            <p14:sldId id="258"/>
            <p14:sldId id="259"/>
            <p14:sldId id="260"/>
            <p14:sldId id="261"/>
            <p14:sldId id="262"/>
          </p14:sldIdLst>
        </p14:section>
        <p14:section name="デモ" id="{81a2b902-9e5d-2041-42ca-3c8169bf0746}">
          <p14:sldIdLst>
            <p14:sldId id="263"/>
            <p14:sldId id="264"/>
            <p14:sldId id="265"/>
            <p14:sldId id="266"/>
            <p14:sldId id="267"/>
          </p14:sldIdLst>
        </p14:section>
        <p14:section name="進め方" id="{51e38a5e-8a09-db19-d682-aa7125dc7e69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本日は、デモの前に、シナリオの前提と見どころをご説明します。架空のA社を舞台にした、一般的なSOC事案の型のシナリオです。特定の企業や事案を題材にしたものではありません。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製品を足す提案ではありません。入っているES・UEBA・SOARを、社内の人が判断・承認・記録まで使い切る提案です。委託先の仕事を取り上げる話でもありません。夜間監視や高度な分析は委託先に続けていただき、一次対応の判断、封じ込めの承認、範囲の確定、記録、ルール変更を社内で持てるようにする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365のアカウントの乗っ取りは、多くの組織で起きる一般的な事案の型です。入口のフィッシングを防ぐ話はしません。速く気づき、社内で止め、範囲を確定し、記録する、までがこのシナリオの範囲です。仮説は確かめるべき前提として置い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・UEBA・SOARは、入れれば守れる製品ではありません。閾値と例外、異常と本人の利用の境目、誰の承認で止めるか、を社内の人が決め続ける仕事が付いています。委託先が悪いという話ではなく、自社に固有の判断を社内に置く、という話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当日は、場面の終わりごとに「伺いたいこと」を一つずつお出しします。事前にこの5つを見ていただくと、どの場面を厚く見るかを決めやすくなります。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ログの相関と調査画面はES、行動の異常はUEBA、自動対応はSOAR、検索案はSplunk AI Assistant。社内の基準・手順・権限との照合はAI Hub、手順の抜け漏れ防止と入力チェックはテックタッチのガイドです。委託先は夜間の監視と高度な分析を続け、社内は判断・承認・記録・改善を持ちます。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工程ごとに、これまで止まっていたところと、デモで見せる姿を並べています。①〜④の承認段階は、デモ用の架空の例です。実際の承認者は御社の対応権限表に合わせます。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場面ごとの見せ場です。各場面の終わりに「伺いたいこと」を一つ出します。時間が限られる場合は、S1・S5・S6を中心に短くできます。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画面はSplunk公式のUIツールキットで組んだイメージで、ESやSOARの実画面ではありません。画面名や項目名は、ESの版によって異なる場合があります。本番のデモでは、御社の版の実画面で確かめます。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ARのプレイブックは、承認の段階が社内で決まっていてこそ動きます。デモでは、①②は即時に成功し、③はSOC責任者の承認待ちで止まり、承認後に実行されます。④はテナント全体の業務に影響するため、CSIRT責任者に判断材料を渡す段階で止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デモの成否は、この5つが画面に残るかどうかで判断します。ケースAは、普段と違う場所からのサインインの後に外部転送ルールと大量ダウンロードがあった架空のアカウントです。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AIの機能は、Assistant（SPLの生成・説明）、UEBA（異常検知）、AI Hub（社内ナレッジとの照合）に分けて扱います。Assistantの精度が上がったことを示す公開の根拠は見当たらないため、毎回、社内基準との照合とテストログでの検証を通します。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削減率の数字はお約束しません。一つの作業を選び、いまの時間と件数を伺ってから、目標を一緒に決めます。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この6項目は、デモを御社の環境に合わせるための前提です。ESの版によって画面名や用語が異なる場合があるため、1番を最初に伺います。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デモの前提です。画面はイメージで、実画面ではありません。数字や人物はすべて架空です。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最後に、次の一歩です。事前の6項目を伺い、デモで5つの問いを一緒に確かめ、最初に測る作業を一つ決めます。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60350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テックタッチ｜事前説明資料（架空のシナリオ・イメージデモ）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テックタッチ｜事前説明資料（架空のシナリオ・イメージデモ）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事前説明資料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M365アカウントの乗っ取りを、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入っているSplunkで社内で回す</a:t>
            </a:r>
            <a:endParaRPr lang="en-US" sz="3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0175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Splunk ES＋UEBA＋SOAR ×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テックタッチ（DAP＋AI Hub）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イメージデモのご案内</a:t>
            </a:r>
            <a:endParaRPr lang="en-US" sz="1600" dirty="0"/>
          </a:p>
        </p:txBody>
      </p:sp>
      <p:sp>
        <p:nvSpPr>
          <p:cNvPr id="5" name="date"/>
          <p:cNvSpPr txBox="1"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2026年10月　テックタッチ</a:t>
            </a:r>
            <a:endParaRPr lang="en-US" sz="1400" dirty="0"/>
          </a:p>
        </p:txBody>
      </p:sp>
      <p:sp>
        <p:nvSpPr>
          <p:cNvPr id="6" name="disclaimer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架空のシナリオとイメージデモです。特定の企業や事案を題材にしたものではありません。画面・人物・企業名・手順・数値はすべて架空です。</a:t>
            </a:r>
            <a:endParaRPr lang="en-US" sz="1100" dirty="0"/>
          </a:p>
        </p:txBody>
      </p:sp>
      <p:pic>
        <p:nvPicPr>
          <p:cNvPr id="7" name="cover-screen" descr="/home/user/000/splunk-es-soar-techtouch-demo/slides/img/screen_i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2280" y="1417320"/>
            <a:ext cx="4846320" cy="28803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8" name="cover-caption"/>
          <p:cNvSpPr txBox="1"/>
          <p:nvPr/>
        </p:nvSpPr>
        <p:spPr>
          <a:xfrm>
            <a:off x="6812280" y="4389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Incident Review の画面イメージ（架空）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本日お伝えしたいこと</a:t>
            </a:r>
            <a:endParaRPr lang="en-US" sz="2600" dirty="0"/>
          </a:p>
        </p:txBody>
      </p:sp>
      <p:sp>
        <p:nvSpPr>
          <p:cNvPr id="3" name="message-bg"/>
          <p:cNvSpPr/>
          <p:nvPr/>
        </p:nvSpPr>
        <p:spPr>
          <a:xfrm>
            <a:off x="548640" y="1143000"/>
            <a:ext cx="4846320" cy="4160520"/>
          </a:xfrm>
          <a:prstGeom prst="roundRect">
            <a:avLst>
              <a:gd name="adj" fmla="val 1758"/>
            </a:avLst>
          </a:prstGeom>
          <a:solidFill>
            <a:schemeClr val="bg2"/>
          </a:solidFill>
          <a:ln/>
        </p:spPr>
      </p:sp>
      <p:sp>
        <p:nvSpPr>
          <p:cNvPr id="4" name="message-1"/>
          <p:cNvSpPr txBox="1"/>
          <p:nvPr/>
        </p:nvSpPr>
        <p:spPr>
          <a:xfrm>
            <a:off x="914400" y="1508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製品を足す話ではありません。</a:t>
            </a:r>
            <a:endParaRPr lang="en-US" sz="2000" dirty="0"/>
          </a:p>
        </p:txBody>
      </p:sp>
      <p:sp>
        <p:nvSpPr>
          <p:cNvPr id="5" name="message-2"/>
          <p:cNvSpPr txBox="1"/>
          <p:nvPr/>
        </p:nvSpPr>
        <p:spPr>
          <a:xfrm>
            <a:off x="914400" y="20574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入っているES・UEBA・SOARを、社内の人が判断・承認・記録まで使い切る話です。</a:t>
            </a:r>
            <a:endParaRPr lang="en-US" sz="2000" dirty="0"/>
          </a:p>
        </p:txBody>
      </p:sp>
      <p:sp>
        <p:nvSpPr>
          <p:cNvPr id="6" name="message-3"/>
          <p:cNvSpPr txBox="1"/>
          <p:nvPr/>
        </p:nvSpPr>
        <p:spPr>
          <a:xfrm>
            <a:off x="914400" y="365760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このデモで確かめるのは「ツールが動くこと」ではなく、SOC担当者がノータブルの後を、社内の基準で最後まで進められることです。</a:t>
            </a:r>
            <a:endParaRPr lang="en-US" sz="1400" dirty="0"/>
          </a:p>
        </p:txBody>
      </p:sp>
      <p:sp>
        <p:nvSpPr>
          <p:cNvPr id="7" name="point-0"/>
          <p:cNvSpPr/>
          <p:nvPr/>
        </p:nvSpPr>
        <p:spPr>
          <a:xfrm>
            <a:off x="5760720" y="1143000"/>
            <a:ext cx="5879592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/>
        </p:spPr>
      </p:sp>
      <p:sp>
        <p:nvSpPr>
          <p:cNvPr id="8" name="point-frame-0"/>
          <p:cNvSpPr/>
          <p:nvPr/>
        </p:nvSpPr>
        <p:spPr>
          <a:xfrm>
            <a:off x="5760720" y="1143000"/>
            <a:ext cx="5879592" cy="1234440"/>
          </a:xfrm>
          <a:prstGeom prst="roundRect">
            <a:avLst>
              <a:gd name="adj" fmla="val 5926"/>
            </a:avLst>
          </a:prstGeom>
          <a:ln w="15875">
            <a:solidFill>
              <a:schemeClr val="bg2"/>
            </a:solidFill>
            <a:prstDash val="solid"/>
          </a:ln>
        </p:spPr>
      </p:sp>
      <p:sp>
        <p:nvSpPr>
          <p:cNvPr id="9" name="point-badge-0-circle"/>
          <p:cNvSpPr/>
          <p:nvPr/>
        </p:nvSpPr>
        <p:spPr>
          <a:xfrm>
            <a:off x="5989320" y="144475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point-badg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2142" y="1617574"/>
            <a:ext cx="294437" cy="294437"/>
          </a:xfrm>
          <a:prstGeom prst="rect">
            <a:avLst/>
          </a:prstGeom>
        </p:spPr>
      </p:pic>
      <p:sp>
        <p:nvSpPr>
          <p:cNvPr id="11" name="point-head-0"/>
          <p:cNvSpPr txBox="1"/>
          <p:nvPr/>
        </p:nvSpPr>
        <p:spPr>
          <a:xfrm>
            <a:off x="6858000" y="1344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ノータブルの後を、社内で進める</a:t>
            </a:r>
            <a:endParaRPr lang="en-US" sz="1600" dirty="0"/>
          </a:p>
        </p:txBody>
      </p:sp>
      <p:sp>
        <p:nvSpPr>
          <p:cNvPr id="12" name="point-body-0"/>
          <p:cNvSpPr txBox="1"/>
          <p:nvPr/>
        </p:nvSpPr>
        <p:spPr>
          <a:xfrm>
            <a:off x="6858000" y="1764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「本人の利用か」の確認と一次対応を、社内の手順で最後まで</a:t>
            </a:r>
            <a:endParaRPr lang="en-US" sz="1400" dirty="0"/>
          </a:p>
        </p:txBody>
      </p:sp>
      <p:sp>
        <p:nvSpPr>
          <p:cNvPr id="13" name="point-1"/>
          <p:cNvSpPr/>
          <p:nvPr/>
        </p:nvSpPr>
        <p:spPr>
          <a:xfrm>
            <a:off x="5760720" y="2560320"/>
            <a:ext cx="5879592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/>
        </p:spPr>
      </p:sp>
      <p:sp>
        <p:nvSpPr>
          <p:cNvPr id="14" name="point-frame-1"/>
          <p:cNvSpPr/>
          <p:nvPr/>
        </p:nvSpPr>
        <p:spPr>
          <a:xfrm>
            <a:off x="5760720" y="2560320"/>
            <a:ext cx="5879592" cy="1234440"/>
          </a:xfrm>
          <a:prstGeom prst="roundRect">
            <a:avLst>
              <a:gd name="adj" fmla="val 5926"/>
            </a:avLst>
          </a:prstGeom>
          <a:ln w="15875">
            <a:solidFill>
              <a:schemeClr val="bg2"/>
            </a:solidFill>
            <a:prstDash val="solid"/>
          </a:ln>
        </p:spPr>
      </p:sp>
      <p:sp>
        <p:nvSpPr>
          <p:cNvPr id="15" name="point-badge-1-circle"/>
          <p:cNvSpPr/>
          <p:nvPr/>
        </p:nvSpPr>
        <p:spPr>
          <a:xfrm>
            <a:off x="5989320" y="28620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oint-badg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142" y="3034894"/>
            <a:ext cx="294437" cy="294437"/>
          </a:xfrm>
          <a:prstGeom prst="rect">
            <a:avLst/>
          </a:prstGeom>
        </p:spPr>
      </p:pic>
      <p:sp>
        <p:nvSpPr>
          <p:cNvPr id="17" name="point-head-1"/>
          <p:cNvSpPr txBox="1"/>
          <p:nvPr/>
        </p:nvSpPr>
        <p:spPr>
          <a:xfrm>
            <a:off x="6858000" y="2761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承認段階を決めて、SOARを動かす</a:t>
            </a:r>
            <a:endParaRPr lang="en-US" sz="1600" dirty="0"/>
          </a:p>
        </p:txBody>
      </p:sp>
      <p:sp>
        <p:nvSpPr>
          <p:cNvPr id="18" name="point-body-1"/>
          <p:cNvSpPr txBox="1"/>
          <p:nvPr/>
        </p:nvSpPr>
        <p:spPr>
          <a:xfrm>
            <a:off x="6858000" y="31821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誰の承認で何を止めるかを、プレイブックの入力に組み込む</a:t>
            </a:r>
            <a:endParaRPr lang="en-US" sz="1400" dirty="0"/>
          </a:p>
        </p:txBody>
      </p:sp>
      <p:sp>
        <p:nvSpPr>
          <p:cNvPr id="19" name="point-2"/>
          <p:cNvSpPr/>
          <p:nvPr/>
        </p:nvSpPr>
        <p:spPr>
          <a:xfrm>
            <a:off x="5760720" y="3977640"/>
            <a:ext cx="5879592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/>
        </p:spPr>
      </p:sp>
      <p:sp>
        <p:nvSpPr>
          <p:cNvPr id="20" name="point-frame-2"/>
          <p:cNvSpPr/>
          <p:nvPr/>
        </p:nvSpPr>
        <p:spPr>
          <a:xfrm>
            <a:off x="5760720" y="3977640"/>
            <a:ext cx="5879592" cy="1234440"/>
          </a:xfrm>
          <a:prstGeom prst="roundRect">
            <a:avLst>
              <a:gd name="adj" fmla="val 5926"/>
            </a:avLst>
          </a:prstGeom>
          <a:ln w="15875">
            <a:solidFill>
              <a:schemeClr val="bg2"/>
            </a:solidFill>
            <a:prstDash val="solid"/>
          </a:ln>
        </p:spPr>
      </p:sp>
      <p:sp>
        <p:nvSpPr>
          <p:cNvPr id="21" name="point-badge-2-circle"/>
          <p:cNvSpPr/>
          <p:nvPr/>
        </p:nvSpPr>
        <p:spPr>
          <a:xfrm>
            <a:off x="5989320" y="427939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point-badg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142" y="4452214"/>
            <a:ext cx="294437" cy="294437"/>
          </a:xfrm>
          <a:prstGeom prst="rect">
            <a:avLst/>
          </a:prstGeom>
        </p:spPr>
      </p:pic>
      <p:sp>
        <p:nvSpPr>
          <p:cNvPr id="23" name="point-head-2"/>
          <p:cNvSpPr txBox="1"/>
          <p:nvPr/>
        </p:nvSpPr>
        <p:spPr>
          <a:xfrm>
            <a:off x="6858000" y="417880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範囲・記録・改善を、社内に残す</a:t>
            </a:r>
            <a:endParaRPr lang="en-US" sz="1600" dirty="0"/>
          </a:p>
        </p:txBody>
      </p:sp>
      <p:sp>
        <p:nvSpPr>
          <p:cNvPr id="24" name="point-body-2"/>
          <p:cNvSpPr txBox="1"/>
          <p:nvPr/>
        </p:nvSpPr>
        <p:spPr>
          <a:xfrm>
            <a:off x="6858000" y="4599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次の事案で、同じ時間をかけない</a:t>
            </a:r>
            <a:endParaRPr lang="en-US" sz="1400" dirty="0"/>
          </a:p>
        </p:txBody>
      </p:sp>
      <p:sp>
        <p:nvSpPr>
          <p:cNvPr id="25" name="partner-circle"/>
          <p:cNvSpPr/>
          <p:nvPr/>
        </p:nvSpPr>
        <p:spPr>
          <a:xfrm>
            <a:off x="548640" y="559612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partner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5719572"/>
            <a:ext cx="210312" cy="210312"/>
          </a:xfrm>
          <a:prstGeom prst="rect">
            <a:avLst/>
          </a:prstGeom>
        </p:spPr>
      </p:pic>
      <p:sp>
        <p:nvSpPr>
          <p:cNvPr id="27" name="partner-text"/>
          <p:cNvSpPr txBox="1"/>
          <p:nvPr/>
        </p:nvSpPr>
        <p:spPr>
          <a:xfrm>
            <a:off x="1143000" y="55778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委託先の夜間監視・高度な分析・フォレンジックは、これまでどおりです。社内が判断し、動き、記録できる範囲を広げる話です。</a:t>
            </a:r>
            <a:endParaRPr lang="en-US" sz="14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題材：M365アカウントの乗っ取り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多くの組織で起きる一般的な事案の型を、架空のA社に置いたシナリオです</a:t>
            </a:r>
            <a:endParaRPr lang="en-US" sz="1500" dirty="0"/>
          </a:p>
        </p:txBody>
      </p:sp>
      <p:sp>
        <p:nvSpPr>
          <p:cNvPr id="4" name="step-0"/>
          <p:cNvSpPr/>
          <p:nvPr/>
        </p:nvSpPr>
        <p:spPr>
          <a:xfrm>
            <a:off x="548640" y="1508760"/>
            <a:ext cx="1691640" cy="2286000"/>
          </a:xfrm>
          <a:prstGeom prst="roundRect">
            <a:avLst>
              <a:gd name="adj" fmla="val 4324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5" name="step-badge-0-circle"/>
          <p:cNvSpPr/>
          <p:nvPr/>
        </p:nvSpPr>
        <p:spPr>
          <a:xfrm>
            <a:off x="1051560" y="16916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step-badg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726" y="1876806"/>
            <a:ext cx="315468" cy="315468"/>
          </a:xfrm>
          <a:prstGeom prst="rect">
            <a:avLst/>
          </a:prstGeom>
        </p:spPr>
      </p:pic>
      <p:sp>
        <p:nvSpPr>
          <p:cNvPr id="7" name="step-head-0"/>
          <p:cNvSpPr txBox="1"/>
          <p:nvPr/>
        </p:nvSpPr>
        <p:spPr>
          <a:xfrm>
            <a:off x="658368" y="251460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フィッシング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メール</a:t>
            </a:r>
            <a:endParaRPr lang="en-US" sz="1400" dirty="0"/>
          </a:p>
        </p:txBody>
      </p:sp>
      <p:sp>
        <p:nvSpPr>
          <p:cNvPr id="8" name="step-body-0"/>
          <p:cNvSpPr txBox="1"/>
          <p:nvPr/>
        </p:nvSpPr>
        <p:spPr>
          <a:xfrm>
            <a:off x="658368" y="320040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取引先を装った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リンク</a:t>
            </a:r>
            <a:endParaRPr lang="en-US" sz="1200" dirty="0"/>
          </a:p>
        </p:txBody>
      </p:sp>
      <p:sp>
        <p:nvSpPr>
          <p:cNvPr id="9" name="step-arrow-0"/>
          <p:cNvSpPr/>
          <p:nvPr/>
        </p:nvSpPr>
        <p:spPr>
          <a:xfrm>
            <a:off x="2276856" y="2542032"/>
            <a:ext cx="118872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0" name="step-1"/>
          <p:cNvSpPr/>
          <p:nvPr/>
        </p:nvSpPr>
        <p:spPr>
          <a:xfrm>
            <a:off x="2423160" y="1508760"/>
            <a:ext cx="1691640" cy="2286000"/>
          </a:xfrm>
          <a:prstGeom prst="roundRect">
            <a:avLst>
              <a:gd name="adj" fmla="val 4324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11" name="step-badge-1-circle"/>
          <p:cNvSpPr/>
          <p:nvPr/>
        </p:nvSpPr>
        <p:spPr>
          <a:xfrm>
            <a:off x="2926080" y="169164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step-badg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246" y="1876806"/>
            <a:ext cx="315468" cy="315468"/>
          </a:xfrm>
          <a:prstGeom prst="rect">
            <a:avLst/>
          </a:prstGeom>
        </p:spPr>
      </p:pic>
      <p:sp>
        <p:nvSpPr>
          <p:cNvPr id="13" name="step-head-1"/>
          <p:cNvSpPr txBox="1"/>
          <p:nvPr/>
        </p:nvSpPr>
        <p:spPr>
          <a:xfrm>
            <a:off x="2532888" y="251460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セッションを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盗まれる</a:t>
            </a:r>
            <a:endParaRPr lang="en-US" sz="1400" dirty="0"/>
          </a:p>
        </p:txBody>
      </p:sp>
      <p:sp>
        <p:nvSpPr>
          <p:cNvPr id="14" name="step-body-1"/>
          <p:cNvSpPr txBox="1"/>
          <p:nvPr/>
        </p:nvSpPr>
        <p:spPr>
          <a:xfrm>
            <a:off x="2532888" y="320040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AiTM型の想定</a:t>
            </a:r>
            <a:endParaRPr lang="en-US" sz="1200" dirty="0"/>
          </a:p>
        </p:txBody>
      </p:sp>
      <p:sp>
        <p:nvSpPr>
          <p:cNvPr id="15" name="step-arrow-1"/>
          <p:cNvSpPr/>
          <p:nvPr/>
        </p:nvSpPr>
        <p:spPr>
          <a:xfrm>
            <a:off x="4151376" y="2542032"/>
            <a:ext cx="118872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16" name="step-2"/>
          <p:cNvSpPr/>
          <p:nvPr/>
        </p:nvSpPr>
        <p:spPr>
          <a:xfrm>
            <a:off x="4297680" y="1508760"/>
            <a:ext cx="1691640" cy="2286000"/>
          </a:xfrm>
          <a:prstGeom prst="roundRect">
            <a:avLst>
              <a:gd name="adj" fmla="val 432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7" name="step-badge-2-circle"/>
          <p:cNvSpPr/>
          <p:nvPr/>
        </p:nvSpPr>
        <p:spPr>
          <a:xfrm>
            <a:off x="48006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step-badg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766" y="1876806"/>
            <a:ext cx="315468" cy="315468"/>
          </a:xfrm>
          <a:prstGeom prst="rect">
            <a:avLst/>
          </a:prstGeom>
        </p:spPr>
      </p:pic>
      <p:sp>
        <p:nvSpPr>
          <p:cNvPr id="19" name="step-head-2"/>
          <p:cNvSpPr txBox="1"/>
          <p:nvPr/>
        </p:nvSpPr>
        <p:spPr>
          <a:xfrm>
            <a:off x="4407408" y="251460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普段と違う場所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からサインイン</a:t>
            </a:r>
            <a:endParaRPr lang="en-US" sz="1400" dirty="0"/>
          </a:p>
        </p:txBody>
      </p:sp>
      <p:sp>
        <p:nvSpPr>
          <p:cNvPr id="20" name="step-body-2"/>
          <p:cNvSpPr txBox="1"/>
          <p:nvPr/>
        </p:nvSpPr>
        <p:spPr>
          <a:xfrm>
            <a:off x="4407408" y="320040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深夜・国外・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MFA済み</a:t>
            </a:r>
            <a:endParaRPr lang="en-US" sz="1200" dirty="0"/>
          </a:p>
        </p:txBody>
      </p:sp>
      <p:sp>
        <p:nvSpPr>
          <p:cNvPr id="21" name="step-arrow-2"/>
          <p:cNvSpPr/>
          <p:nvPr/>
        </p:nvSpPr>
        <p:spPr>
          <a:xfrm>
            <a:off x="6025896" y="2542032"/>
            <a:ext cx="118872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2" name="step-3"/>
          <p:cNvSpPr/>
          <p:nvPr/>
        </p:nvSpPr>
        <p:spPr>
          <a:xfrm>
            <a:off x="6172200" y="1508760"/>
            <a:ext cx="1691640" cy="2286000"/>
          </a:xfrm>
          <a:prstGeom prst="roundRect">
            <a:avLst>
              <a:gd name="adj" fmla="val 432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3" name="step-badge-3-circle"/>
          <p:cNvSpPr/>
          <p:nvPr/>
        </p:nvSpPr>
        <p:spPr>
          <a:xfrm>
            <a:off x="667512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step-badge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286" y="1876806"/>
            <a:ext cx="315468" cy="315468"/>
          </a:xfrm>
          <a:prstGeom prst="rect">
            <a:avLst/>
          </a:prstGeom>
        </p:spPr>
      </p:pic>
      <p:sp>
        <p:nvSpPr>
          <p:cNvPr id="25" name="step-head-3"/>
          <p:cNvSpPr txBox="1"/>
          <p:nvPr/>
        </p:nvSpPr>
        <p:spPr>
          <a:xfrm>
            <a:off x="6281928" y="251460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外部への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転送ルール</a:t>
            </a:r>
            <a:endParaRPr lang="en-US" sz="1400" dirty="0"/>
          </a:p>
        </p:txBody>
      </p:sp>
      <p:sp>
        <p:nvSpPr>
          <p:cNvPr id="26" name="step-body-3"/>
          <p:cNvSpPr txBox="1"/>
          <p:nvPr/>
        </p:nvSpPr>
        <p:spPr>
          <a:xfrm>
            <a:off x="6281928" y="320040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受信トレイの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ルールを作成</a:t>
            </a:r>
            <a:endParaRPr lang="en-US" sz="1200" dirty="0"/>
          </a:p>
        </p:txBody>
      </p:sp>
      <p:sp>
        <p:nvSpPr>
          <p:cNvPr id="27" name="step-arrow-3"/>
          <p:cNvSpPr/>
          <p:nvPr/>
        </p:nvSpPr>
        <p:spPr>
          <a:xfrm>
            <a:off x="7900416" y="2542032"/>
            <a:ext cx="118872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8" name="step-4"/>
          <p:cNvSpPr/>
          <p:nvPr/>
        </p:nvSpPr>
        <p:spPr>
          <a:xfrm>
            <a:off x="8046720" y="1508760"/>
            <a:ext cx="1691640" cy="2286000"/>
          </a:xfrm>
          <a:prstGeom prst="roundRect">
            <a:avLst>
              <a:gd name="adj" fmla="val 432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9" name="step-badge-4-circle"/>
          <p:cNvSpPr/>
          <p:nvPr/>
        </p:nvSpPr>
        <p:spPr>
          <a:xfrm>
            <a:off x="854964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step-badge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806" y="1876806"/>
            <a:ext cx="315468" cy="315468"/>
          </a:xfrm>
          <a:prstGeom prst="rect">
            <a:avLst/>
          </a:prstGeom>
        </p:spPr>
      </p:pic>
      <p:sp>
        <p:nvSpPr>
          <p:cNvPr id="31" name="step-head-4"/>
          <p:cNvSpPr txBox="1"/>
          <p:nvPr/>
        </p:nvSpPr>
        <p:spPr>
          <a:xfrm>
            <a:off x="8156448" y="251460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大量の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ダウンロード</a:t>
            </a:r>
            <a:endParaRPr lang="en-US" sz="1400" dirty="0"/>
          </a:p>
        </p:txBody>
      </p:sp>
      <p:sp>
        <p:nvSpPr>
          <p:cNvPr id="32" name="step-body-4"/>
          <p:cNvSpPr txBox="1"/>
          <p:nvPr/>
        </p:nvSpPr>
        <p:spPr>
          <a:xfrm>
            <a:off x="8156448" y="320040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SharePointから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1,200件</a:t>
            </a:r>
            <a:endParaRPr lang="en-US" sz="1200" dirty="0"/>
          </a:p>
        </p:txBody>
      </p:sp>
      <p:sp>
        <p:nvSpPr>
          <p:cNvPr id="33" name="step-arrow-4"/>
          <p:cNvSpPr/>
          <p:nvPr/>
        </p:nvSpPr>
        <p:spPr>
          <a:xfrm>
            <a:off x="9774936" y="2542032"/>
            <a:ext cx="118872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34" name="step-5"/>
          <p:cNvSpPr/>
          <p:nvPr/>
        </p:nvSpPr>
        <p:spPr>
          <a:xfrm>
            <a:off x="9921240" y="1508760"/>
            <a:ext cx="1691640" cy="2286000"/>
          </a:xfrm>
          <a:prstGeom prst="roundRect">
            <a:avLst>
              <a:gd name="adj" fmla="val 432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5" name="step-badge-5-circle"/>
          <p:cNvSpPr/>
          <p:nvPr/>
        </p:nvSpPr>
        <p:spPr>
          <a:xfrm>
            <a:off x="1042416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step-badge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9326" y="1876806"/>
            <a:ext cx="315468" cy="315468"/>
          </a:xfrm>
          <a:prstGeom prst="rect">
            <a:avLst/>
          </a:prstGeom>
        </p:spPr>
      </p:pic>
      <p:sp>
        <p:nvSpPr>
          <p:cNvPr id="37" name="step-head-5"/>
          <p:cNvSpPr txBox="1"/>
          <p:nvPr/>
        </p:nvSpPr>
        <p:spPr>
          <a:xfrm>
            <a:off x="10030968" y="2514600"/>
            <a:ext cx="1472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社内へ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フィッシング</a:t>
            </a:r>
            <a:endParaRPr lang="en-US" sz="1400" dirty="0"/>
          </a:p>
        </p:txBody>
      </p:sp>
      <p:sp>
        <p:nvSpPr>
          <p:cNvPr id="38" name="step-body-5"/>
          <p:cNvSpPr txBox="1"/>
          <p:nvPr/>
        </p:nvSpPr>
        <p:spPr>
          <a:xfrm>
            <a:off x="10030968" y="320040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380名へ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リンク付きメール</a:t>
            </a:r>
            <a:endParaRPr lang="en-US" sz="1200" dirty="0"/>
          </a:p>
        </p:txBody>
      </p:sp>
      <p:sp>
        <p:nvSpPr>
          <p:cNvPr id="39" name="scope-out"/>
          <p:cNvSpPr/>
          <p:nvPr/>
        </p:nvSpPr>
        <p:spPr>
          <a:xfrm>
            <a:off x="548640" y="3977640"/>
            <a:ext cx="3566160" cy="566928"/>
          </a:xfrm>
          <a:prstGeom prst="roundRect">
            <a:avLst>
              <a:gd name="adj" fmla="val 12903"/>
            </a:avLst>
          </a:prstGeom>
          <a:solidFill>
            <a:schemeClr val="accent5">
              <a:alpha val="15000"/>
            </a:schemeClr>
          </a:solidFill>
          <a:ln/>
        </p:spPr>
      </p:sp>
      <p:sp>
        <p:nvSpPr>
          <p:cNvPr id="40" name="scope-out-text"/>
          <p:cNvSpPr txBox="1"/>
          <p:nvPr/>
        </p:nvSpPr>
        <p:spPr>
          <a:xfrm>
            <a:off x="640080" y="397764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入口の防止は、SIEM・DAPの範囲外</a:t>
            </a:r>
            <a:endParaRPr lang="en-US" sz="1300" dirty="0"/>
          </a:p>
        </p:txBody>
      </p:sp>
      <p:sp>
        <p:nvSpPr>
          <p:cNvPr id="41" name="scope-in"/>
          <p:cNvSpPr/>
          <p:nvPr/>
        </p:nvSpPr>
        <p:spPr>
          <a:xfrm>
            <a:off x="4297680" y="3977640"/>
            <a:ext cx="73152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</p:sp>
      <p:sp>
        <p:nvSpPr>
          <p:cNvPr id="42" name="scope-in-text"/>
          <p:cNvSpPr txBox="1"/>
          <p:nvPr/>
        </p:nvSpPr>
        <p:spPr>
          <a:xfrm>
            <a:off x="4389120" y="39776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デモの範囲：速く気づき、社内で止め、範囲を確定し、記録する</a:t>
            </a:r>
            <a:endParaRPr lang="en-US" sz="1500" dirty="0"/>
          </a:p>
        </p:txBody>
      </p:sp>
      <p:sp>
        <p:nvSpPr>
          <p:cNvPr id="43" name="hypo-bg"/>
          <p:cNvSpPr/>
          <p:nvPr/>
        </p:nvSpPr>
        <p:spPr>
          <a:xfrm>
            <a:off x="548640" y="4846320"/>
            <a:ext cx="11094415" cy="1188720"/>
          </a:xfrm>
          <a:prstGeom prst="roundRect">
            <a:avLst>
              <a:gd name="adj" fmla="val 6154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44" name="hypo-badge-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5" name="hypo-badge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2" y="5293462"/>
            <a:ext cx="294437" cy="294437"/>
          </a:xfrm>
          <a:prstGeom prst="rect">
            <a:avLst/>
          </a:prstGeom>
        </p:spPr>
      </p:pic>
      <p:sp>
        <p:nvSpPr>
          <p:cNvPr id="46" name="hypo-head"/>
          <p:cNvSpPr txBox="1"/>
          <p:nvPr/>
        </p:nvSpPr>
        <p:spPr>
          <a:xfrm>
            <a:off x="1691640" y="4983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デモが置く仮説（確認必要）</a:t>
            </a:r>
            <a:endParaRPr lang="en-US" sz="1400" dirty="0"/>
          </a:p>
        </p:txBody>
      </p:sp>
      <p:sp>
        <p:nvSpPr>
          <p:cNvPr id="47" name="hypo-body"/>
          <p:cNvSpPr txBox="1"/>
          <p:nvPr/>
        </p:nvSpPr>
        <p:spPr>
          <a:xfrm>
            <a:off x="1691640" y="534924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UEBAのノータブルは出たが、「本人の利用か」を確かめる手順と担当が社内に無く、委託先の問い合わせ待ちで一次対応が4時間止まる。誰の承認でアカウントを止めるかも決まっていない。</a:t>
            </a:r>
            <a:endParaRPr lang="en-US" sz="1400" dirty="0"/>
          </a:p>
        </p:txBody>
      </p:sp>
      <p:sp>
        <p:nvSpPr>
          <p:cNvPr id="48" name="fiction-note"/>
          <p:cNvSpPr txBox="1"/>
          <p:nvPr/>
        </p:nvSpPr>
        <p:spPr>
          <a:xfrm>
            <a:off x="54864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件数・時刻はデモ用の架空の値です。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ツールはそろっているのに、守り切れない構造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ES・UEBA・SOARには、それぞれ社内の人が決め続ける仕事が付いています</a:t>
            </a:r>
            <a:endParaRPr lang="en-US" sz="1500" dirty="0"/>
          </a:p>
        </p:txBody>
      </p:sp>
      <p:graphicFrame>
        <p:nvGraphicFramePr>
          <p:cNvPr id="5" name="structu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468880"/>
                <a:gridCol w="3703320"/>
                <a:gridCol w="3319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製品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製品がすること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社内が決め続けること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社内に決める人がいないと起きること</a:t>
                      </a:r>
                      <a:endParaRPr lang="en-US" sz="1400" dirty="0"/>
                    </a:p>
                  </a:txBody>
                  <a:tcPr marL="109728" marR="109728" marT="91440" marB="91440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ES（SIEM）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ログの相関、ノータブル、調査画面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M365の監査ログを入れるか、閾値と例外（移行作業・出張）、誰がノータブルを見るか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ルールの変更が数週間待ち。ノータブルの後の判断が社内に残らない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UEBA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利用者・端末の行動の異常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「異常」と「本人の利用」の境目（出張・在宅・新しい端末）、本人確認の手順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異常のスコアが出ても、誰が本人に確かめるかが決まらず、放置される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SOAR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プレイブックによる自動対応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どこまで自動で動かすか、誰の承認で止めるか、例外（役員・管理者）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承認待ちでプレイブックが止まる。または止めてはいけないものを止める</a:t>
                      </a:r>
                      <a:endParaRPr lang="en-US" sz="1400" dirty="0"/>
                    </a:p>
                  </a:txBody>
                  <a:tcPr marL="109728" marR="109728" marT="91440" marB="91440" anchor="t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tructure-note-bg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6" name="structure-note-badge-circle"/>
          <p:cNvSpPr/>
          <p:nvPr/>
        </p:nvSpPr>
        <p:spPr>
          <a:xfrm>
            <a:off x="777240" y="54132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tructure-note-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5536692"/>
            <a:ext cx="210312" cy="210312"/>
          </a:xfrm>
          <a:prstGeom prst="rect">
            <a:avLst/>
          </a:prstGeom>
        </p:spPr>
      </p:pic>
      <p:sp>
        <p:nvSpPr>
          <p:cNvPr id="8" name="structure-note"/>
          <p:cNvSpPr txBox="1"/>
          <p:nvPr/>
        </p:nvSpPr>
        <p:spPr>
          <a:xfrm>
            <a:off x="141732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監視を委託先に任せるほど、自社に固有の判断（その人は出張中か、誰が止めてよいか）は、社内が持っていないと回りません。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事前に考えていただきたい5つの問い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デモの各場面の終わりに、この問いに沿って伺います</a:t>
            </a:r>
            <a:endParaRPr lang="en-US" sz="1500" dirty="0"/>
          </a:p>
        </p:txBody>
      </p:sp>
      <p:sp>
        <p:nvSpPr>
          <p:cNvPr id="4" name="q-0-circle"/>
          <p:cNvSpPr/>
          <p:nvPr/>
        </p:nvSpPr>
        <p:spPr>
          <a:xfrm>
            <a:off x="548640" y="158191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q-0-num"/>
          <p:cNvSpPr txBox="1"/>
          <p:nvPr/>
        </p:nvSpPr>
        <p:spPr>
          <a:xfrm>
            <a:off x="548640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Q1</a:t>
            </a:r>
            <a:endParaRPr lang="en-US" sz="1600" dirty="0"/>
          </a:p>
        </p:txBody>
      </p:sp>
      <p:sp>
        <p:nvSpPr>
          <p:cNvPr id="6" name="q-text-0"/>
          <p:cNvSpPr txBox="1"/>
          <p:nvPr/>
        </p:nvSpPr>
        <p:spPr>
          <a:xfrm>
            <a:off x="1325880" y="15087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ノータブルやアラートの後の一次対応は、委託先のチケットを待つ形になっていますか</a:t>
            </a:r>
            <a:endParaRPr lang="en-US" sz="1500" dirty="0"/>
          </a:p>
        </p:txBody>
      </p:sp>
      <p:sp>
        <p:nvSpPr>
          <p:cNvPr id="7" name="q-1-circle"/>
          <p:cNvSpPr/>
          <p:nvPr/>
        </p:nvSpPr>
        <p:spPr>
          <a:xfrm>
            <a:off x="548640" y="24780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q-1-num"/>
          <p:cNvSpPr txBox="1"/>
          <p:nvPr/>
        </p:nvSpPr>
        <p:spPr>
          <a:xfrm>
            <a:off x="548640" y="2478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Q2</a:t>
            </a:r>
            <a:endParaRPr lang="en-US" sz="1600" dirty="0"/>
          </a:p>
        </p:txBody>
      </p:sp>
      <p:sp>
        <p:nvSpPr>
          <p:cNvPr id="9" name="q-text-1"/>
          <p:cNvSpPr txBox="1"/>
          <p:nvPr/>
        </p:nvSpPr>
        <p:spPr>
          <a:xfrm>
            <a:off x="1325880" y="240487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M365など自社のクラウドサービスの検知ルールや閾値を変えるとき、社内で完結せず、見積もりと改修を待ちますか</a:t>
            </a:r>
            <a:endParaRPr lang="en-US" sz="1500" dirty="0"/>
          </a:p>
        </p:txBody>
      </p:sp>
      <p:sp>
        <p:nvSpPr>
          <p:cNvPr id="10" name="q-2-circle"/>
          <p:cNvSpPr/>
          <p:nvPr/>
        </p:nvSpPr>
        <p:spPr>
          <a:xfrm>
            <a:off x="548640" y="33741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q-2-num"/>
          <p:cNvSpPr txBox="1"/>
          <p:nvPr/>
        </p:nvSpPr>
        <p:spPr>
          <a:xfrm>
            <a:off x="54864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Q3</a:t>
            </a:r>
            <a:endParaRPr lang="en-US" sz="1600" dirty="0"/>
          </a:p>
        </p:txBody>
      </p:sp>
      <p:sp>
        <p:nvSpPr>
          <p:cNvPr id="12" name="q-text-2"/>
          <p:cNvSpPr txBox="1"/>
          <p:nvPr/>
        </p:nvSpPr>
        <p:spPr>
          <a:xfrm>
            <a:off x="1325880" y="3300984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SOARのプレイブックが「いつ・何を・誰の承認で」動くかを、社内の担当者が説明できますか</a:t>
            </a:r>
            <a:endParaRPr lang="en-US" sz="1500" dirty="0"/>
          </a:p>
        </p:txBody>
      </p:sp>
      <p:sp>
        <p:nvSpPr>
          <p:cNvPr id="13" name="q-3-circle"/>
          <p:cNvSpPr/>
          <p:nvPr/>
        </p:nvSpPr>
        <p:spPr>
          <a:xfrm>
            <a:off x="548640" y="42702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q-3-num"/>
          <p:cNvSpPr txBox="1"/>
          <p:nvPr/>
        </p:nvSpPr>
        <p:spPr>
          <a:xfrm>
            <a:off x="548640" y="4270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Q4</a:t>
            </a:r>
            <a:endParaRPr lang="en-US" sz="1600" dirty="0"/>
          </a:p>
        </p:txBody>
      </p:sp>
      <p:sp>
        <p:nvSpPr>
          <p:cNvPr id="15" name="q-text-3"/>
          <p:cNvSpPr txBox="1"/>
          <p:nvPr/>
        </p:nvSpPr>
        <p:spPr>
          <a:xfrm>
            <a:off x="1325880" y="4197096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過去の事案の調査記録と判断理由は、社内が読める場所にありますか。委託先のチケットにしかありませんか</a:t>
            </a:r>
            <a:endParaRPr lang="en-US" sz="1500" dirty="0"/>
          </a:p>
        </p:txBody>
      </p:sp>
      <p:sp>
        <p:nvSpPr>
          <p:cNvPr id="16" name="q-4-circle"/>
          <p:cNvSpPr/>
          <p:nvPr/>
        </p:nvSpPr>
        <p:spPr>
          <a:xfrm>
            <a:off x="548640" y="5166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q-4-num"/>
          <p:cNvSpPr txBox="1"/>
          <p:nvPr/>
        </p:nvSpPr>
        <p:spPr>
          <a:xfrm>
            <a:off x="54864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Q5</a:t>
            </a:r>
            <a:endParaRPr lang="en-US" sz="1600" dirty="0"/>
          </a:p>
        </p:txBody>
      </p:sp>
      <p:sp>
        <p:nvSpPr>
          <p:cNvPr id="18" name="q-text-4"/>
          <p:cNvSpPr txBox="1"/>
          <p:nvPr/>
        </p:nvSpPr>
        <p:spPr>
          <a:xfrm>
            <a:off x="1325880" y="509320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直近の事案の発見は、自社の検知でしたか。外部（クラウド事業者・委託先・通報）でしたか</a:t>
            </a:r>
            <a:endParaRPr lang="en-US" sz="1500" dirty="0"/>
          </a:p>
        </p:txBody>
      </p:sp>
      <p:sp>
        <p:nvSpPr>
          <p:cNvPr id="19" name="q-callout"/>
          <p:cNvSpPr/>
          <p:nvPr/>
        </p:nvSpPr>
        <p:spPr>
          <a:xfrm>
            <a:off x="8275320" y="1508760"/>
            <a:ext cx="3364992" cy="434340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</p:spPr>
      </p:sp>
      <p:sp>
        <p:nvSpPr>
          <p:cNvPr id="20" name="q-callout-badge-circle"/>
          <p:cNvSpPr/>
          <p:nvPr/>
        </p:nvSpPr>
        <p:spPr>
          <a:xfrm>
            <a:off x="8549640" y="1783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q-callout-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2462" y="1955902"/>
            <a:ext cx="294437" cy="294437"/>
          </a:xfrm>
          <a:prstGeom prst="rect">
            <a:avLst/>
          </a:prstGeom>
        </p:spPr>
      </p:pic>
      <p:sp>
        <p:nvSpPr>
          <p:cNvPr id="22" name="q-callout-head"/>
          <p:cNvSpPr txBox="1"/>
          <p:nvPr/>
        </p:nvSpPr>
        <p:spPr>
          <a:xfrm>
            <a:off x="8549640" y="26060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すぐに答えにくい問いが、デモで一緒に確かめたいところです</a:t>
            </a:r>
            <a:endParaRPr lang="en-US" sz="1700" dirty="0"/>
          </a:p>
        </p:txBody>
      </p:sp>
      <p:sp>
        <p:nvSpPr>
          <p:cNvPr id="23" name="q-callout-body"/>
          <p:cNvSpPr txBox="1"/>
          <p:nvPr/>
        </p:nvSpPr>
        <p:spPr>
          <a:xfrm>
            <a:off x="8549640" y="38862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答えが委託先寄りになるほど、論点は「ツールの機能」ではなく「運用の実行力」になります。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誰が何を担うか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製品・テックタッチ・人の役割を固定してから、デモを組んでいます</a:t>
            </a:r>
            <a:endParaRPr lang="en-US" sz="1500" dirty="0"/>
          </a:p>
        </p:txBody>
      </p:sp>
      <p:sp>
        <p:nvSpPr>
          <p:cNvPr id="4" name="role-head-bg-0"/>
          <p:cNvSpPr/>
          <p:nvPr/>
        </p:nvSpPr>
        <p:spPr>
          <a:xfrm>
            <a:off x="548640" y="1463040"/>
            <a:ext cx="406908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5" name="role-head-0"/>
          <p:cNvSpPr txBox="1"/>
          <p:nvPr/>
        </p:nvSpPr>
        <p:spPr>
          <a:xfrm>
            <a:off x="685800" y="14630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Splunk（入っている製品）</a:t>
            </a:r>
            <a:endParaRPr lang="en-US" sz="1500" dirty="0"/>
          </a:p>
        </p:txBody>
      </p:sp>
      <p:sp>
        <p:nvSpPr>
          <p:cNvPr id="6" name="role-card-0-0"/>
          <p:cNvSpPr/>
          <p:nvPr/>
        </p:nvSpPr>
        <p:spPr>
          <a:xfrm>
            <a:off x="548640" y="2057400"/>
            <a:ext cx="4069080" cy="987552"/>
          </a:xfrm>
          <a:prstGeom prst="roundRect">
            <a:avLst>
              <a:gd name="adj" fmla="val 7407"/>
            </a:avLst>
          </a:prstGeom>
          <a:solidFill>
            <a:schemeClr val="tx2">
              <a:alpha val="10000"/>
            </a:schemeClr>
          </a:solidFill>
          <a:ln/>
        </p:spPr>
      </p:sp>
      <p:sp>
        <p:nvSpPr>
          <p:cNvPr id="7" name="role-name-0-0"/>
          <p:cNvSpPr txBox="1"/>
          <p:nvPr/>
        </p:nvSpPr>
        <p:spPr>
          <a:xfrm>
            <a:off x="731520" y="216712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Splunk ES</a:t>
            </a:r>
            <a:endParaRPr lang="en-US" sz="1500" dirty="0"/>
          </a:p>
        </p:txBody>
      </p:sp>
      <p:sp>
        <p:nvSpPr>
          <p:cNvPr id="8" name="role-desc-0-0"/>
          <p:cNvSpPr txBox="1"/>
          <p:nvPr/>
        </p:nvSpPr>
        <p:spPr>
          <a:xfrm>
            <a:off x="731520" y="25146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ログの相関、ノータブル、Incident Review、相関検索、リスクベースアラート</a:t>
            </a:r>
            <a:endParaRPr lang="en-US" sz="1300" dirty="0"/>
          </a:p>
        </p:txBody>
      </p:sp>
      <p:sp>
        <p:nvSpPr>
          <p:cNvPr id="9" name="role-card-0-1"/>
          <p:cNvSpPr/>
          <p:nvPr/>
        </p:nvSpPr>
        <p:spPr>
          <a:xfrm>
            <a:off x="548640" y="3136392"/>
            <a:ext cx="4069080" cy="987552"/>
          </a:xfrm>
          <a:prstGeom prst="roundRect">
            <a:avLst>
              <a:gd name="adj" fmla="val 7407"/>
            </a:avLst>
          </a:prstGeom>
          <a:solidFill>
            <a:schemeClr val="tx2">
              <a:alpha val="10000"/>
            </a:schemeClr>
          </a:solidFill>
          <a:ln/>
        </p:spPr>
      </p:sp>
      <p:sp>
        <p:nvSpPr>
          <p:cNvPr id="10" name="role-name-0-1"/>
          <p:cNvSpPr txBox="1"/>
          <p:nvPr/>
        </p:nvSpPr>
        <p:spPr>
          <a:xfrm>
            <a:off x="731520" y="32461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UEBA（ESの機能）</a:t>
            </a:r>
            <a:endParaRPr lang="en-US" sz="1500" dirty="0"/>
          </a:p>
        </p:txBody>
      </p:sp>
      <p:sp>
        <p:nvSpPr>
          <p:cNvPr id="11" name="role-desc-0-1"/>
          <p:cNvSpPr txBox="1"/>
          <p:nvPr/>
        </p:nvSpPr>
        <p:spPr>
          <a:xfrm>
            <a:off x="731520" y="359359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行動の異常（普段と違う場所・時間・量、初めての操作）</a:t>
            </a:r>
            <a:endParaRPr lang="en-US" sz="1300" dirty="0"/>
          </a:p>
        </p:txBody>
      </p:sp>
      <p:sp>
        <p:nvSpPr>
          <p:cNvPr id="12" name="role-card-0-2"/>
          <p:cNvSpPr/>
          <p:nvPr/>
        </p:nvSpPr>
        <p:spPr>
          <a:xfrm>
            <a:off x="548640" y="4215384"/>
            <a:ext cx="4069080" cy="987552"/>
          </a:xfrm>
          <a:prstGeom prst="roundRect">
            <a:avLst>
              <a:gd name="adj" fmla="val 7407"/>
            </a:avLst>
          </a:prstGeom>
          <a:solidFill>
            <a:schemeClr val="tx2">
              <a:alpha val="10000"/>
            </a:schemeClr>
          </a:solidFill>
          <a:ln/>
        </p:spPr>
      </p:sp>
      <p:sp>
        <p:nvSpPr>
          <p:cNvPr id="13" name="role-name-0-2"/>
          <p:cNvSpPr txBox="1"/>
          <p:nvPr/>
        </p:nvSpPr>
        <p:spPr>
          <a:xfrm>
            <a:off x="731520" y="43251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Splunk SOAR</a:t>
            </a:r>
            <a:endParaRPr lang="en-US" sz="1500" dirty="0"/>
          </a:p>
        </p:txBody>
      </p:sp>
      <p:sp>
        <p:nvSpPr>
          <p:cNvPr id="14" name="role-desc-0-2"/>
          <p:cNvSpPr txBox="1"/>
          <p:nvPr/>
        </p:nvSpPr>
        <p:spPr>
          <a:xfrm>
            <a:off x="731520" y="467258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プレイブックによる自動対応（セッション失効、ルール無効化、アカウント停止）</a:t>
            </a:r>
            <a:endParaRPr lang="en-US" sz="1300" dirty="0"/>
          </a:p>
        </p:txBody>
      </p:sp>
      <p:sp>
        <p:nvSpPr>
          <p:cNvPr id="15" name="role-card-0-3"/>
          <p:cNvSpPr/>
          <p:nvPr/>
        </p:nvSpPr>
        <p:spPr>
          <a:xfrm>
            <a:off x="548640" y="5294376"/>
            <a:ext cx="4069080" cy="987552"/>
          </a:xfrm>
          <a:prstGeom prst="roundRect">
            <a:avLst>
              <a:gd name="adj" fmla="val 7407"/>
            </a:avLst>
          </a:prstGeom>
          <a:solidFill>
            <a:schemeClr val="tx2">
              <a:alpha val="10000"/>
            </a:schemeClr>
          </a:solidFill>
          <a:ln/>
        </p:spPr>
      </p:sp>
      <p:sp>
        <p:nvSpPr>
          <p:cNvPr id="16" name="role-name-0-3"/>
          <p:cNvSpPr txBox="1"/>
          <p:nvPr/>
        </p:nvSpPr>
        <p:spPr>
          <a:xfrm>
            <a:off x="731520" y="540410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Splunk AI Assistant</a:t>
            </a:r>
            <a:endParaRPr lang="en-US" sz="1500" dirty="0"/>
          </a:p>
        </p:txBody>
      </p:sp>
      <p:sp>
        <p:nvSpPr>
          <p:cNvPr id="17" name="role-desc-0-3"/>
          <p:cNvSpPr txBox="1"/>
          <p:nvPr/>
        </p:nvSpPr>
        <p:spPr>
          <a:xfrm>
            <a:off x="731520" y="575157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自然言語からSPL案を作り、既存SPLを説明・修正する</a:t>
            </a:r>
            <a:endParaRPr lang="en-US" sz="1300" dirty="0"/>
          </a:p>
        </p:txBody>
      </p:sp>
      <p:sp>
        <p:nvSpPr>
          <p:cNvPr id="18" name="role-head-bg-1"/>
          <p:cNvSpPr/>
          <p:nvPr/>
        </p:nvSpPr>
        <p:spPr>
          <a:xfrm>
            <a:off x="4773168" y="1463040"/>
            <a:ext cx="338328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19" name="role-head-1"/>
          <p:cNvSpPr txBox="1"/>
          <p:nvPr/>
        </p:nvSpPr>
        <p:spPr>
          <a:xfrm>
            <a:off x="4910328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テックタッチ</a:t>
            </a:r>
            <a:endParaRPr lang="en-US" sz="1500" dirty="0"/>
          </a:p>
        </p:txBody>
      </p:sp>
      <p:sp>
        <p:nvSpPr>
          <p:cNvPr id="20" name="role-card-1-0"/>
          <p:cNvSpPr/>
          <p:nvPr/>
        </p:nvSpPr>
        <p:spPr>
          <a:xfrm>
            <a:off x="4773168" y="2057400"/>
            <a:ext cx="3383280" cy="2057400"/>
          </a:xfrm>
          <a:prstGeom prst="roundRect">
            <a:avLst>
              <a:gd name="adj" fmla="val 3556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21" name="role-name-1-0"/>
          <p:cNvSpPr txBox="1"/>
          <p:nvPr/>
        </p:nvSpPr>
        <p:spPr>
          <a:xfrm>
            <a:off x="4956048" y="2167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AI Hub（構想）</a:t>
            </a:r>
            <a:endParaRPr lang="en-US" sz="1500" dirty="0"/>
          </a:p>
        </p:txBody>
      </p:sp>
      <p:sp>
        <p:nvSpPr>
          <p:cNvPr id="22" name="role-desc-1-0"/>
          <p:cNvSpPr txBox="1"/>
          <p:nvPr/>
        </p:nvSpPr>
        <p:spPr>
          <a:xfrm>
            <a:off x="4956048" y="251460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社内の基準・手順・権限と照合し、確認事項・確認文・記録の形・次の行動を整理する</a:t>
            </a:r>
            <a:endParaRPr lang="en-US" sz="1300" dirty="0"/>
          </a:p>
        </p:txBody>
      </p:sp>
      <p:sp>
        <p:nvSpPr>
          <p:cNvPr id="23" name="role-card-1-1"/>
          <p:cNvSpPr/>
          <p:nvPr/>
        </p:nvSpPr>
        <p:spPr>
          <a:xfrm>
            <a:off x="4773168" y="4206240"/>
            <a:ext cx="3383280" cy="2057400"/>
          </a:xfrm>
          <a:prstGeom prst="roundRect">
            <a:avLst>
              <a:gd name="adj" fmla="val 355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4" name="role-name-1-1"/>
          <p:cNvSpPr txBox="1"/>
          <p:nvPr/>
        </p:nvSpPr>
        <p:spPr>
          <a:xfrm>
            <a:off x="4956048" y="43159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DAP（ガイド・入力チェック）</a:t>
            </a:r>
            <a:endParaRPr lang="en-US" sz="1500" dirty="0"/>
          </a:p>
        </p:txBody>
      </p:sp>
      <p:sp>
        <p:nvSpPr>
          <p:cNvPr id="25" name="role-desc-1-1"/>
          <p:cNvSpPr txBox="1"/>
          <p:nvPr/>
        </p:nvSpPr>
        <p:spPr>
          <a:xfrm>
            <a:off x="4956048" y="466344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ES・SOARの画面の上で、操作の順番・必須の確認・入力のルール・承認段階を示す</a:t>
            </a:r>
            <a:endParaRPr lang="en-US" sz="1300" dirty="0"/>
          </a:p>
        </p:txBody>
      </p:sp>
      <p:sp>
        <p:nvSpPr>
          <p:cNvPr id="26" name="role-head-bg-2"/>
          <p:cNvSpPr/>
          <p:nvPr/>
        </p:nvSpPr>
        <p:spPr>
          <a:xfrm>
            <a:off x="8311896" y="1463040"/>
            <a:ext cx="3328416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</p:sp>
      <p:sp>
        <p:nvSpPr>
          <p:cNvPr id="27" name="role-head-2"/>
          <p:cNvSpPr txBox="1"/>
          <p:nvPr/>
        </p:nvSpPr>
        <p:spPr>
          <a:xfrm>
            <a:off x="8449056" y="14630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人</a:t>
            </a:r>
            <a:endParaRPr lang="en-US" sz="1500" dirty="0"/>
          </a:p>
        </p:txBody>
      </p:sp>
      <p:sp>
        <p:nvSpPr>
          <p:cNvPr id="28" name="role-card-2-0"/>
          <p:cNvSpPr/>
          <p:nvPr/>
        </p:nvSpPr>
        <p:spPr>
          <a:xfrm>
            <a:off x="8311896" y="2057400"/>
            <a:ext cx="3328416" cy="2057400"/>
          </a:xfrm>
          <a:prstGeom prst="roundRect">
            <a:avLst>
              <a:gd name="adj" fmla="val 355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9" name="role-name-2-0"/>
          <p:cNvSpPr txBox="1"/>
          <p:nvPr/>
        </p:nvSpPr>
        <p:spPr>
          <a:xfrm>
            <a:off x="8494776" y="2167128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委託先（MSSP）</a:t>
            </a:r>
            <a:endParaRPr lang="en-US" sz="1500" dirty="0"/>
          </a:p>
        </p:txBody>
      </p:sp>
      <p:sp>
        <p:nvSpPr>
          <p:cNvPr id="30" name="role-desc-2-0"/>
          <p:cNvSpPr txBox="1"/>
          <p:nvPr/>
        </p:nvSpPr>
        <p:spPr>
          <a:xfrm>
            <a:off x="8494776" y="2514600"/>
            <a:ext cx="29626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夜間監視・高度な分析・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フォレンジック（これまでどおり）</a:t>
            </a:r>
            <a:endParaRPr lang="en-US" sz="1300" dirty="0"/>
          </a:p>
        </p:txBody>
      </p:sp>
      <p:sp>
        <p:nvSpPr>
          <p:cNvPr id="31" name="role-card-2-1"/>
          <p:cNvSpPr/>
          <p:nvPr/>
        </p:nvSpPr>
        <p:spPr>
          <a:xfrm>
            <a:off x="8311896" y="4206240"/>
            <a:ext cx="3328416" cy="2057400"/>
          </a:xfrm>
          <a:prstGeom prst="roundRect">
            <a:avLst>
              <a:gd name="adj" fmla="val 355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32" name="role-name-2-1"/>
          <p:cNvSpPr txBox="1"/>
          <p:nvPr/>
        </p:nvSpPr>
        <p:spPr>
          <a:xfrm>
            <a:off x="8494776" y="4315968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社内（SOC・CSIRT）</a:t>
            </a:r>
            <a:endParaRPr lang="en-US" sz="1500" dirty="0"/>
          </a:p>
        </p:txBody>
      </p:sp>
      <p:sp>
        <p:nvSpPr>
          <p:cNvPr id="33" name="role-desc-2-1"/>
          <p:cNvSpPr txBox="1"/>
          <p:nvPr/>
        </p:nvSpPr>
        <p:spPr>
          <a:xfrm>
            <a:off x="8494776" y="4663440"/>
            <a:ext cx="29626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判断・承認・記録・ルール変更を持つ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工程ごとの Before → After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委託先任せで止まっていたところを、社内の基準と承認で進めます</a:t>
            </a:r>
            <a:endParaRPr lang="en-US" sz="1500" dirty="0"/>
          </a:p>
        </p:txBody>
      </p:sp>
      <p:sp>
        <p:nvSpPr>
          <p:cNvPr id="4" name="ba-h1"/>
          <p:cNvSpPr txBox="1"/>
          <p:nvPr/>
        </p:nvSpPr>
        <p:spPr>
          <a:xfrm>
            <a:off x="2377440" y="1417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Before</a:t>
            </a:r>
            <a:endParaRPr lang="en-US" sz="1300" dirty="0"/>
          </a:p>
        </p:txBody>
      </p:sp>
      <p:sp>
        <p:nvSpPr>
          <p:cNvPr id="5" name="ba-h2"/>
          <p:cNvSpPr txBox="1"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After（社内が回す）</a:t>
            </a:r>
            <a:endParaRPr lang="en-US" sz="1300" dirty="0"/>
          </a:p>
        </p:txBody>
      </p:sp>
      <p:sp>
        <p:nvSpPr>
          <p:cNvPr id="6" name="ba-step-0"/>
          <p:cNvSpPr txBox="1"/>
          <p:nvPr/>
        </p:nvSpPr>
        <p:spPr>
          <a:xfrm>
            <a:off x="548640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検知</a:t>
            </a:r>
            <a:endParaRPr lang="en-US" sz="1500" dirty="0"/>
          </a:p>
        </p:txBody>
      </p:sp>
      <p:sp>
        <p:nvSpPr>
          <p:cNvPr id="7" name="ba-before-0"/>
          <p:cNvSpPr/>
          <p:nvPr/>
        </p:nvSpPr>
        <p:spPr>
          <a:xfrm>
            <a:off x="2286000" y="1783080"/>
            <a:ext cx="352044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8" name="ba-before-text-0"/>
          <p:cNvSpPr txBox="1"/>
          <p:nvPr/>
        </p:nvSpPr>
        <p:spPr>
          <a:xfrm>
            <a:off x="2423160" y="1783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閾値が業務に合わず、ルールの変更は委託先の改修待ち</a:t>
            </a:r>
            <a:endParaRPr lang="en-US" sz="1300" dirty="0"/>
          </a:p>
        </p:txBody>
      </p:sp>
      <p:sp>
        <p:nvSpPr>
          <p:cNvPr id="9" name="ba-arrow-0"/>
          <p:cNvSpPr/>
          <p:nvPr/>
        </p:nvSpPr>
        <p:spPr>
          <a:xfrm>
            <a:off x="5870448" y="2048256"/>
            <a:ext cx="329184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ba-after-0"/>
          <p:cNvSpPr/>
          <p:nvPr/>
        </p:nvSpPr>
        <p:spPr>
          <a:xfrm>
            <a:off x="6263640" y="1783080"/>
            <a:ext cx="5376672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ba-after-text-0"/>
          <p:cNvSpPr txBox="1"/>
          <p:nvPr/>
        </p:nvSpPr>
        <p:spPr>
          <a:xfrm>
            <a:off x="6400800" y="1783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社内基準D-02（普段と違う接続元の後の、外部転送ルールと大量ダウンロード）で相関検索を社内で作る</a:t>
            </a:r>
            <a:endParaRPr lang="en-US" sz="1300" dirty="0"/>
          </a:p>
        </p:txBody>
      </p:sp>
      <p:sp>
        <p:nvSpPr>
          <p:cNvPr id="12" name="ba-step-1"/>
          <p:cNvSpPr txBox="1"/>
          <p:nvPr/>
        </p:nvSpPr>
        <p:spPr>
          <a:xfrm>
            <a:off x="548640" y="26700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一次対応</a:t>
            </a:r>
            <a:endParaRPr lang="en-US" sz="1500" dirty="0"/>
          </a:p>
        </p:txBody>
      </p:sp>
      <p:sp>
        <p:nvSpPr>
          <p:cNvPr id="13" name="ba-before-1"/>
          <p:cNvSpPr/>
          <p:nvPr/>
        </p:nvSpPr>
        <p:spPr>
          <a:xfrm>
            <a:off x="2286000" y="2670048"/>
            <a:ext cx="352044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4" name="ba-before-text-1"/>
          <p:cNvSpPr txBox="1"/>
          <p:nvPr/>
        </p:nvSpPr>
        <p:spPr>
          <a:xfrm>
            <a:off x="2423160" y="2670048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委託先に連絡し、回答を待つ</a:t>
            </a:r>
            <a:endParaRPr lang="en-US" sz="1300" dirty="0"/>
          </a:p>
        </p:txBody>
      </p:sp>
      <p:sp>
        <p:nvSpPr>
          <p:cNvPr id="15" name="ba-arrow-1"/>
          <p:cNvSpPr/>
          <p:nvPr/>
        </p:nvSpPr>
        <p:spPr>
          <a:xfrm>
            <a:off x="5870448" y="2935224"/>
            <a:ext cx="329184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ba-after-1"/>
          <p:cNvSpPr/>
          <p:nvPr/>
        </p:nvSpPr>
        <p:spPr>
          <a:xfrm>
            <a:off x="6263640" y="2670048"/>
            <a:ext cx="5376672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7" name="ba-after-text-1"/>
          <p:cNvSpPr txBox="1"/>
          <p:nvPr/>
        </p:nvSpPr>
        <p:spPr>
          <a:xfrm>
            <a:off x="6400800" y="26700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チェックリストを埋めてから封じ込めへ。本人と上長に確かめる</a:t>
            </a:r>
            <a:endParaRPr lang="en-US" sz="1300" dirty="0"/>
          </a:p>
        </p:txBody>
      </p:sp>
      <p:sp>
        <p:nvSpPr>
          <p:cNvPr id="18" name="ba-step-2"/>
          <p:cNvSpPr txBox="1"/>
          <p:nvPr/>
        </p:nvSpPr>
        <p:spPr>
          <a:xfrm>
            <a:off x="548640" y="355701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封じ込め</a:t>
            </a:r>
            <a:endParaRPr lang="en-US" sz="1500" dirty="0"/>
          </a:p>
        </p:txBody>
      </p:sp>
      <p:sp>
        <p:nvSpPr>
          <p:cNvPr id="19" name="ba-before-2"/>
          <p:cNvSpPr/>
          <p:nvPr/>
        </p:nvSpPr>
        <p:spPr>
          <a:xfrm>
            <a:off x="2286000" y="3557016"/>
            <a:ext cx="352044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0" name="ba-before-text-2"/>
          <p:cNvSpPr txBox="1"/>
          <p:nvPr/>
        </p:nvSpPr>
        <p:spPr>
          <a:xfrm>
            <a:off x="2423160" y="355701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停止の承認が取れず、乗っ取りが続く</a:t>
            </a:r>
            <a:endParaRPr lang="en-US" sz="1300" dirty="0"/>
          </a:p>
        </p:txBody>
      </p:sp>
      <p:sp>
        <p:nvSpPr>
          <p:cNvPr id="21" name="ba-arrow-2"/>
          <p:cNvSpPr/>
          <p:nvPr/>
        </p:nvSpPr>
        <p:spPr>
          <a:xfrm>
            <a:off x="5870448" y="3822192"/>
            <a:ext cx="329184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ba-after-2"/>
          <p:cNvSpPr/>
          <p:nvPr/>
        </p:nvSpPr>
        <p:spPr>
          <a:xfrm>
            <a:off x="6263640" y="3557016"/>
            <a:ext cx="5376672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3" name="ba-after-text-2"/>
          <p:cNvSpPr txBox="1"/>
          <p:nvPr/>
        </p:nvSpPr>
        <p:spPr>
          <a:xfrm>
            <a:off x="6400800" y="355701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①②は担当者が即時、③はSOC責任者、④はCSIRT責任者の判断</a:t>
            </a:r>
            <a:endParaRPr lang="en-US" sz="1300" dirty="0"/>
          </a:p>
        </p:txBody>
      </p:sp>
      <p:sp>
        <p:nvSpPr>
          <p:cNvPr id="24" name="ba-step-3"/>
          <p:cNvSpPr txBox="1"/>
          <p:nvPr/>
        </p:nvSpPr>
        <p:spPr>
          <a:xfrm>
            <a:off x="548640" y="444398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範囲の確定・記録</a:t>
            </a:r>
            <a:endParaRPr lang="en-US" sz="1500" dirty="0"/>
          </a:p>
        </p:txBody>
      </p:sp>
      <p:sp>
        <p:nvSpPr>
          <p:cNvPr id="25" name="ba-before-3"/>
          <p:cNvSpPr/>
          <p:nvPr/>
        </p:nvSpPr>
        <p:spPr>
          <a:xfrm>
            <a:off x="2286000" y="4443984"/>
            <a:ext cx="352044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6" name="ba-before-text-3"/>
          <p:cNvSpPr txBox="1"/>
          <p:nvPr/>
        </p:nvSpPr>
        <p:spPr>
          <a:xfrm>
            <a:off x="2423160" y="4443984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「いつ・何が・どこまで」が委託先の分析待ち</a:t>
            </a:r>
            <a:endParaRPr lang="en-US" sz="1300" dirty="0"/>
          </a:p>
        </p:txBody>
      </p:sp>
      <p:sp>
        <p:nvSpPr>
          <p:cNvPr id="27" name="ba-arrow-3"/>
          <p:cNvSpPr/>
          <p:nvPr/>
        </p:nvSpPr>
        <p:spPr>
          <a:xfrm>
            <a:off x="5870448" y="4709160"/>
            <a:ext cx="329184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8" name="ba-after-3"/>
          <p:cNvSpPr/>
          <p:nvPr/>
        </p:nvSpPr>
        <p:spPr>
          <a:xfrm>
            <a:off x="6263640" y="4443984"/>
            <a:ext cx="5376672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9" name="ba-after-text-3"/>
          <p:cNvSpPr txBox="1"/>
          <p:nvPr/>
        </p:nvSpPr>
        <p:spPr>
          <a:xfrm>
            <a:off x="6400800" y="444398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操作を種類別に確定し、他アカウントも確かめて、4項目で記録</a:t>
            </a:r>
            <a:endParaRPr lang="en-US" sz="1300" dirty="0"/>
          </a:p>
        </p:txBody>
      </p:sp>
      <p:sp>
        <p:nvSpPr>
          <p:cNvPr id="30" name="ba-step-4"/>
          <p:cNvSpPr txBox="1"/>
          <p:nvPr/>
        </p:nvSpPr>
        <p:spPr>
          <a:xfrm>
            <a:off x="548640" y="53309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改善</a:t>
            </a:r>
            <a:endParaRPr lang="en-US" sz="1500" dirty="0"/>
          </a:p>
        </p:txBody>
      </p:sp>
      <p:sp>
        <p:nvSpPr>
          <p:cNvPr id="31" name="ba-before-4"/>
          <p:cNvSpPr/>
          <p:nvPr/>
        </p:nvSpPr>
        <p:spPr>
          <a:xfrm>
            <a:off x="2286000" y="5330952"/>
            <a:ext cx="352044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32" name="ba-before-text-4"/>
          <p:cNvSpPr txBox="1"/>
          <p:nvPr/>
        </p:nvSpPr>
        <p:spPr>
          <a:xfrm>
            <a:off x="2423160" y="533095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一件ごとに終わり、次も同じ時間がかかる</a:t>
            </a:r>
            <a:endParaRPr lang="en-US" sz="1300" dirty="0"/>
          </a:p>
        </p:txBody>
      </p:sp>
      <p:sp>
        <p:nvSpPr>
          <p:cNvPr id="33" name="ba-arrow-4"/>
          <p:cNvSpPr/>
          <p:nvPr/>
        </p:nvSpPr>
        <p:spPr>
          <a:xfrm>
            <a:off x="5870448" y="5596128"/>
            <a:ext cx="329184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4" name="ba-after-4"/>
          <p:cNvSpPr/>
          <p:nvPr/>
        </p:nvSpPr>
        <p:spPr>
          <a:xfrm>
            <a:off x="6263640" y="5330952"/>
            <a:ext cx="5376672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5" name="ba-after-text-4"/>
          <p:cNvSpPr txBox="1"/>
          <p:nvPr/>
        </p:nvSpPr>
        <p:spPr>
          <a:xfrm>
            <a:off x="6400800" y="53309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検知条件・承認段階・記録をナレッジにし、役割分担を書き換える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デモの流れ：9場面（36分）＋振り返り（1分）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SOC担当者の山田さん（架空）が、検知の社内化から記録・改善までを一人で進めます</a:t>
            </a:r>
            <a:endParaRPr lang="en-US" sz="1500" dirty="0"/>
          </a:p>
        </p:txBody>
      </p:sp>
      <p:sp>
        <p:nvSpPr>
          <p:cNvPr id="4" name="scene-0"/>
          <p:cNvSpPr/>
          <p:nvPr/>
        </p:nvSpPr>
        <p:spPr>
          <a:xfrm>
            <a:off x="548640" y="1463040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5" name="scene-badge-0-circle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cene-badge-0-num"/>
          <p:cNvSpPr txBox="1"/>
          <p:nvPr/>
        </p:nvSpPr>
        <p:spPr>
          <a:xfrm>
            <a:off x="73152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S0</a:t>
            </a:r>
            <a:endParaRPr lang="en-US" sz="1600" dirty="0"/>
          </a:p>
        </p:txBody>
      </p:sp>
      <p:sp>
        <p:nvSpPr>
          <p:cNvPr id="7" name="scene-name-0"/>
          <p:cNvSpPr txBox="1"/>
          <p:nvPr/>
        </p:nvSpPr>
        <p:spPr>
          <a:xfrm>
            <a:off x="1444752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現場の問題</a:t>
            </a:r>
            <a:endParaRPr lang="en-US" sz="1500" dirty="0"/>
          </a:p>
        </p:txBody>
      </p:sp>
      <p:sp>
        <p:nvSpPr>
          <p:cNvPr id="8" name="scene-time-0"/>
          <p:cNvSpPr txBox="1"/>
          <p:nvPr/>
        </p:nvSpPr>
        <p:spPr>
          <a:xfrm>
            <a:off x="3291840" y="16642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2分</a:t>
            </a:r>
            <a:endParaRPr lang="en-US" sz="1300" dirty="0"/>
          </a:p>
        </p:txBody>
      </p:sp>
      <p:sp>
        <p:nvSpPr>
          <p:cNvPr id="9" name="scene-desc-0"/>
          <p:cNvSpPr txBox="1"/>
          <p:nvPr/>
        </p:nvSpPr>
        <p:spPr>
          <a:xfrm>
            <a:off x="1444752" y="20482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依頼カードと、画面に残す5つの成果物</a:t>
            </a:r>
            <a:endParaRPr lang="en-US" sz="1300" dirty="0"/>
          </a:p>
        </p:txBody>
      </p:sp>
      <p:sp>
        <p:nvSpPr>
          <p:cNvPr id="10" name="scene-1"/>
          <p:cNvSpPr/>
          <p:nvPr/>
        </p:nvSpPr>
        <p:spPr>
          <a:xfrm>
            <a:off x="4306824" y="1463040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1" name="scene-badge-1-circle"/>
          <p:cNvSpPr/>
          <p:nvPr/>
        </p:nvSpPr>
        <p:spPr>
          <a:xfrm>
            <a:off x="4489704" y="16459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cene-badge-1-num"/>
          <p:cNvSpPr txBox="1"/>
          <p:nvPr/>
        </p:nvSpPr>
        <p:spPr>
          <a:xfrm>
            <a:off x="4489704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S1</a:t>
            </a:r>
            <a:endParaRPr lang="en-US" sz="1600" dirty="0"/>
          </a:p>
        </p:txBody>
      </p:sp>
      <p:sp>
        <p:nvSpPr>
          <p:cNvPr id="13" name="scene-name-1"/>
          <p:cNvSpPr txBox="1"/>
          <p:nvPr/>
        </p:nvSpPr>
        <p:spPr>
          <a:xfrm>
            <a:off x="5202936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Before</a:t>
            </a:r>
            <a:endParaRPr lang="en-US" sz="1500" dirty="0"/>
          </a:p>
        </p:txBody>
      </p:sp>
      <p:sp>
        <p:nvSpPr>
          <p:cNvPr id="14" name="scene-time-1"/>
          <p:cNvSpPr txBox="1"/>
          <p:nvPr/>
        </p:nvSpPr>
        <p:spPr>
          <a:xfrm>
            <a:off x="7050024" y="16642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3分</a:t>
            </a:r>
            <a:endParaRPr lang="en-US" sz="1300" dirty="0"/>
          </a:p>
        </p:txBody>
      </p:sp>
      <p:sp>
        <p:nvSpPr>
          <p:cNvPr id="15" name="scene-desc-1"/>
          <p:cNvSpPr txBox="1"/>
          <p:nvPr/>
        </p:nvSpPr>
        <p:spPr>
          <a:xfrm>
            <a:off x="5202936" y="20482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ノータブルが4時間未割当。件数だけの検索では区別できない</a:t>
            </a:r>
            <a:endParaRPr lang="en-US" sz="1300" dirty="0"/>
          </a:p>
        </p:txBody>
      </p:sp>
      <p:sp>
        <p:nvSpPr>
          <p:cNvPr id="16" name="scene-2"/>
          <p:cNvSpPr/>
          <p:nvPr/>
        </p:nvSpPr>
        <p:spPr>
          <a:xfrm>
            <a:off x="8065008" y="1463040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17" name="scene-badge-2-circle"/>
          <p:cNvSpPr/>
          <p:nvPr/>
        </p:nvSpPr>
        <p:spPr>
          <a:xfrm>
            <a:off x="8247888" y="164592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scene-badge-2-num"/>
          <p:cNvSpPr txBox="1"/>
          <p:nvPr/>
        </p:nvSpPr>
        <p:spPr>
          <a:xfrm>
            <a:off x="824788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S2</a:t>
            </a:r>
            <a:endParaRPr lang="en-US" sz="1600" dirty="0"/>
          </a:p>
        </p:txBody>
      </p:sp>
      <p:sp>
        <p:nvSpPr>
          <p:cNvPr id="19" name="scene-name-2"/>
          <p:cNvSpPr txBox="1"/>
          <p:nvPr/>
        </p:nvSpPr>
        <p:spPr>
          <a:xfrm>
            <a:off x="89611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要件整理</a:t>
            </a:r>
            <a:endParaRPr lang="en-US" sz="1500" dirty="0"/>
          </a:p>
        </p:txBody>
      </p:sp>
      <p:sp>
        <p:nvSpPr>
          <p:cNvPr id="20" name="scene-time-2"/>
          <p:cNvSpPr txBox="1"/>
          <p:nvPr/>
        </p:nvSpPr>
        <p:spPr>
          <a:xfrm>
            <a:off x="10808208" y="166420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4分</a:t>
            </a:r>
            <a:endParaRPr lang="en-US" sz="1300" dirty="0"/>
          </a:p>
        </p:txBody>
      </p:sp>
      <p:sp>
        <p:nvSpPr>
          <p:cNvPr id="21" name="scene-desc-2"/>
          <p:cNvSpPr txBox="1"/>
          <p:nvPr/>
        </p:nvSpPr>
        <p:spPr>
          <a:xfrm>
            <a:off x="8961120" y="204825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日本語の依頼を、AI Hubが社内基準で依頼文に</a:t>
            </a:r>
            <a:endParaRPr lang="en-US" sz="1300" dirty="0"/>
          </a:p>
        </p:txBody>
      </p:sp>
      <p:sp>
        <p:nvSpPr>
          <p:cNvPr id="22" name="scene-3"/>
          <p:cNvSpPr/>
          <p:nvPr/>
        </p:nvSpPr>
        <p:spPr>
          <a:xfrm>
            <a:off x="548640" y="2980944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3" name="scene-badge-3-circle"/>
          <p:cNvSpPr/>
          <p:nvPr/>
        </p:nvSpPr>
        <p:spPr>
          <a:xfrm>
            <a:off x="731520" y="3163824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scene-badge-3-num"/>
          <p:cNvSpPr txBox="1"/>
          <p:nvPr/>
        </p:nvSpPr>
        <p:spPr>
          <a:xfrm>
            <a:off x="731520" y="3163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S3</a:t>
            </a:r>
            <a:endParaRPr lang="en-US" sz="1600" dirty="0"/>
          </a:p>
        </p:txBody>
      </p:sp>
      <p:sp>
        <p:nvSpPr>
          <p:cNvPr id="25" name="scene-name-3"/>
          <p:cNvSpPr txBox="1"/>
          <p:nvPr/>
        </p:nvSpPr>
        <p:spPr>
          <a:xfrm>
            <a:off x="1444752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相関検索案・照合</a:t>
            </a:r>
            <a:endParaRPr lang="en-US" sz="1500" dirty="0"/>
          </a:p>
        </p:txBody>
      </p:sp>
      <p:sp>
        <p:nvSpPr>
          <p:cNvPr id="26" name="scene-time-3"/>
          <p:cNvSpPr txBox="1"/>
          <p:nvPr/>
        </p:nvSpPr>
        <p:spPr>
          <a:xfrm>
            <a:off x="3291840" y="31821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5分</a:t>
            </a:r>
            <a:endParaRPr lang="en-US" sz="1300" dirty="0"/>
          </a:p>
        </p:txBody>
      </p:sp>
      <p:sp>
        <p:nvSpPr>
          <p:cNvPr id="27" name="scene-desc-3"/>
          <p:cNvSpPr txBox="1"/>
          <p:nvPr/>
        </p:nvSpPr>
        <p:spPr>
          <a:xfrm>
            <a:off x="1444752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Assistantの案を、AI Hubが検知基準D-02と照合</a:t>
            </a:r>
            <a:endParaRPr lang="en-US" sz="1300" dirty="0"/>
          </a:p>
        </p:txBody>
      </p:sp>
      <p:sp>
        <p:nvSpPr>
          <p:cNvPr id="28" name="scene-4"/>
          <p:cNvSpPr/>
          <p:nvPr/>
        </p:nvSpPr>
        <p:spPr>
          <a:xfrm>
            <a:off x="4306824" y="2980944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29" name="scene-badge-4-circle"/>
          <p:cNvSpPr/>
          <p:nvPr/>
        </p:nvSpPr>
        <p:spPr>
          <a:xfrm>
            <a:off x="4489704" y="31638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scene-badge-4-num"/>
          <p:cNvSpPr txBox="1"/>
          <p:nvPr/>
        </p:nvSpPr>
        <p:spPr>
          <a:xfrm>
            <a:off x="4489704" y="3163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S4</a:t>
            </a:r>
            <a:endParaRPr lang="en-US" sz="1600" dirty="0"/>
          </a:p>
        </p:txBody>
      </p:sp>
      <p:sp>
        <p:nvSpPr>
          <p:cNvPr id="31" name="scene-name-4"/>
          <p:cNvSpPr txBox="1"/>
          <p:nvPr/>
        </p:nvSpPr>
        <p:spPr>
          <a:xfrm>
            <a:off x="5202936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検証・保存</a:t>
            </a:r>
            <a:endParaRPr lang="en-US" sz="1500" dirty="0"/>
          </a:p>
        </p:txBody>
      </p:sp>
      <p:sp>
        <p:nvSpPr>
          <p:cNvPr id="32" name="scene-time-4"/>
          <p:cNvSpPr txBox="1"/>
          <p:nvPr/>
        </p:nvSpPr>
        <p:spPr>
          <a:xfrm>
            <a:off x="7050024" y="31821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5分</a:t>
            </a:r>
            <a:endParaRPr lang="en-US" sz="1300" dirty="0"/>
          </a:p>
        </p:txBody>
      </p:sp>
      <p:sp>
        <p:nvSpPr>
          <p:cNvPr id="33" name="scene-desc-4"/>
          <p:cNvSpPr txBox="1"/>
          <p:nvPr/>
        </p:nvSpPr>
        <p:spPr>
          <a:xfrm>
            <a:off x="5202936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テストログで検証し、相関検索として保存</a:t>
            </a:r>
            <a:endParaRPr lang="en-US" sz="1300" dirty="0"/>
          </a:p>
        </p:txBody>
      </p:sp>
      <p:sp>
        <p:nvSpPr>
          <p:cNvPr id="34" name="scene-5"/>
          <p:cNvSpPr/>
          <p:nvPr/>
        </p:nvSpPr>
        <p:spPr>
          <a:xfrm>
            <a:off x="8065008" y="2980944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35" name="scene-badge-5-circle"/>
          <p:cNvSpPr/>
          <p:nvPr/>
        </p:nvSpPr>
        <p:spPr>
          <a:xfrm>
            <a:off x="8247888" y="316382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scene-badge-5-num"/>
          <p:cNvSpPr txBox="1"/>
          <p:nvPr/>
        </p:nvSpPr>
        <p:spPr>
          <a:xfrm>
            <a:off x="8247888" y="3163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S5</a:t>
            </a:r>
            <a:endParaRPr lang="en-US" sz="1600" dirty="0"/>
          </a:p>
        </p:txBody>
      </p:sp>
      <p:sp>
        <p:nvSpPr>
          <p:cNvPr id="37" name="scene-name-5"/>
          <p:cNvSpPr txBox="1"/>
          <p:nvPr/>
        </p:nvSpPr>
        <p:spPr>
          <a:xfrm>
            <a:off x="896112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一次対応</a:t>
            </a:r>
            <a:endParaRPr lang="en-US" sz="1500" dirty="0"/>
          </a:p>
        </p:txBody>
      </p:sp>
      <p:sp>
        <p:nvSpPr>
          <p:cNvPr id="38" name="scene-time-5"/>
          <p:cNvSpPr txBox="1"/>
          <p:nvPr/>
        </p:nvSpPr>
        <p:spPr>
          <a:xfrm>
            <a:off x="10808208" y="318211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5分</a:t>
            </a:r>
            <a:endParaRPr lang="en-US" sz="1300" dirty="0"/>
          </a:p>
        </p:txBody>
      </p:sp>
      <p:sp>
        <p:nvSpPr>
          <p:cNvPr id="39" name="scene-desc-5"/>
          <p:cNvSpPr txBox="1"/>
          <p:nvPr/>
        </p:nvSpPr>
        <p:spPr>
          <a:xfrm>
            <a:off x="8961120" y="35661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担当者を自分に。本人と上長に確認。チェックリスト</a:t>
            </a:r>
            <a:endParaRPr lang="en-US" sz="1300" dirty="0"/>
          </a:p>
        </p:txBody>
      </p:sp>
      <p:sp>
        <p:nvSpPr>
          <p:cNvPr id="40" name="scene-6"/>
          <p:cNvSpPr/>
          <p:nvPr/>
        </p:nvSpPr>
        <p:spPr>
          <a:xfrm>
            <a:off x="548640" y="4498848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1" name="scene-badge-6-circle"/>
          <p:cNvSpPr/>
          <p:nvPr/>
        </p:nvSpPr>
        <p:spPr>
          <a:xfrm>
            <a:off x="731520" y="46817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scene-badge-6-num"/>
          <p:cNvSpPr txBox="1"/>
          <p:nvPr/>
        </p:nvSpPr>
        <p:spPr>
          <a:xfrm>
            <a:off x="731520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S6</a:t>
            </a:r>
            <a:endParaRPr lang="en-US" sz="1600" dirty="0"/>
          </a:p>
        </p:txBody>
      </p:sp>
      <p:sp>
        <p:nvSpPr>
          <p:cNvPr id="43" name="scene-name-6"/>
          <p:cNvSpPr txBox="1"/>
          <p:nvPr/>
        </p:nvSpPr>
        <p:spPr>
          <a:xfrm>
            <a:off x="1444752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封じ込め</a:t>
            </a:r>
            <a:endParaRPr lang="en-US" sz="1500" dirty="0"/>
          </a:p>
        </p:txBody>
      </p:sp>
      <p:sp>
        <p:nvSpPr>
          <p:cNvPr id="44" name="scene-time-6"/>
          <p:cNvSpPr txBox="1"/>
          <p:nvPr/>
        </p:nvSpPr>
        <p:spPr>
          <a:xfrm>
            <a:off x="3291840" y="47000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4分</a:t>
            </a:r>
            <a:endParaRPr lang="en-US" sz="1300" dirty="0"/>
          </a:p>
        </p:txBody>
      </p:sp>
      <p:sp>
        <p:nvSpPr>
          <p:cNvPr id="45" name="scene-desc-6"/>
          <p:cNvSpPr txBox="1"/>
          <p:nvPr/>
        </p:nvSpPr>
        <p:spPr>
          <a:xfrm>
            <a:off x="1444752" y="508406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SOARのプレイブックを、承認段階どおりに実行</a:t>
            </a:r>
            <a:endParaRPr lang="en-US" sz="1300" dirty="0"/>
          </a:p>
        </p:txBody>
      </p:sp>
      <p:sp>
        <p:nvSpPr>
          <p:cNvPr id="46" name="scene-7"/>
          <p:cNvSpPr/>
          <p:nvPr/>
        </p:nvSpPr>
        <p:spPr>
          <a:xfrm>
            <a:off x="4306824" y="4498848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47" name="scene-badge-7-circle"/>
          <p:cNvSpPr/>
          <p:nvPr/>
        </p:nvSpPr>
        <p:spPr>
          <a:xfrm>
            <a:off x="4489704" y="46817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scene-badge-7-num"/>
          <p:cNvSpPr txBox="1"/>
          <p:nvPr/>
        </p:nvSpPr>
        <p:spPr>
          <a:xfrm>
            <a:off x="4489704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S7</a:t>
            </a:r>
            <a:endParaRPr lang="en-US" sz="1600" dirty="0"/>
          </a:p>
        </p:txBody>
      </p:sp>
      <p:sp>
        <p:nvSpPr>
          <p:cNvPr id="49" name="scene-name-7"/>
          <p:cNvSpPr txBox="1"/>
          <p:nvPr/>
        </p:nvSpPr>
        <p:spPr>
          <a:xfrm>
            <a:off x="5202936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範囲の確定・記録</a:t>
            </a:r>
            <a:endParaRPr lang="en-US" sz="1500" dirty="0"/>
          </a:p>
        </p:txBody>
      </p:sp>
      <p:sp>
        <p:nvSpPr>
          <p:cNvPr id="50" name="scene-time-7"/>
          <p:cNvSpPr txBox="1"/>
          <p:nvPr/>
        </p:nvSpPr>
        <p:spPr>
          <a:xfrm>
            <a:off x="7050024" y="47000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5分</a:t>
            </a:r>
            <a:endParaRPr lang="en-US" sz="1300" dirty="0"/>
          </a:p>
        </p:txBody>
      </p:sp>
      <p:sp>
        <p:nvSpPr>
          <p:cNvPr id="51" name="scene-desc-7"/>
          <p:cNvSpPr txBox="1"/>
          <p:nvPr/>
        </p:nvSpPr>
        <p:spPr>
          <a:xfrm>
            <a:off x="5202936" y="508406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操作と他アカウントを確定し、4項目で記録</a:t>
            </a:r>
            <a:endParaRPr lang="en-US" sz="1300" dirty="0"/>
          </a:p>
        </p:txBody>
      </p:sp>
      <p:sp>
        <p:nvSpPr>
          <p:cNvPr id="52" name="scene-8"/>
          <p:cNvSpPr/>
          <p:nvPr/>
        </p:nvSpPr>
        <p:spPr>
          <a:xfrm>
            <a:off x="8065008" y="4498848"/>
            <a:ext cx="3566160" cy="1353312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</p:sp>
      <p:sp>
        <p:nvSpPr>
          <p:cNvPr id="53" name="scene-badge-8-circle"/>
          <p:cNvSpPr/>
          <p:nvPr/>
        </p:nvSpPr>
        <p:spPr>
          <a:xfrm>
            <a:off x="8247888" y="46817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4" name="scene-badge-8-num"/>
          <p:cNvSpPr txBox="1"/>
          <p:nvPr/>
        </p:nvSpPr>
        <p:spPr>
          <a:xfrm>
            <a:off x="8247888" y="4681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S8</a:t>
            </a:r>
            <a:endParaRPr lang="en-US" sz="1600" dirty="0"/>
          </a:p>
        </p:txBody>
      </p:sp>
      <p:sp>
        <p:nvSpPr>
          <p:cNvPr id="55" name="scene-name-8"/>
          <p:cNvSpPr txBox="1"/>
          <p:nvPr/>
        </p:nvSpPr>
        <p:spPr>
          <a:xfrm>
            <a:off x="8961120" y="4681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改善</a:t>
            </a:r>
            <a:endParaRPr lang="en-US" sz="1500" dirty="0"/>
          </a:p>
        </p:txBody>
      </p:sp>
      <p:sp>
        <p:nvSpPr>
          <p:cNvPr id="56" name="scene-time-8"/>
          <p:cNvSpPr txBox="1"/>
          <p:nvPr/>
        </p:nvSpPr>
        <p:spPr>
          <a:xfrm>
            <a:off x="10808208" y="470001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3分</a:t>
            </a:r>
            <a:endParaRPr lang="en-US" sz="1300" dirty="0"/>
          </a:p>
        </p:txBody>
      </p:sp>
      <p:sp>
        <p:nvSpPr>
          <p:cNvPr id="57" name="scene-desc-8"/>
          <p:cNvSpPr txBox="1"/>
          <p:nvPr/>
        </p:nvSpPr>
        <p:spPr>
          <a:xfrm>
            <a:off x="8961120" y="508406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ナレッジへの反映と、委託先との役割分担の書き換え</a:t>
            </a:r>
            <a:endParaRPr lang="en-US" sz="1300" dirty="0"/>
          </a:p>
        </p:txBody>
      </p:sp>
      <p:sp>
        <p:nvSpPr>
          <p:cNvPr id="58" name="legend-hub-circle"/>
          <p:cNvSpPr/>
          <p:nvPr/>
        </p:nvSpPr>
        <p:spPr>
          <a:xfrm>
            <a:off x="548640" y="6053328"/>
            <a:ext cx="237744" cy="23774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9" name="legend-hub-num"/>
          <p:cNvSpPr txBox="1"/>
          <p:nvPr/>
        </p:nvSpPr>
        <p:spPr>
          <a:xfrm>
            <a:off x="548640" y="6053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0" name="legend-hub-text"/>
          <p:cNvSpPr txBox="1"/>
          <p:nvPr/>
        </p:nvSpPr>
        <p:spPr>
          <a:xfrm>
            <a:off x="877824" y="6035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AI Hubが中心の場面</a:t>
            </a:r>
            <a:endParaRPr lang="en-US" sz="1100" dirty="0"/>
          </a:p>
        </p:txBody>
      </p:sp>
      <p:sp>
        <p:nvSpPr>
          <p:cNvPr id="61" name="legend-tt-circle"/>
          <p:cNvSpPr/>
          <p:nvPr/>
        </p:nvSpPr>
        <p:spPr>
          <a:xfrm>
            <a:off x="2926080" y="6053328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2" name="legend-tt-num"/>
          <p:cNvSpPr txBox="1"/>
          <p:nvPr/>
        </p:nvSpPr>
        <p:spPr>
          <a:xfrm>
            <a:off x="2926080" y="6053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3" name="legend-tt-text"/>
          <p:cNvSpPr txBox="1"/>
          <p:nvPr/>
        </p:nvSpPr>
        <p:spPr>
          <a:xfrm>
            <a:off x="3255264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テックタッチのガイドが中心の場面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デモの画面（イメージ）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Splunk公式のUI部品で組んだ画面イメージです。ES・SOARの実画面ではありません</a:t>
            </a:r>
            <a:endParaRPr lang="en-US" sz="1500" dirty="0"/>
          </a:p>
        </p:txBody>
      </p:sp>
      <p:pic>
        <p:nvPicPr>
          <p:cNvPr id="4" name="shot-0" descr="/home/user/000/splunk-es-soar-techtouch-demo/slides/img/screen_i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3566160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B45">
                <a:alpha val="25000"/>
              </a:srgbClr>
            </a:outerShdw>
          </a:effectLst>
        </p:spPr>
      </p:pic>
      <p:sp>
        <p:nvSpPr>
          <p:cNvPr id="5" name="shot-title-0"/>
          <p:cNvSpPr txBox="1"/>
          <p:nvPr/>
        </p:nvSpPr>
        <p:spPr>
          <a:xfrm>
            <a:off x="548640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S1　Incident Review</a:t>
            </a:r>
            <a:endParaRPr lang="en-US" sz="1500" dirty="0"/>
          </a:p>
        </p:txBody>
      </p:sp>
      <p:sp>
        <p:nvSpPr>
          <p:cNvPr id="6" name="shot-desc-0"/>
          <p:cNvSpPr txBox="1"/>
          <p:nvPr/>
        </p:nvSpPr>
        <p:spPr>
          <a:xfrm>
            <a:off x="548640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UEBAのノータブルが、担当者未割当のまま</a:t>
            </a:r>
            <a:endParaRPr lang="en-US" sz="1300" dirty="0"/>
          </a:p>
        </p:txBody>
      </p:sp>
      <p:pic>
        <p:nvPicPr>
          <p:cNvPr id="7" name="shot-1" descr="/home/user/000/splunk-es-soar-techtouch-demo/slides/img/screen_c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06824" y="1600200"/>
            <a:ext cx="3566160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B45">
                <a:alpha val="25000"/>
              </a:srgbClr>
            </a:outerShdw>
          </a:effectLst>
        </p:spPr>
      </p:pic>
      <p:sp>
        <p:nvSpPr>
          <p:cNvPr id="8" name="shot-title-1"/>
          <p:cNvSpPr txBox="1"/>
          <p:nvPr/>
        </p:nvSpPr>
        <p:spPr>
          <a:xfrm>
            <a:off x="4306824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S4　相関検索の作成</a:t>
            </a:r>
            <a:endParaRPr lang="en-US" sz="1500" dirty="0"/>
          </a:p>
        </p:txBody>
      </p:sp>
      <p:sp>
        <p:nvSpPr>
          <p:cNvPr id="9" name="shot-desc-1"/>
          <p:cNvSpPr txBox="1"/>
          <p:nvPr/>
        </p:nvSpPr>
        <p:spPr>
          <a:xfrm>
            <a:off x="4306824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命名規則・実行間隔・リスク・緊急度・抑制を入力チェック（案）</a:t>
            </a:r>
            <a:endParaRPr lang="en-US" sz="1300" dirty="0"/>
          </a:p>
        </p:txBody>
      </p:sp>
      <p:pic>
        <p:nvPicPr>
          <p:cNvPr id="10" name="shot-2" descr="/home/user/000/splunk-es-soar-techtouch-demo/slides/img/screen_soa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65008" y="1600200"/>
            <a:ext cx="3566160" cy="20116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1B2B45">
                <a:alpha val="25000"/>
              </a:srgbClr>
            </a:outerShdw>
          </a:effectLst>
        </p:spPr>
      </p:pic>
      <p:sp>
        <p:nvSpPr>
          <p:cNvPr id="11" name="shot-title-2"/>
          <p:cNvSpPr txBox="1"/>
          <p:nvPr/>
        </p:nvSpPr>
        <p:spPr>
          <a:xfrm>
            <a:off x="8065008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S6　SOARのプレイブック</a:t>
            </a:r>
            <a:endParaRPr lang="en-US" sz="1500" dirty="0"/>
          </a:p>
        </p:txBody>
      </p:sp>
      <p:sp>
        <p:nvSpPr>
          <p:cNvPr id="12" name="shot-desc-2"/>
          <p:cNvSpPr txBox="1"/>
          <p:nvPr/>
        </p:nvSpPr>
        <p:spPr>
          <a:xfrm>
            <a:off x="8065008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承認段階どおりに①〜③を実行。③はSOC責任者の承認待ち</a:t>
            </a:r>
            <a:endParaRPr lang="en-US" sz="1300" dirty="0"/>
          </a:p>
        </p:txBody>
      </p:sp>
      <p:sp>
        <p:nvSpPr>
          <p:cNvPr id="13" name="screen-note-bg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4" name="screen-note-badge-circle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creen-note-badge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028" y="5439308"/>
            <a:ext cx="231343" cy="231343"/>
          </a:xfrm>
          <a:prstGeom prst="rect">
            <a:avLst/>
          </a:prstGeom>
        </p:spPr>
      </p:pic>
      <p:sp>
        <p:nvSpPr>
          <p:cNvPr id="16" name="screen-note"/>
          <p:cNvSpPr txBox="1"/>
          <p:nvPr/>
        </p:nvSpPr>
        <p:spPr>
          <a:xfrm>
            <a:off x="1463040" y="50749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社内ポータル（チケット管理・チャット）は、Splunkとは別のシステムとして描いています。チケットの「Splunk ESで開く」から、Splunkに移ります。青い吹き出しがテックタッチのガイド（案）、紫の枠がAI Hub（構想・例文）です。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見せ場：封じ込めを、社内の承認段階どおりに動かす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SOARがあっても「誰の承認で何を止めるか」が決まっていなければ動きません</a:t>
            </a:r>
            <a:endParaRPr lang="en-US" sz="1500" dirty="0"/>
          </a:p>
        </p:txBody>
      </p:sp>
      <p:sp>
        <p:nvSpPr>
          <p:cNvPr id="4" name="level-0"/>
          <p:cNvSpPr/>
          <p:nvPr/>
        </p:nvSpPr>
        <p:spPr>
          <a:xfrm>
            <a:off x="548640" y="1508760"/>
            <a:ext cx="658368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5" name="level-badge-0-circle"/>
          <p:cNvSpPr/>
          <p:nvPr/>
        </p:nvSpPr>
        <p:spPr>
          <a:xfrm>
            <a:off x="713232" y="166420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level-badge-0-num"/>
          <p:cNvSpPr txBox="1"/>
          <p:nvPr/>
        </p:nvSpPr>
        <p:spPr>
          <a:xfrm>
            <a:off x="713232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①</a:t>
            </a:r>
            <a:endParaRPr lang="en-US" sz="1600" dirty="0"/>
          </a:p>
        </p:txBody>
      </p:sp>
      <p:sp>
        <p:nvSpPr>
          <p:cNvPr id="7" name="level-name-0"/>
          <p:cNvSpPr txBox="1"/>
          <p:nvPr/>
        </p:nvSpPr>
        <p:spPr>
          <a:xfrm>
            <a:off x="1417320" y="158191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セッションの失効（Entra ID）</a:t>
            </a:r>
            <a:endParaRPr lang="en-US" sz="1500" dirty="0"/>
          </a:p>
        </p:txBody>
      </p:sp>
      <p:sp>
        <p:nvSpPr>
          <p:cNvPr id="8" name="level-who-0"/>
          <p:cNvSpPr txBox="1"/>
          <p:nvPr/>
        </p:nvSpPr>
        <p:spPr>
          <a:xfrm>
            <a:off x="1417320" y="19476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SOC担当者の判断で即時</a:t>
            </a:r>
            <a:endParaRPr lang="en-US" sz="1300" dirty="0"/>
          </a:p>
        </p:txBody>
      </p:sp>
      <p:sp>
        <p:nvSpPr>
          <p:cNvPr id="9" name="level-1"/>
          <p:cNvSpPr/>
          <p:nvPr/>
        </p:nvSpPr>
        <p:spPr>
          <a:xfrm>
            <a:off x="868680" y="2468880"/>
            <a:ext cx="6263640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10" name="level-badge-1-circle"/>
          <p:cNvSpPr/>
          <p:nvPr/>
        </p:nvSpPr>
        <p:spPr>
          <a:xfrm>
            <a:off x="1033272" y="2624328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1" name="level-badge-1-num"/>
          <p:cNvSpPr txBox="1"/>
          <p:nvPr/>
        </p:nvSpPr>
        <p:spPr>
          <a:xfrm>
            <a:off x="1033272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②</a:t>
            </a:r>
            <a:endParaRPr lang="en-US" sz="1600" dirty="0"/>
          </a:p>
        </p:txBody>
      </p:sp>
      <p:sp>
        <p:nvSpPr>
          <p:cNvPr id="12" name="level-name-1"/>
          <p:cNvSpPr txBox="1"/>
          <p:nvPr/>
        </p:nvSpPr>
        <p:spPr>
          <a:xfrm>
            <a:off x="1737360" y="254203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転送ルールの無効化・パスワードリセット・MFA再登録</a:t>
            </a:r>
            <a:endParaRPr lang="en-US" sz="1500" dirty="0"/>
          </a:p>
        </p:txBody>
      </p:sp>
      <p:sp>
        <p:nvSpPr>
          <p:cNvPr id="13" name="level-who-1"/>
          <p:cNvSpPr txBox="1"/>
          <p:nvPr/>
        </p:nvSpPr>
        <p:spPr>
          <a:xfrm>
            <a:off x="1737360" y="290779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SOC担当者の判断で即時</a:t>
            </a:r>
            <a:endParaRPr lang="en-US" sz="1300" dirty="0"/>
          </a:p>
        </p:txBody>
      </p:sp>
      <p:sp>
        <p:nvSpPr>
          <p:cNvPr id="14" name="level-2"/>
          <p:cNvSpPr/>
          <p:nvPr/>
        </p:nvSpPr>
        <p:spPr>
          <a:xfrm>
            <a:off x="1188720" y="3429000"/>
            <a:ext cx="5943600" cy="822960"/>
          </a:xfrm>
          <a:prstGeom prst="roundRect">
            <a:avLst>
              <a:gd name="adj" fmla="val 8889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5" name="level-badge-2-circle"/>
          <p:cNvSpPr/>
          <p:nvPr/>
        </p:nvSpPr>
        <p:spPr>
          <a:xfrm>
            <a:off x="1353312" y="358444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level-badge-2-num"/>
          <p:cNvSpPr txBox="1"/>
          <p:nvPr/>
        </p:nvSpPr>
        <p:spPr>
          <a:xfrm>
            <a:off x="1353312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③</a:t>
            </a:r>
            <a:endParaRPr lang="en-US" sz="1600" dirty="0"/>
          </a:p>
        </p:txBody>
      </p:sp>
      <p:sp>
        <p:nvSpPr>
          <p:cNvPr id="17" name="level-name-2"/>
          <p:cNvSpPr txBox="1"/>
          <p:nvPr/>
        </p:nvSpPr>
        <p:spPr>
          <a:xfrm>
            <a:off x="2057400" y="35021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アカウントの一時停止（Entra ID）</a:t>
            </a:r>
            <a:endParaRPr lang="en-US" sz="1500" dirty="0"/>
          </a:p>
        </p:txBody>
      </p:sp>
      <p:sp>
        <p:nvSpPr>
          <p:cNvPr id="18" name="level-who-2"/>
          <p:cNvSpPr txBox="1"/>
          <p:nvPr/>
        </p:nvSpPr>
        <p:spPr>
          <a:xfrm>
            <a:off x="2057400" y="38679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SOC責任者の承認</a:t>
            </a:r>
            <a:endParaRPr lang="en-US" sz="1300" dirty="0"/>
          </a:p>
        </p:txBody>
      </p:sp>
      <p:sp>
        <p:nvSpPr>
          <p:cNvPr id="19" name="level-3"/>
          <p:cNvSpPr/>
          <p:nvPr/>
        </p:nvSpPr>
        <p:spPr>
          <a:xfrm>
            <a:off x="1508760" y="4389120"/>
            <a:ext cx="5623560" cy="822960"/>
          </a:xfrm>
          <a:prstGeom prst="roundRect">
            <a:avLst>
              <a:gd name="adj" fmla="val 8889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0" name="level-badge-3-circle"/>
          <p:cNvSpPr/>
          <p:nvPr/>
        </p:nvSpPr>
        <p:spPr>
          <a:xfrm>
            <a:off x="1673352" y="4544568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level-badge-3-num"/>
          <p:cNvSpPr txBox="1"/>
          <p:nvPr/>
        </p:nvSpPr>
        <p:spPr>
          <a:xfrm>
            <a:off x="1673352" y="4544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④</a:t>
            </a:r>
            <a:endParaRPr lang="en-US" sz="1600" dirty="0"/>
          </a:p>
        </p:txBody>
      </p:sp>
      <p:sp>
        <p:nvSpPr>
          <p:cNvPr id="22" name="level-name-3"/>
          <p:cNvSpPr txBox="1"/>
          <p:nvPr/>
        </p:nvSpPr>
        <p:spPr>
          <a:xfrm>
            <a:off x="2377440" y="4462272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テナント全体の外部自動転送の禁止</a:t>
            </a:r>
            <a:endParaRPr lang="en-US" sz="1500" dirty="0"/>
          </a:p>
        </p:txBody>
      </p:sp>
      <p:sp>
        <p:nvSpPr>
          <p:cNvPr id="23" name="level-who-3"/>
          <p:cNvSpPr txBox="1"/>
          <p:nvPr/>
        </p:nvSpPr>
        <p:spPr>
          <a:xfrm>
            <a:off x="2377440" y="482803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CSIRT責任者の判断（デモでは判断材料を渡すまで）</a:t>
            </a:r>
            <a:endParaRPr lang="en-US" sz="1300" dirty="0"/>
          </a:p>
        </p:txBody>
      </p:sp>
      <p:sp>
        <p:nvSpPr>
          <p:cNvPr id="24" name="level-note"/>
          <p:cNvSpPr txBox="1"/>
          <p:nvPr/>
        </p:nvSpPr>
        <p:spPr>
          <a:xfrm>
            <a:off x="548640" y="5440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承認段階はデモ用の架空の例です。御社の対応権限表に合わせて作ります。</a:t>
            </a:r>
            <a:endParaRPr lang="en-US" sz="1100" dirty="0"/>
          </a:p>
        </p:txBody>
      </p:sp>
      <p:sp>
        <p:nvSpPr>
          <p:cNvPr id="25" name="check-bg"/>
          <p:cNvSpPr/>
          <p:nvPr/>
        </p:nvSpPr>
        <p:spPr>
          <a:xfrm>
            <a:off x="7406640" y="1508760"/>
            <a:ext cx="4233672" cy="4389120"/>
          </a:xfrm>
          <a:prstGeom prst="roundRect">
            <a:avLst>
              <a:gd name="adj" fmla="val 1728"/>
            </a:avLst>
          </a:prstGeom>
          <a:solidFill>
            <a:schemeClr val="bg2"/>
          </a:solidFill>
          <a:ln/>
        </p:spPr>
      </p:sp>
      <p:sp>
        <p:nvSpPr>
          <p:cNvPr id="26" name="check-badge-circle"/>
          <p:cNvSpPr/>
          <p:nvPr/>
        </p:nvSpPr>
        <p:spPr>
          <a:xfrm>
            <a:off x="7680960" y="17556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check-badg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4031" y="1908719"/>
            <a:ext cx="260787" cy="260787"/>
          </a:xfrm>
          <a:prstGeom prst="rect">
            <a:avLst/>
          </a:prstGeom>
        </p:spPr>
      </p:pic>
      <p:sp>
        <p:nvSpPr>
          <p:cNvPr id="28" name="check-head"/>
          <p:cNvSpPr txBox="1"/>
          <p:nvPr/>
        </p:nvSpPr>
        <p:spPr>
          <a:xfrm>
            <a:off x="8366760" y="17556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テックタッチの入力チェック（案）</a:t>
            </a:r>
            <a:endParaRPr lang="en-US" sz="1500" dirty="0"/>
          </a:p>
        </p:txBody>
      </p:sp>
      <p:sp>
        <p:nvSpPr>
          <p:cNvPr id="29" name="check-list"/>
          <p:cNvSpPr txBox="1"/>
          <p:nvPr/>
        </p:nvSpPr>
        <p:spPr>
          <a:xfrm>
            <a:off x="7680960" y="2514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実行範囲で「①〜②」「①〜④」を選ぶと、承認段階に合わせて案内する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③の承認チケット番号が空のままでは、実行できない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AI Hubが対応権限表（KB06）と照合し、例外アカウントかを示す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デモの終わりに、画面に残す5つの成果物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「ツールが動いた」ではなく、社内に残るものでデモの成否を判断します</a:t>
            </a:r>
            <a:endParaRPr lang="en-US" sz="1500" dirty="0"/>
          </a:p>
        </p:txBody>
      </p:sp>
      <p:sp>
        <p:nvSpPr>
          <p:cNvPr id="4" name="goal-0"/>
          <p:cNvSpPr/>
          <p:nvPr/>
        </p:nvSpPr>
        <p:spPr>
          <a:xfrm>
            <a:off x="548640" y="1554480"/>
            <a:ext cx="2075688" cy="41148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5" name="goal-badge-0-circle"/>
          <p:cNvSpPr/>
          <p:nvPr/>
        </p:nvSpPr>
        <p:spPr>
          <a:xfrm>
            <a:off x="1197864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goal-badg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19" y="2038655"/>
            <a:ext cx="357530" cy="357530"/>
          </a:xfrm>
          <a:prstGeom prst="rect">
            <a:avLst/>
          </a:prstGeom>
        </p:spPr>
      </p:pic>
      <p:sp>
        <p:nvSpPr>
          <p:cNvPr id="7" name="goal-num-0"/>
          <p:cNvSpPr txBox="1"/>
          <p:nvPr/>
        </p:nvSpPr>
        <p:spPr>
          <a:xfrm>
            <a:off x="685800" y="27432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成果物 1</a:t>
            </a:r>
            <a:endParaRPr lang="en-US" sz="1200" dirty="0"/>
          </a:p>
        </p:txBody>
      </p:sp>
      <p:sp>
        <p:nvSpPr>
          <p:cNvPr id="8" name="goal-name-0"/>
          <p:cNvSpPr txBox="1"/>
          <p:nvPr/>
        </p:nvSpPr>
        <p:spPr>
          <a:xfrm>
            <a:off x="685800" y="303580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社内基準D-02の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相関検索</a:t>
            </a:r>
            <a:endParaRPr lang="en-US" sz="1500" dirty="0"/>
          </a:p>
        </p:txBody>
      </p:sp>
      <p:sp>
        <p:nvSpPr>
          <p:cNvPr id="9" name="goal-desc-0"/>
          <p:cNvSpPr txBox="1"/>
          <p:nvPr/>
        </p:nvSpPr>
        <p:spPr>
          <a:xfrm>
            <a:off x="713232" y="3840480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ノータブルとリスクスコア。テストログで、ケースAだけが残ることを確かめる</a:t>
            </a:r>
            <a:endParaRPr lang="en-US" sz="1300" dirty="0"/>
          </a:p>
        </p:txBody>
      </p:sp>
      <p:sp>
        <p:nvSpPr>
          <p:cNvPr id="10" name="goal-1"/>
          <p:cNvSpPr/>
          <p:nvPr/>
        </p:nvSpPr>
        <p:spPr>
          <a:xfrm>
            <a:off x="2798064" y="1554480"/>
            <a:ext cx="2075688" cy="41148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1" name="goal-badge-1-circle"/>
          <p:cNvSpPr/>
          <p:nvPr/>
        </p:nvSpPr>
        <p:spPr>
          <a:xfrm>
            <a:off x="3447288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goal-badg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143" y="2038655"/>
            <a:ext cx="357530" cy="357530"/>
          </a:xfrm>
          <a:prstGeom prst="rect">
            <a:avLst/>
          </a:prstGeom>
        </p:spPr>
      </p:pic>
      <p:sp>
        <p:nvSpPr>
          <p:cNvPr id="13" name="goal-num-1"/>
          <p:cNvSpPr txBox="1"/>
          <p:nvPr/>
        </p:nvSpPr>
        <p:spPr>
          <a:xfrm>
            <a:off x="2935224" y="27432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成果物 2</a:t>
            </a:r>
            <a:endParaRPr lang="en-US" sz="1200" dirty="0"/>
          </a:p>
        </p:txBody>
      </p:sp>
      <p:sp>
        <p:nvSpPr>
          <p:cNvPr id="14" name="goal-name-1"/>
          <p:cNvSpPr txBox="1"/>
          <p:nvPr/>
        </p:nvSpPr>
        <p:spPr>
          <a:xfrm>
            <a:off x="2935224" y="303580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一次対応の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チェックリスト</a:t>
            </a:r>
            <a:endParaRPr lang="en-US" sz="1500" dirty="0"/>
          </a:p>
        </p:txBody>
      </p:sp>
      <p:sp>
        <p:nvSpPr>
          <p:cNvPr id="15" name="goal-desc-1"/>
          <p:cNvSpPr txBox="1"/>
          <p:nvPr/>
        </p:nvSpPr>
        <p:spPr>
          <a:xfrm>
            <a:off x="2962656" y="3840480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本人・上長への確認を含む7項目。埋まるまで封じ込めに進めない</a:t>
            </a:r>
            <a:endParaRPr lang="en-US" sz="1300" dirty="0"/>
          </a:p>
        </p:txBody>
      </p:sp>
      <p:sp>
        <p:nvSpPr>
          <p:cNvPr id="16" name="goal-2"/>
          <p:cNvSpPr/>
          <p:nvPr/>
        </p:nvSpPr>
        <p:spPr>
          <a:xfrm>
            <a:off x="5047488" y="1554480"/>
            <a:ext cx="2075688" cy="41148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17" name="goal-badge-2-circle"/>
          <p:cNvSpPr/>
          <p:nvPr/>
        </p:nvSpPr>
        <p:spPr>
          <a:xfrm>
            <a:off x="5696712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goal-badg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7" y="2038655"/>
            <a:ext cx="357530" cy="357530"/>
          </a:xfrm>
          <a:prstGeom prst="rect">
            <a:avLst/>
          </a:prstGeom>
        </p:spPr>
      </p:pic>
      <p:sp>
        <p:nvSpPr>
          <p:cNvPr id="19" name="goal-num-2"/>
          <p:cNvSpPr txBox="1"/>
          <p:nvPr/>
        </p:nvSpPr>
        <p:spPr>
          <a:xfrm>
            <a:off x="5184648" y="27432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成果物 3</a:t>
            </a:r>
            <a:endParaRPr lang="en-US" sz="1200" dirty="0"/>
          </a:p>
        </p:txBody>
      </p:sp>
      <p:sp>
        <p:nvSpPr>
          <p:cNvPr id="20" name="goal-name-2"/>
          <p:cNvSpPr txBox="1"/>
          <p:nvPr/>
        </p:nvSpPr>
        <p:spPr>
          <a:xfrm>
            <a:off x="5184648" y="303580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封じ込めの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承認段階</a:t>
            </a:r>
            <a:endParaRPr lang="en-US" sz="1500" dirty="0"/>
          </a:p>
        </p:txBody>
      </p:sp>
      <p:sp>
        <p:nvSpPr>
          <p:cNvPr id="21" name="goal-desc-2"/>
          <p:cNvSpPr txBox="1"/>
          <p:nvPr/>
        </p:nvSpPr>
        <p:spPr>
          <a:xfrm>
            <a:off x="5212080" y="3840480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SOARプレイブックの入力に、実行範囲と承認番号を残す</a:t>
            </a:r>
            <a:endParaRPr lang="en-US" sz="1300" dirty="0"/>
          </a:p>
        </p:txBody>
      </p:sp>
      <p:sp>
        <p:nvSpPr>
          <p:cNvPr id="22" name="goal-3"/>
          <p:cNvSpPr/>
          <p:nvPr/>
        </p:nvSpPr>
        <p:spPr>
          <a:xfrm>
            <a:off x="7296912" y="1554480"/>
            <a:ext cx="2075688" cy="41148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23" name="goal-badge-3-circle"/>
          <p:cNvSpPr/>
          <p:nvPr/>
        </p:nvSpPr>
        <p:spPr>
          <a:xfrm>
            <a:off x="7946136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goal-badge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991" y="2038655"/>
            <a:ext cx="357530" cy="357530"/>
          </a:xfrm>
          <a:prstGeom prst="rect">
            <a:avLst/>
          </a:prstGeom>
        </p:spPr>
      </p:pic>
      <p:sp>
        <p:nvSpPr>
          <p:cNvPr id="25" name="goal-num-3"/>
          <p:cNvSpPr txBox="1"/>
          <p:nvPr/>
        </p:nvSpPr>
        <p:spPr>
          <a:xfrm>
            <a:off x="7434072" y="27432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成果物 4</a:t>
            </a:r>
            <a:endParaRPr lang="en-US" sz="1200" dirty="0"/>
          </a:p>
        </p:txBody>
      </p:sp>
      <p:sp>
        <p:nvSpPr>
          <p:cNvPr id="26" name="goal-name-3"/>
          <p:cNvSpPr txBox="1"/>
          <p:nvPr/>
        </p:nvSpPr>
        <p:spPr>
          <a:xfrm>
            <a:off x="7434072" y="303580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範囲の確定と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記録</a:t>
            </a:r>
            <a:endParaRPr lang="en-US" sz="1500" dirty="0"/>
          </a:p>
        </p:txBody>
      </p:sp>
      <p:sp>
        <p:nvSpPr>
          <p:cNvPr id="27" name="goal-desc-3"/>
          <p:cNvSpPr txBox="1"/>
          <p:nvPr/>
        </p:nvSpPr>
        <p:spPr>
          <a:xfrm>
            <a:off x="7461504" y="3840480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転送ルール・ダウンロード・社内送信・他アカウントを確定し、4項目で記録</a:t>
            </a:r>
            <a:endParaRPr lang="en-US" sz="1300" dirty="0"/>
          </a:p>
        </p:txBody>
      </p:sp>
      <p:sp>
        <p:nvSpPr>
          <p:cNvPr id="28" name="goal-4"/>
          <p:cNvSpPr/>
          <p:nvPr/>
        </p:nvSpPr>
        <p:spPr>
          <a:xfrm>
            <a:off x="9546336" y="1554480"/>
            <a:ext cx="2075688" cy="4114800"/>
          </a:xfrm>
          <a:prstGeom prst="roundRect">
            <a:avLst>
              <a:gd name="adj" fmla="val 3524"/>
            </a:avLst>
          </a:prstGeom>
          <a:solidFill>
            <a:schemeClr val="bg2"/>
          </a:solidFill>
          <a:ln/>
        </p:spPr>
      </p:sp>
      <p:sp>
        <p:nvSpPr>
          <p:cNvPr id="29" name="goal-badge-4-circle"/>
          <p:cNvSpPr/>
          <p:nvPr/>
        </p:nvSpPr>
        <p:spPr>
          <a:xfrm>
            <a:off x="10195560" y="18288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goal-badge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415" y="2038655"/>
            <a:ext cx="357530" cy="357530"/>
          </a:xfrm>
          <a:prstGeom prst="rect">
            <a:avLst/>
          </a:prstGeom>
        </p:spPr>
      </p:pic>
      <p:sp>
        <p:nvSpPr>
          <p:cNvPr id="31" name="goal-num-4"/>
          <p:cNvSpPr txBox="1"/>
          <p:nvPr/>
        </p:nvSpPr>
        <p:spPr>
          <a:xfrm>
            <a:off x="9683496" y="27432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成果物 5</a:t>
            </a:r>
            <a:endParaRPr lang="en-US" sz="1200" dirty="0"/>
          </a:p>
        </p:txBody>
      </p:sp>
      <p:sp>
        <p:nvSpPr>
          <p:cNvPr id="32" name="goal-name-4"/>
          <p:cNvSpPr txBox="1"/>
          <p:nvPr/>
        </p:nvSpPr>
        <p:spPr>
          <a:xfrm>
            <a:off x="9683496" y="303580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ナレッジと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役割分担</a:t>
            </a:r>
            <a:endParaRPr lang="en-US" sz="1500" dirty="0"/>
          </a:p>
        </p:txBody>
      </p:sp>
      <p:sp>
        <p:nvSpPr>
          <p:cNvPr id="33" name="goal-desc-4"/>
          <p:cNvSpPr txBox="1"/>
          <p:nvPr/>
        </p:nvSpPr>
        <p:spPr>
          <a:xfrm>
            <a:off x="9710928" y="3840480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検知条件・承認段階・記録をナレッジにし、委託先との役割分担を書き換える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AI機能は、機能ごとに分けて評価します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Assistant・UEBA・AI Hubは別のものです。まとめて「AIで速くなる」とは言いません</a:t>
            </a:r>
            <a:endParaRPr lang="en-US" sz="1500" dirty="0"/>
          </a:p>
        </p:txBody>
      </p:sp>
      <p:sp>
        <p:nvSpPr>
          <p:cNvPr id="4" name="ai-0"/>
          <p:cNvSpPr/>
          <p:nvPr/>
        </p:nvSpPr>
        <p:spPr>
          <a:xfrm>
            <a:off x="548640" y="1481328"/>
            <a:ext cx="3611880" cy="3886200"/>
          </a:xfrm>
          <a:prstGeom prst="roundRect">
            <a:avLst>
              <a:gd name="adj" fmla="val 2025"/>
            </a:avLst>
          </a:prstGeom>
          <a:solidFill>
            <a:schemeClr val="tx2">
              <a:alpha val="8000"/>
            </a:schemeClr>
          </a:solidFill>
          <a:ln/>
        </p:spPr>
      </p:sp>
      <p:sp>
        <p:nvSpPr>
          <p:cNvPr id="5" name="ai-badge-0-circle"/>
          <p:cNvSpPr/>
          <p:nvPr/>
        </p:nvSpPr>
        <p:spPr>
          <a:xfrm>
            <a:off x="777240" y="166420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ai-badg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817279"/>
            <a:ext cx="260787" cy="260787"/>
          </a:xfrm>
          <a:prstGeom prst="rect">
            <a:avLst/>
          </a:prstGeom>
        </p:spPr>
      </p:pic>
      <p:sp>
        <p:nvSpPr>
          <p:cNvPr id="7" name="ai-name-0"/>
          <p:cNvSpPr txBox="1"/>
          <p:nvPr/>
        </p:nvSpPr>
        <p:spPr>
          <a:xfrm>
            <a:off x="1463040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Splunk AI Assistant</a:t>
            </a:r>
            <a:endParaRPr lang="en-US" sz="1600" dirty="0"/>
          </a:p>
        </p:txBody>
      </p:sp>
      <p:sp>
        <p:nvSpPr>
          <p:cNvPr id="8" name="ai-kind-0"/>
          <p:cNvSpPr txBox="1"/>
          <p:nvPr/>
        </p:nvSpPr>
        <p:spPr>
          <a:xfrm>
            <a:off x="146304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Splunkの機能</a:t>
            </a:r>
            <a:endParaRPr lang="en-US" sz="1200" dirty="0"/>
          </a:p>
        </p:txBody>
      </p:sp>
      <p:sp>
        <p:nvSpPr>
          <p:cNvPr id="9" name="ai-lab-0-0"/>
          <p:cNvSpPr txBox="1"/>
          <p:nvPr/>
        </p:nvSpPr>
        <p:spPr>
          <a:xfrm>
            <a:off x="777240" y="2423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すること</a:t>
            </a:r>
            <a:endParaRPr lang="en-US" sz="1200" dirty="0"/>
          </a:p>
        </p:txBody>
      </p:sp>
      <p:sp>
        <p:nvSpPr>
          <p:cNvPr id="10" name="ai-val-0-0"/>
          <p:cNvSpPr txBox="1"/>
          <p:nvPr/>
        </p:nvSpPr>
        <p:spPr>
          <a:xfrm>
            <a:off x="777240" y="26791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自然言語からSPL案を作り、既存SPLを説明・修正する</a:t>
            </a:r>
            <a:endParaRPr lang="en-US" sz="1300" dirty="0"/>
          </a:p>
        </p:txBody>
      </p:sp>
      <p:sp>
        <p:nvSpPr>
          <p:cNvPr id="11" name="ai-lab-0-1"/>
          <p:cNvSpPr txBox="1"/>
          <p:nvPr/>
        </p:nvSpPr>
        <p:spPr>
          <a:xfrm>
            <a:off x="777240" y="33832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デモでの扱い</a:t>
            </a:r>
            <a:endParaRPr lang="en-US" sz="1200" dirty="0"/>
          </a:p>
        </p:txBody>
      </p:sp>
      <p:sp>
        <p:nvSpPr>
          <p:cNvPr id="12" name="ai-val-0-1"/>
          <p:cNvSpPr txBox="1"/>
          <p:nvPr/>
        </p:nvSpPr>
        <p:spPr>
          <a:xfrm>
            <a:off x="777240" y="36393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参考画面（準備した例）。実機ではそのままの出力を使う</a:t>
            </a:r>
            <a:endParaRPr lang="en-US" sz="1300" dirty="0"/>
          </a:p>
        </p:txBody>
      </p:sp>
      <p:sp>
        <p:nvSpPr>
          <p:cNvPr id="13" name="ai-lab-0-2"/>
          <p:cNvSpPr txBox="1"/>
          <p:nvPr/>
        </p:nvSpPr>
        <p:spPr>
          <a:xfrm>
            <a:off x="777240" y="4343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判断の置き方</a:t>
            </a:r>
            <a:endParaRPr lang="en-US" sz="1200" dirty="0"/>
          </a:p>
        </p:txBody>
      </p:sp>
      <p:sp>
        <p:nvSpPr>
          <p:cNvPr id="14" name="ai-val-0-2"/>
          <p:cNvSpPr txBox="1"/>
          <p:nvPr/>
        </p:nvSpPr>
        <p:spPr>
          <a:xfrm>
            <a:off x="777240" y="4599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出力はAI Hubで社内基準D-02と照合し、テストログで確かめる</a:t>
            </a:r>
            <a:endParaRPr lang="en-US" sz="1300" dirty="0"/>
          </a:p>
        </p:txBody>
      </p:sp>
      <p:sp>
        <p:nvSpPr>
          <p:cNvPr id="15" name="ai-1"/>
          <p:cNvSpPr/>
          <p:nvPr/>
        </p:nvSpPr>
        <p:spPr>
          <a:xfrm>
            <a:off x="4270248" y="1481328"/>
            <a:ext cx="3611880" cy="3886200"/>
          </a:xfrm>
          <a:prstGeom prst="roundRect">
            <a:avLst>
              <a:gd name="adj" fmla="val 2025"/>
            </a:avLst>
          </a:prstGeom>
          <a:solidFill>
            <a:schemeClr val="tx2">
              <a:alpha val="8000"/>
            </a:schemeClr>
          </a:solidFill>
          <a:ln/>
        </p:spPr>
      </p:sp>
      <p:sp>
        <p:nvSpPr>
          <p:cNvPr id="16" name="ai-badge-1-circle"/>
          <p:cNvSpPr/>
          <p:nvPr/>
        </p:nvSpPr>
        <p:spPr>
          <a:xfrm>
            <a:off x="4498848" y="1664208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ai-badg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919" y="1817279"/>
            <a:ext cx="260787" cy="260787"/>
          </a:xfrm>
          <a:prstGeom prst="rect">
            <a:avLst/>
          </a:prstGeom>
        </p:spPr>
      </p:pic>
      <p:sp>
        <p:nvSpPr>
          <p:cNvPr id="18" name="ai-name-1"/>
          <p:cNvSpPr txBox="1"/>
          <p:nvPr/>
        </p:nvSpPr>
        <p:spPr>
          <a:xfrm>
            <a:off x="5184648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UEBA</a:t>
            </a:r>
            <a:endParaRPr lang="en-US" sz="1600" dirty="0"/>
          </a:p>
        </p:txBody>
      </p:sp>
      <p:sp>
        <p:nvSpPr>
          <p:cNvPr id="19" name="ai-kind-1"/>
          <p:cNvSpPr txBox="1"/>
          <p:nvPr/>
        </p:nvSpPr>
        <p:spPr>
          <a:xfrm>
            <a:off x="5184648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ESの機能</a:t>
            </a:r>
            <a:endParaRPr lang="en-US" sz="1200" dirty="0"/>
          </a:p>
        </p:txBody>
      </p:sp>
      <p:sp>
        <p:nvSpPr>
          <p:cNvPr id="20" name="ai-lab-1-0"/>
          <p:cNvSpPr txBox="1"/>
          <p:nvPr/>
        </p:nvSpPr>
        <p:spPr>
          <a:xfrm>
            <a:off x="4498848" y="2423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すること</a:t>
            </a:r>
            <a:endParaRPr lang="en-US" sz="1200" dirty="0"/>
          </a:p>
        </p:txBody>
      </p:sp>
      <p:sp>
        <p:nvSpPr>
          <p:cNvPr id="21" name="ai-val-1-0"/>
          <p:cNvSpPr txBox="1"/>
          <p:nvPr/>
        </p:nvSpPr>
        <p:spPr>
          <a:xfrm>
            <a:off x="4498848" y="26791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行動の異常（普段と違う場所・時間・量、初めての操作）を出す</a:t>
            </a:r>
            <a:endParaRPr lang="en-US" sz="1300" dirty="0"/>
          </a:p>
        </p:txBody>
      </p:sp>
      <p:sp>
        <p:nvSpPr>
          <p:cNvPr id="22" name="ai-lab-1-1"/>
          <p:cNvSpPr txBox="1"/>
          <p:nvPr/>
        </p:nvSpPr>
        <p:spPr>
          <a:xfrm>
            <a:off x="4498848" y="33832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デモでの扱い</a:t>
            </a:r>
            <a:endParaRPr lang="en-US" sz="1200" dirty="0"/>
          </a:p>
        </p:txBody>
      </p:sp>
      <p:sp>
        <p:nvSpPr>
          <p:cNvPr id="23" name="ai-val-1-1"/>
          <p:cNvSpPr txBox="1"/>
          <p:nvPr/>
        </p:nvSpPr>
        <p:spPr>
          <a:xfrm>
            <a:off x="4498848" y="36393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「普段と違う」を出す機能として扱う</a:t>
            </a:r>
            <a:endParaRPr lang="en-US" sz="1300" dirty="0"/>
          </a:p>
        </p:txBody>
      </p:sp>
      <p:sp>
        <p:nvSpPr>
          <p:cNvPr id="24" name="ai-lab-1-2"/>
          <p:cNvSpPr txBox="1"/>
          <p:nvPr/>
        </p:nvSpPr>
        <p:spPr>
          <a:xfrm>
            <a:off x="4498848" y="4343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判断の置き方</a:t>
            </a:r>
            <a:endParaRPr lang="en-US" sz="1200" dirty="0"/>
          </a:p>
        </p:txBody>
      </p:sp>
      <p:sp>
        <p:nvSpPr>
          <p:cNvPr id="25" name="ai-val-1-2"/>
          <p:cNvSpPr txBox="1"/>
          <p:nvPr/>
        </p:nvSpPr>
        <p:spPr>
          <a:xfrm>
            <a:off x="4498848" y="4599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「本人の利用か」は、社内の人が本人と上長に確かめる</a:t>
            </a:r>
            <a:endParaRPr lang="en-US" sz="1300" dirty="0"/>
          </a:p>
        </p:txBody>
      </p:sp>
      <p:sp>
        <p:nvSpPr>
          <p:cNvPr id="26" name="ai-2"/>
          <p:cNvSpPr/>
          <p:nvPr/>
        </p:nvSpPr>
        <p:spPr>
          <a:xfrm>
            <a:off x="7991856" y="1481328"/>
            <a:ext cx="3611880" cy="3886200"/>
          </a:xfrm>
          <a:prstGeom prst="roundRect">
            <a:avLst>
              <a:gd name="adj" fmla="val 2025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27" name="ai-badge-2-circle"/>
          <p:cNvSpPr/>
          <p:nvPr/>
        </p:nvSpPr>
        <p:spPr>
          <a:xfrm>
            <a:off x="8220456" y="166420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ai-badg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527" y="1817279"/>
            <a:ext cx="260787" cy="260787"/>
          </a:xfrm>
          <a:prstGeom prst="rect">
            <a:avLst/>
          </a:prstGeom>
        </p:spPr>
      </p:pic>
      <p:sp>
        <p:nvSpPr>
          <p:cNvPr id="29" name="ai-name-2"/>
          <p:cNvSpPr txBox="1"/>
          <p:nvPr/>
        </p:nvSpPr>
        <p:spPr>
          <a:xfrm>
            <a:off x="8906256" y="1645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AI Hub</a:t>
            </a:r>
            <a:endParaRPr lang="en-US" sz="1600" dirty="0"/>
          </a:p>
        </p:txBody>
      </p:sp>
      <p:sp>
        <p:nvSpPr>
          <p:cNvPr id="30" name="ai-kind-2"/>
          <p:cNvSpPr txBox="1"/>
          <p:nvPr/>
        </p:nvSpPr>
        <p:spPr>
          <a:xfrm>
            <a:off x="8906256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テックタッチ・構想</a:t>
            </a:r>
            <a:endParaRPr lang="en-US" sz="1200" dirty="0"/>
          </a:p>
        </p:txBody>
      </p:sp>
      <p:sp>
        <p:nvSpPr>
          <p:cNvPr id="31" name="ai-lab-2-0"/>
          <p:cNvSpPr txBox="1"/>
          <p:nvPr/>
        </p:nvSpPr>
        <p:spPr>
          <a:xfrm>
            <a:off x="8220456" y="24231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すること</a:t>
            </a:r>
            <a:endParaRPr lang="en-US" sz="1200" dirty="0"/>
          </a:p>
        </p:txBody>
      </p:sp>
      <p:sp>
        <p:nvSpPr>
          <p:cNvPr id="32" name="ai-val-2-0"/>
          <p:cNvSpPr txBox="1"/>
          <p:nvPr/>
        </p:nvSpPr>
        <p:spPr>
          <a:xfrm>
            <a:off x="8220456" y="267919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社内のナレッジ（ログ辞書・検知基準・調査手順・対応権限表）と照合し、整理する</a:t>
            </a:r>
            <a:endParaRPr lang="en-US" sz="1300" dirty="0"/>
          </a:p>
        </p:txBody>
      </p:sp>
      <p:sp>
        <p:nvSpPr>
          <p:cNvPr id="33" name="ai-lab-2-1"/>
          <p:cNvSpPr txBox="1"/>
          <p:nvPr/>
        </p:nvSpPr>
        <p:spPr>
          <a:xfrm>
            <a:off x="8220456" y="33832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デモでの扱い</a:t>
            </a:r>
            <a:endParaRPr lang="en-US" sz="1200" dirty="0"/>
          </a:p>
        </p:txBody>
      </p:sp>
      <p:sp>
        <p:nvSpPr>
          <p:cNvPr id="34" name="ai-val-2-1"/>
          <p:cNvSpPr txBox="1"/>
          <p:nvPr/>
        </p:nvSpPr>
        <p:spPr>
          <a:xfrm>
            <a:off x="8220456" y="363931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本番前に確かめた例文</a:t>
            </a:r>
            <a:endParaRPr lang="en-US" sz="1300" dirty="0"/>
          </a:p>
        </p:txBody>
      </p:sp>
      <p:sp>
        <p:nvSpPr>
          <p:cNvPr id="35" name="ai-lab-2-2"/>
          <p:cNvSpPr txBox="1"/>
          <p:nvPr/>
        </p:nvSpPr>
        <p:spPr>
          <a:xfrm>
            <a:off x="8220456" y="43434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判断の置き方</a:t>
            </a:r>
            <a:endParaRPr lang="en-US" sz="1200" dirty="0"/>
          </a:p>
        </p:txBody>
      </p:sp>
      <p:sp>
        <p:nvSpPr>
          <p:cNvPr id="36" name="ai-val-2-2"/>
          <p:cNvSpPr txBox="1"/>
          <p:nvPr/>
        </p:nvSpPr>
        <p:spPr>
          <a:xfrm>
            <a:off x="8220456" y="45994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検索結果の真偽は断定しない。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判断は人が行う</a:t>
            </a:r>
            <a:endParaRPr lang="en-US" sz="1300" dirty="0"/>
          </a:p>
        </p:txBody>
      </p:sp>
      <p:sp>
        <p:nvSpPr>
          <p:cNvPr id="37" name="ai-note-bg"/>
          <p:cNvSpPr/>
          <p:nvPr/>
        </p:nvSpPr>
        <p:spPr>
          <a:xfrm>
            <a:off x="548640" y="5532120"/>
            <a:ext cx="11094415" cy="548640"/>
          </a:xfrm>
          <a:prstGeom prst="roundRect">
            <a:avLst>
              <a:gd name="adj" fmla="val 13333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38" name="ai-note"/>
          <p:cNvSpPr txBox="1"/>
          <p:nvPr/>
        </p:nvSpPr>
        <p:spPr>
          <a:xfrm>
            <a:off x="731520" y="553212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精度や削減率の数値は、お約束しません。効果は次のページの4つの指標で確かめます。Splunk AI Assistantは有償のSplunk Cloudの機能で、トライアル環境では使えません。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効果の確かめ方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一つの作業で測ります。現状を伺ってから、目標を決めます</a:t>
            </a:r>
            <a:endParaRPr lang="en-US" sz="1500" dirty="0"/>
          </a:p>
        </p:txBody>
      </p:sp>
      <p:sp>
        <p:nvSpPr>
          <p:cNvPr id="4" name="metric-0"/>
          <p:cNvSpPr/>
          <p:nvPr/>
        </p:nvSpPr>
        <p:spPr>
          <a:xfrm>
            <a:off x="548640" y="155448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5" name="metric-badge-0-circle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etric-badg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2084375"/>
            <a:ext cx="357530" cy="357530"/>
          </a:xfrm>
          <a:prstGeom prst="rect">
            <a:avLst/>
          </a:prstGeom>
        </p:spPr>
      </p:pic>
      <p:sp>
        <p:nvSpPr>
          <p:cNvPr id="7" name="metric-name-0"/>
          <p:cNvSpPr txBox="1"/>
          <p:nvPr/>
        </p:nvSpPr>
        <p:spPr>
          <a:xfrm>
            <a:off x="1874520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把握から封じ込めまでの時間</a:t>
            </a:r>
            <a:endParaRPr lang="en-US" sz="1700" dirty="0"/>
          </a:p>
        </p:txBody>
      </p:sp>
      <p:sp>
        <p:nvSpPr>
          <p:cNvPr id="8" name="metric-how-0"/>
          <p:cNvSpPr txBox="1"/>
          <p:nvPr/>
        </p:nvSpPr>
        <p:spPr>
          <a:xfrm>
            <a:off x="1874520" y="23591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ノータブルの発生 → ③アカウント停止の実行</a:t>
            </a:r>
            <a:endParaRPr lang="en-US" sz="1400" dirty="0"/>
          </a:p>
        </p:txBody>
      </p:sp>
      <p:sp>
        <p:nvSpPr>
          <p:cNvPr id="9" name="metric-1"/>
          <p:cNvSpPr/>
          <p:nvPr/>
        </p:nvSpPr>
        <p:spPr>
          <a:xfrm>
            <a:off x="6190488" y="155448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0" name="metric-badge-1-circle"/>
          <p:cNvSpPr/>
          <p:nvPr/>
        </p:nvSpPr>
        <p:spPr>
          <a:xfrm>
            <a:off x="6464808" y="18745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etric-badg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663" y="2084375"/>
            <a:ext cx="357530" cy="357530"/>
          </a:xfrm>
          <a:prstGeom prst="rect">
            <a:avLst/>
          </a:prstGeom>
        </p:spPr>
      </p:pic>
      <p:sp>
        <p:nvSpPr>
          <p:cNvPr id="12" name="metric-name-1"/>
          <p:cNvSpPr txBox="1"/>
          <p:nvPr/>
        </p:nvSpPr>
        <p:spPr>
          <a:xfrm>
            <a:off x="7516368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範囲の確定までの時間</a:t>
            </a:r>
            <a:endParaRPr lang="en-US" sz="1700" dirty="0"/>
          </a:p>
        </p:txBody>
      </p:sp>
      <p:sp>
        <p:nvSpPr>
          <p:cNvPr id="13" name="metric-how-1"/>
          <p:cNvSpPr txBox="1"/>
          <p:nvPr/>
        </p:nvSpPr>
        <p:spPr>
          <a:xfrm>
            <a:off x="7516368" y="23591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ノータブルの発生 → 操作の範囲と他アカウントの確認が記録に書かれる</a:t>
            </a:r>
            <a:endParaRPr lang="en-US" sz="1400" dirty="0"/>
          </a:p>
        </p:txBody>
      </p:sp>
      <p:sp>
        <p:nvSpPr>
          <p:cNvPr id="14" name="metric-2"/>
          <p:cNvSpPr/>
          <p:nvPr/>
        </p:nvSpPr>
        <p:spPr>
          <a:xfrm>
            <a:off x="548640" y="352044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15" name="metric-badge-2-circle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metric-badg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15" y="4050335"/>
            <a:ext cx="357530" cy="357530"/>
          </a:xfrm>
          <a:prstGeom prst="rect">
            <a:avLst/>
          </a:prstGeom>
        </p:spPr>
      </p:pic>
      <p:sp>
        <p:nvSpPr>
          <p:cNvPr id="17" name="metric-name-2"/>
          <p:cNvSpPr txBox="1"/>
          <p:nvPr/>
        </p:nvSpPr>
        <p:spPr>
          <a:xfrm>
            <a:off x="1874520" y="3813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委託先への依頼件数</a:t>
            </a:r>
            <a:endParaRPr lang="en-US" sz="1700" dirty="0"/>
          </a:p>
        </p:txBody>
      </p:sp>
      <p:sp>
        <p:nvSpPr>
          <p:cNvPr id="18" name="metric-how-2"/>
          <p:cNvSpPr txBox="1"/>
          <p:nvPr/>
        </p:nvSpPr>
        <p:spPr>
          <a:xfrm>
            <a:off x="1874520" y="43251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一次対応・ルール変更・範囲の確定で、委託先にチケットを出した件数</a:t>
            </a:r>
            <a:endParaRPr lang="en-US" sz="1400" dirty="0"/>
          </a:p>
        </p:txBody>
      </p:sp>
      <p:sp>
        <p:nvSpPr>
          <p:cNvPr id="19" name="metric-3"/>
          <p:cNvSpPr/>
          <p:nvPr/>
        </p:nvSpPr>
        <p:spPr>
          <a:xfrm>
            <a:off x="6190488" y="352044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20" name="metric-badge-3-circle"/>
          <p:cNvSpPr/>
          <p:nvPr/>
        </p:nvSpPr>
        <p:spPr>
          <a:xfrm>
            <a:off x="6464808" y="38404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metric-badge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663" y="4050335"/>
            <a:ext cx="357530" cy="357530"/>
          </a:xfrm>
          <a:prstGeom prst="rect">
            <a:avLst/>
          </a:prstGeom>
        </p:spPr>
      </p:pic>
      <p:sp>
        <p:nvSpPr>
          <p:cNvPr id="22" name="metric-name-3"/>
          <p:cNvSpPr txBox="1"/>
          <p:nvPr/>
        </p:nvSpPr>
        <p:spPr>
          <a:xfrm>
            <a:off x="7516368" y="38130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社内で完結した検知ルールの変更件数</a:t>
            </a:r>
            <a:endParaRPr lang="en-US" sz="1700" dirty="0"/>
          </a:p>
        </p:txBody>
      </p:sp>
      <p:sp>
        <p:nvSpPr>
          <p:cNvPr id="23" name="metric-how-3"/>
          <p:cNvSpPr txBox="1"/>
          <p:nvPr/>
        </p:nvSpPr>
        <p:spPr>
          <a:xfrm>
            <a:off x="7516368" y="432511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相関検索の作成・変更のうち、社内で完結した件数</a:t>
            </a:r>
            <a:endParaRPr lang="en-US" sz="1400" dirty="0"/>
          </a:p>
        </p:txBody>
      </p:sp>
      <p:sp>
        <p:nvSpPr>
          <p:cNvPr id="24" name="metric-note"/>
          <p:cNvSpPr txBox="1"/>
          <p:nvPr/>
        </p:nvSpPr>
        <p:spPr>
          <a:xfrm>
            <a:off x="548640" y="5623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削減率や検知精度の数値は、事前にはお示ししません。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事前に伺いたいこと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デモの前提を御社の環境に合わせるために、先に確かめたい6項目です</a:t>
            </a:r>
            <a:endParaRPr lang="en-US" sz="1500" dirty="0"/>
          </a:p>
        </p:txBody>
      </p:sp>
      <p:graphicFrame>
        <p:nvGraphicFramePr>
          <p:cNvPr id="15" name="as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4892040"/>
                <a:gridCol w="3291840"/>
                <a:gridCol w="2404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確かめたいこと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理由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主な伺い先（想定）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Splunkの構成（ESの版、UEBAがES統合か旧UBAか、SOARの利用範囲）と、M365の監査ログの取り込み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画面と検知の前提。画面名はESの版で異なる場合がある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SOC、委託先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SOCの体制（委託先と社内の役割分担、契約範囲）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社内で判断・修正してよい範囲が決まる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SOC責任者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M365側の設定（外部自動転送の既定、条件付きアクセス、MFAの方式）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封じ込め④と改善の前提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情報システム部門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SOC・CSIRT端末の条件（閉域、VDI、拡張機能の配布）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テックタッチを入れられるかの前提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情報システム部門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相関検索の作成権限と、スケジュールの時刻（Splunk CloudはUTC）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相関検索を社内で作れるかの前提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ESの管理者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 Hubに渡す情報の範囲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調査記録には個人情報が含まれうる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情報セキュリティの責任者</a:t>
                      </a:r>
                      <a:endParaRPr lang="en-US" sz="1400" dirty="0"/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デモをご覧いただく前に</a:t>
            </a:r>
            <a:endParaRPr lang="en-US" sz="2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イメージデモの前提を、先にお伝えします</a:t>
            </a:r>
            <a:endParaRPr lang="en-US" sz="1500" dirty="0"/>
          </a:p>
        </p:txBody>
      </p:sp>
      <p:sp>
        <p:nvSpPr>
          <p:cNvPr id="4" name="pre-badge-0-circle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e-badge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711" y="1707551"/>
            <a:ext cx="260787" cy="260787"/>
          </a:xfrm>
          <a:prstGeom prst="rect">
            <a:avLst/>
          </a:prstGeom>
        </p:spPr>
      </p:pic>
      <p:sp>
        <p:nvSpPr>
          <p:cNvPr id="6" name="pre-head-0"/>
          <p:cNvSpPr txBox="1"/>
          <p:nvPr/>
        </p:nvSpPr>
        <p:spPr>
          <a:xfrm>
            <a:off x="1325880" y="1481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架空のシナリオです</a:t>
            </a:r>
            <a:endParaRPr lang="en-US" sz="1600" dirty="0"/>
          </a:p>
        </p:txBody>
      </p:sp>
      <p:sp>
        <p:nvSpPr>
          <p:cNvPr id="7" name="pre-body-0"/>
          <p:cNvSpPr txBox="1"/>
          <p:nvPr/>
        </p:nvSpPr>
        <p:spPr>
          <a:xfrm>
            <a:off x="4480560" y="1481328"/>
            <a:ext cx="7159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特定の企業や事案を題材にしたものではありません。人物・企業名・件数は架空で、接続元のIPなどは文書用の予約値です。</a:t>
            </a:r>
            <a:endParaRPr lang="en-US" sz="1300" dirty="0"/>
          </a:p>
        </p:txBody>
      </p:sp>
      <p:sp>
        <p:nvSpPr>
          <p:cNvPr id="8" name="pre-badge-1-circle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pre-badge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11" y="2621951"/>
            <a:ext cx="260787" cy="260787"/>
          </a:xfrm>
          <a:prstGeom prst="rect">
            <a:avLst/>
          </a:prstGeom>
        </p:spPr>
      </p:pic>
      <p:sp>
        <p:nvSpPr>
          <p:cNvPr id="10" name="pre-head-1"/>
          <p:cNvSpPr txBox="1"/>
          <p:nvPr/>
        </p:nvSpPr>
        <p:spPr>
          <a:xfrm>
            <a:off x="1325880" y="23957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画面はイメージです</a:t>
            </a:r>
            <a:endParaRPr lang="en-US" sz="1600" dirty="0"/>
          </a:p>
        </p:txBody>
      </p:sp>
      <p:sp>
        <p:nvSpPr>
          <p:cNvPr id="11" name="pre-body-1"/>
          <p:cNvSpPr txBox="1"/>
          <p:nvPr/>
        </p:nvSpPr>
        <p:spPr>
          <a:xfrm>
            <a:off x="4480560" y="2395728"/>
            <a:ext cx="7159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Splunk公式のUI部品で組んだ画面イメージで、ES・UEBA・SOARの実画面ではありません。画面名や項目名はESの版で異なる場合があり、御社の版で確かめます。</a:t>
            </a:r>
            <a:endParaRPr lang="en-US" sz="1300" dirty="0"/>
          </a:p>
        </p:txBody>
      </p:sp>
      <p:sp>
        <p:nvSpPr>
          <p:cNvPr id="12" name="pre-badge-2-circle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pre-badge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11" y="3536351"/>
            <a:ext cx="260787" cy="260787"/>
          </a:xfrm>
          <a:prstGeom prst="rect">
            <a:avLst/>
          </a:prstGeom>
        </p:spPr>
      </p:pic>
      <p:sp>
        <p:nvSpPr>
          <p:cNvPr id="14" name="pre-head-2"/>
          <p:cNvSpPr txBox="1"/>
          <p:nvPr/>
        </p:nvSpPr>
        <p:spPr>
          <a:xfrm>
            <a:off x="1325880" y="33101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AIの回答は準備した例です</a:t>
            </a:r>
            <a:endParaRPr lang="en-US" sz="1600" dirty="0"/>
          </a:p>
        </p:txBody>
      </p:sp>
      <p:sp>
        <p:nvSpPr>
          <p:cNvPr id="15" name="pre-body-2"/>
          <p:cNvSpPr txBox="1"/>
          <p:nvPr/>
        </p:nvSpPr>
        <p:spPr>
          <a:xfrm>
            <a:off x="4480560" y="3310128"/>
            <a:ext cx="7159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Splunk AI Assistantは参考画面、AI Hubは構想と、本番前に確かめた例文です。</a:t>
            </a:r>
            <a:endParaRPr lang="en-US" sz="1300" dirty="0"/>
          </a:p>
        </p:txBody>
      </p:sp>
      <p:sp>
        <p:nvSpPr>
          <p:cNvPr id="16" name="pre-badge-3-circle"/>
          <p:cNvSpPr/>
          <p:nvPr/>
        </p:nvSpPr>
        <p:spPr>
          <a:xfrm>
            <a:off x="548640" y="42976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pre-badge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11" y="4450751"/>
            <a:ext cx="260787" cy="260787"/>
          </a:xfrm>
          <a:prstGeom prst="rect">
            <a:avLst/>
          </a:prstGeom>
        </p:spPr>
      </p:pic>
      <p:sp>
        <p:nvSpPr>
          <p:cNvPr id="18" name="pre-head-3"/>
          <p:cNvSpPr txBox="1"/>
          <p:nvPr/>
        </p:nvSpPr>
        <p:spPr>
          <a:xfrm>
            <a:off x="1325880" y="42245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テックタッチのガイドは案です</a:t>
            </a:r>
            <a:endParaRPr lang="en-US" sz="1600" dirty="0"/>
          </a:p>
        </p:txBody>
      </p:sp>
      <p:sp>
        <p:nvSpPr>
          <p:cNvPr id="19" name="pre-body-3"/>
          <p:cNvSpPr txBox="1"/>
          <p:nvPr/>
        </p:nvSpPr>
        <p:spPr>
          <a:xfrm>
            <a:off x="4480560" y="4224528"/>
            <a:ext cx="7159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ガイド・ツールチップ・入力チェックは、御社の手順に合わせて作る前の案です。</a:t>
            </a:r>
            <a:endParaRPr lang="en-US" sz="1300" dirty="0"/>
          </a:p>
        </p:txBody>
      </p:sp>
      <p:sp>
        <p:nvSpPr>
          <p:cNvPr id="20" name="pre-badge-4-circle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re-badge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11" y="5365151"/>
            <a:ext cx="260787" cy="260787"/>
          </a:xfrm>
          <a:prstGeom prst="rect">
            <a:avLst/>
          </a:prstGeom>
        </p:spPr>
      </p:pic>
      <p:sp>
        <p:nvSpPr>
          <p:cNvPr id="22" name="pre-head-4"/>
          <p:cNvSpPr txBox="1"/>
          <p:nvPr/>
        </p:nvSpPr>
        <p:spPr>
          <a:xfrm>
            <a:off x="1325880" y="51389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入口の防止は扱いません</a:t>
            </a:r>
            <a:endParaRPr lang="en-US" sz="1600" dirty="0"/>
          </a:p>
        </p:txBody>
      </p:sp>
      <p:sp>
        <p:nvSpPr>
          <p:cNvPr id="23" name="pre-body-4"/>
          <p:cNvSpPr txBox="1"/>
          <p:nvPr/>
        </p:nvSpPr>
        <p:spPr>
          <a:xfrm>
            <a:off x="4480560" y="5138928"/>
            <a:ext cx="7159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フィッシングを防ぐ話ではなく、速く気づき、社内で止め、範囲を確定し、記録する話です。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次の一歩</a:t>
            </a:r>
            <a:endParaRPr lang="en-US" sz="3000" dirty="0"/>
          </a:p>
        </p:txBody>
      </p:sp>
      <p:sp>
        <p:nvSpPr>
          <p:cNvPr id="3" name="next-0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4" name="next-badge-0-circle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ext-badge-0-num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next-head-0"/>
          <p:cNvSpPr txBox="1"/>
          <p:nvPr/>
        </p:nvSpPr>
        <p:spPr>
          <a:xfrm>
            <a:off x="82296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事前に伺いたい6項目</a:t>
            </a:r>
            <a:endParaRPr lang="en-US" sz="1800" dirty="0"/>
          </a:p>
        </p:txBody>
      </p:sp>
      <p:sp>
        <p:nvSpPr>
          <p:cNvPr id="7" name="next-body-0"/>
          <p:cNvSpPr txBox="1"/>
          <p:nvPr/>
        </p:nvSpPr>
        <p:spPr>
          <a:xfrm>
            <a:off x="822960" y="3657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Splunkの構成、SOCの体制、M365の設定、端末の条件、権限、AI Hubに渡す範囲を伺います</a:t>
            </a:r>
            <a:endParaRPr lang="en-US" sz="1400" dirty="0"/>
          </a:p>
        </p:txBody>
      </p:sp>
      <p:sp>
        <p:nvSpPr>
          <p:cNvPr id="8" name="next-1"/>
          <p:cNvSpPr/>
          <p:nvPr/>
        </p:nvSpPr>
        <p:spPr>
          <a:xfrm>
            <a:off x="429768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9" name="next-badge-1-circle"/>
          <p:cNvSpPr/>
          <p:nvPr/>
        </p:nvSpPr>
        <p:spPr>
          <a:xfrm>
            <a:off x="457200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ext-badge-1-num"/>
          <p:cNvSpPr txBox="1"/>
          <p:nvPr/>
        </p:nvSpPr>
        <p:spPr>
          <a:xfrm>
            <a:off x="45720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next-head-1"/>
          <p:cNvSpPr txBox="1"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デモ（9場面・36分）</a:t>
            </a:r>
            <a:endParaRPr lang="en-US" sz="1800" dirty="0"/>
          </a:p>
        </p:txBody>
      </p:sp>
      <p:sp>
        <p:nvSpPr>
          <p:cNvPr id="12" name="next-body-1"/>
          <p:cNvSpPr txBox="1"/>
          <p:nvPr/>
        </p:nvSpPr>
        <p:spPr>
          <a:xfrm>
            <a:off x="4572000" y="3657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場面の終わりごとに、5つの問いに沿って伺います</a:t>
            </a:r>
            <a:endParaRPr lang="en-US" sz="1400" dirty="0"/>
          </a:p>
        </p:txBody>
      </p:sp>
      <p:sp>
        <p:nvSpPr>
          <p:cNvPr id="13" name="next-2"/>
          <p:cNvSpPr/>
          <p:nvPr/>
        </p:nvSpPr>
        <p:spPr>
          <a:xfrm>
            <a:off x="804672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2">
                <a:alpha val="40000"/>
              </a:schemeClr>
            </a:solidFill>
            <a:prstDash val="solid"/>
          </a:ln>
        </p:spPr>
      </p:sp>
      <p:sp>
        <p:nvSpPr>
          <p:cNvPr id="14" name="next-badge-2-circle"/>
          <p:cNvSpPr/>
          <p:nvPr/>
        </p:nvSpPr>
        <p:spPr>
          <a:xfrm>
            <a:off x="832104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ext-badge-2-num"/>
          <p:cNvSpPr txBox="1"/>
          <p:nvPr/>
        </p:nvSpPr>
        <p:spPr>
          <a:xfrm>
            <a:off x="83210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next-head-2"/>
          <p:cNvSpPr txBox="1"/>
          <p:nvPr/>
        </p:nvSpPr>
        <p:spPr>
          <a:xfrm>
            <a:off x="83210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最初に確かめる作業を決める</a:t>
            </a:r>
            <a:endParaRPr lang="en-US" sz="1800" dirty="0"/>
          </a:p>
        </p:txBody>
      </p:sp>
      <p:sp>
        <p:nvSpPr>
          <p:cNvPr id="17" name="next-body-2"/>
          <p:cNvSpPr txBox="1"/>
          <p:nvPr/>
        </p:nvSpPr>
        <p:spPr>
          <a:xfrm>
            <a:off x="8321040" y="3657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近い問いを一つ選び、その作業で現状の時間と件数を測ります</a:t>
            </a:r>
            <a:endParaRPr lang="en-US" sz="1400" dirty="0"/>
          </a:p>
        </p:txBody>
      </p:sp>
      <p:sp>
        <p:nvSpPr>
          <p:cNvPr id="18" name="closing-message"/>
          <p:cNvSpPr txBox="1"/>
          <p:nvPr/>
        </p:nvSpPr>
        <p:spPr>
          <a:xfrm>
            <a:off x="548640" y="53949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入っているES・UEBA・SOARを、社内の人が判断・承認・記録まで使い切る。その最初の一歩を、一緒に決めさせてください。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touch Briefing">
  <a:themeElements>
    <a:clrScheme name="Techtouch Briefing">
      <a:dk1>
        <a:srgbClr val="1F2937"/>
      </a:dk1>
      <a:lt1>
        <a:srgbClr val="FFFFFF"/>
      </a:lt1>
      <a:dk2>
        <a:srgbClr val="1B2B45"/>
      </a:dk2>
      <a:lt2>
        <a:srgbClr val="EAF4FA"/>
      </a:lt2>
      <a:accent1>
        <a:srgbClr val="0B7FB5"/>
      </a:accent1>
      <a:accent2>
        <a:srgbClr val="6A4C9C"/>
      </a:accent2>
      <a:accent3>
        <a:srgbClr val="2E7D5B"/>
      </a:accent3>
      <a:accent4>
        <a:srgbClr val="B35F17"/>
      </a:accent4>
      <a:accent5>
        <a:srgbClr val="6B7280"/>
      </a:accent5>
      <a:accent6>
        <a:srgbClr val="075E86"/>
      </a:accent6>
      <a:hlink>
        <a:srgbClr val="0B7FB5"/>
      </a:hlink>
      <a:folHlink>
        <a:srgbClr val="6A4C9C"/>
      </a:folHlink>
    </a:clrScheme>
    <a:fontScheme name="Techtouch Briefing">
      <a:maj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M365アカウントの乗っ取りを、入っているSplunkで社内で回す（事前説明）</dc:title>
  <dc:subject>Splunk ES＋UEBA＋SOAR × テックタッチ（DAP＋AI Hub）イメージデモの事前説明</dc:subject>
  <dc:creator>テックタッチ</dc:creator>
  <cp:lastModifiedBy>テックタッチ</cp:lastModifiedBy>
  <cp:revision>1</cp:revision>
  <dcterms:created xsi:type="dcterms:W3CDTF">2026-10-19T06:07:32Z</dcterms:created>
  <dcterms:modified xsi:type="dcterms:W3CDTF">2026-10-19T06:07:32Z</dcterms:modified>
</cp:coreProperties>
</file>