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d3f0a926-a924-d231-f4da-2122e0aa7706}">
          <p14:sldIdLst>
            <p14:sldId id="256"/>
            <p14:sldId id="257"/>
          </p14:sldIdLst>
        </p14:section>
        <p14:section name="シナリオ" id="{93fd3f41-d58e-ba89-92a0-cdfc505cf6d4}">
          <p14:sldIdLst>
            <p14:sldId id="258"/>
            <p14:sldId id="259"/>
            <p14:sldId id="260"/>
            <p14:sldId id="261"/>
            <p14:sldId id="262"/>
          </p14:sldIdLst>
        </p14:section>
        <p14:section name="デモ" id="{52d3a786-1c06-7b42-a697-22e26f2ba918}">
          <p14:sldIdLst>
            <p14:sldId id="263"/>
            <p14:sldId id="264"/>
            <p14:sldId id="265"/>
            <p14:sldId id="266"/>
            <p14:sldId id="267"/>
          </p14:sldIdLst>
        </p14:section>
        <p14:section name="進め方" id="{033145bf-aaa8-f8c4-7998-88eefa407154}">
          <p14:sldIdLst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本日は、デモの前に、シナリオの前提と見どころをご説明します。架空のA社を舞台にした、一般的なSOC事案の型のシナリオです。特定の企業や事案を題材にしたものではありません。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製品を足す提案ではありません。入っているES・UEBA・SOARを、社内の人が判断・承認・記録まで使い切る提案です。委託先の仕事を取り上げる話でもありません。夜間監視や高度な分析は委託先に続けていただき、一次対応の判断、封じ込めの承認、範囲の確定、記録、ルール変更を社内で持てるようにする話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Microsoft 365のアカウントの乗っ取りは、多くの組織で起きる一般的な事案の型です。入口のフィッシングを防ぐ話はしません。速く気づき、社内で止め、範囲を確定し、記録する、までがこのシナリオの範囲です。仮説は確かめるべき前提として置い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委託先が悪いという話ではありません。自社に固有の判断を、社内に置くという話です。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当日は、場面の終わりごとに「伺いたいこと」を一つずつお出しします。事前にこの5つを見ていただくと、どの場面を厚く見るかを決めやすくなります。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ログの相関と調査画面はES、行動の異常はUEBA、自動対応はSOAR、検索案はSplunk AI Assistant。社内の基準・手順・権限との照合はAI Hub、手順の抜け漏れ防止と入力チェックはテックタッチのガイドです。委託先は夜間の監視と高度な分析を続け、社内は判断・承認・記録・改善を持ちます。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工程ごとに、これまで止まっていたところと、デモで見せる姿を並べています。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場面ごとの見せ場です。時間が限られる場合は、S1・S5・S6を中心に短くできます。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画面はSplunk公式のUIツールキットで組んだイメージで、ESやSOARの実画面ではありません。本番のデモでは、御社の版の実画面で確かめます。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デモでは、①②は即時に成功し、③はSOC責任者の承認待ちで止まり、承認後に実行されます。④はテナント全体の業務に影響するため、CSIRT責任者に判断材料を渡す段階で止めます。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デモの成否は、この5つが画面に残るかどうかで判断します。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AIの機能は、Assistant（SPLの生成・説明）、UEBA（異常検知）、AI Hub（社内ナレッジとの照合）に分けて扱います。Assistantの精度が上がったことを示す公開の根拠は見当たらないため、毎回、社内基準との照合とテストログでの検証を通します。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削減率の数字はお約束しません。一つの作業を選び、いまの時間と件数を伺ってから、目標を一緒に決めます。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この6項目は、デモを御社の環境に合わせるための前提です。ESの版によって画面名や用語が異なる場合があるため、1番を最初に伺います。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デモの前提です。画面はイメージで、実画面ではありません。数字や人物はすべて架空です。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最後に、次の一歩です。事前の6項目を伺い、デモで5つの問いを一緒に確かめ、最初に測る作業を一つ決めます。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057400"/>
            <a:ext cx="3840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60520"/>
            <a:ext cx="3840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4" name="Text 0"/>
          <p:cNvSpPr/>
          <p:nvPr/>
        </p:nvSpPr>
        <p:spPr>
          <a:xfrm>
            <a:off x="8534095" y="2011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架空のシナリオ・イメージデモ</a:t>
            </a:r>
            <a:endParaRPr lang="en-US" sz="11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05740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M365アカウント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乗っ取り対応デモ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事前説明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41605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Splunk ES＋UEBA＋SOAR ×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テックタッチ（DAP＋AI Hub）</a:t>
            </a:r>
            <a:endParaRPr lang="en-US" sz="1300" dirty="0"/>
          </a:p>
        </p:txBody>
      </p:sp>
      <p:sp>
        <p:nvSpPr>
          <p:cNvPr id="4" name="headline"/>
          <p:cNvSpPr txBox="1"/>
          <p:nvPr/>
        </p:nvSpPr>
        <p:spPr>
          <a:xfrm>
            <a:off x="5257800" y="2240280"/>
            <a:ext cx="6492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入っているSplunkを、社内の人が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判断・承認・記録まで使い切る</a:t>
            </a:r>
            <a:endParaRPr lang="en-US" sz="2200" dirty="0"/>
          </a:p>
        </p:txBody>
      </p:sp>
      <p:sp>
        <p:nvSpPr>
          <p:cNvPr id="5" name="headline-points"/>
          <p:cNvSpPr txBox="1"/>
          <p:nvPr/>
        </p:nvSpPr>
        <p:spPr>
          <a:xfrm>
            <a:off x="5257800" y="342900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架空のA社を舞台にした、一般的なSOC事案の型（M365アカウントの乗っ取り）</a:t>
            </a:r>
            <a:endParaRPr lang="en-US" sz="15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デモは9場面（36分）＋振り返り（1分）。画面はイメージです</a:t>
            </a:r>
            <a:endParaRPr lang="en-US" sz="1500" dirty="0"/>
          </a:p>
        </p:txBody>
      </p:sp>
      <p:sp>
        <p:nvSpPr>
          <p:cNvPr id="6" name="meta"/>
          <p:cNvSpPr txBox="1"/>
          <p:nvPr/>
        </p:nvSpPr>
        <p:spPr>
          <a:xfrm>
            <a:off x="5257800" y="502920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テックタッチ株式会社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2026年10月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架空のシナリオ・イメージデモです。特定の企業や事案を題材にしたものではありません。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サマリ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製品を足すのではなく、入っているSplunkを社内で使い切る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ES・UEBA・SOARは入っている。止まっているのは「ノータブルの後の判断・承認・記録」。そこを社内の手順にし、検知から記録・改善まで社内で回す</a:t>
            </a:r>
            <a:endParaRPr lang="en-US" sz="1300" dirty="0"/>
          </a:p>
        </p:txBody>
      </p:sp>
      <p:sp>
        <p:nvSpPr>
          <p:cNvPr id="6" name="point-0"/>
          <p:cNvSpPr/>
          <p:nvPr/>
        </p:nvSpPr>
        <p:spPr>
          <a:xfrm>
            <a:off x="457200" y="2057400"/>
            <a:ext cx="3637178" cy="1874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point-0-head"/>
          <p:cNvSpPr/>
          <p:nvPr/>
        </p:nvSpPr>
        <p:spPr>
          <a:xfrm>
            <a:off x="457200" y="2057400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point-0-head-text"/>
          <p:cNvSpPr txBox="1"/>
          <p:nvPr/>
        </p:nvSpPr>
        <p:spPr>
          <a:xfrm>
            <a:off x="548640" y="2057400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①　ノータブルの後を、社内で進める</a:t>
            </a:r>
            <a:endParaRPr lang="en-US" sz="1200" dirty="0"/>
          </a:p>
        </p:txBody>
      </p:sp>
      <p:sp>
        <p:nvSpPr>
          <p:cNvPr id="9" name="point-body-0"/>
          <p:cNvSpPr txBox="1"/>
          <p:nvPr/>
        </p:nvSpPr>
        <p:spPr>
          <a:xfrm>
            <a:off x="566928" y="2514600"/>
            <a:ext cx="341772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「本人の利用か」を、本人と上長に確かめる手順を社内に置く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チェックリストが埋まるまで、封じ込めに進まない</a:t>
            </a:r>
            <a:endParaRPr lang="en-US" sz="1300" dirty="0"/>
          </a:p>
        </p:txBody>
      </p:sp>
      <p:sp>
        <p:nvSpPr>
          <p:cNvPr id="10" name="point-1"/>
          <p:cNvSpPr/>
          <p:nvPr/>
        </p:nvSpPr>
        <p:spPr>
          <a:xfrm>
            <a:off x="4277258" y="2057400"/>
            <a:ext cx="3637178" cy="1874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1" name="point-1-head"/>
          <p:cNvSpPr/>
          <p:nvPr/>
        </p:nvSpPr>
        <p:spPr>
          <a:xfrm>
            <a:off x="4277258" y="2057400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2" name="point-1-head-text"/>
          <p:cNvSpPr txBox="1"/>
          <p:nvPr/>
        </p:nvSpPr>
        <p:spPr>
          <a:xfrm>
            <a:off x="4368698" y="2057400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②　承認段階を決めて、SOARを動かす</a:t>
            </a:r>
            <a:endParaRPr lang="en-US" sz="1200" dirty="0"/>
          </a:p>
        </p:txBody>
      </p:sp>
      <p:sp>
        <p:nvSpPr>
          <p:cNvPr id="13" name="point-body-1"/>
          <p:cNvSpPr txBox="1"/>
          <p:nvPr/>
        </p:nvSpPr>
        <p:spPr>
          <a:xfrm>
            <a:off x="4386986" y="2514600"/>
            <a:ext cx="341772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①②は担当者が即時、③はSOC責任者、④はCSIRT責任者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承認番号を、プレイブックの入力に残す</a:t>
            </a:r>
            <a:endParaRPr lang="en-US" sz="1300" dirty="0"/>
          </a:p>
        </p:txBody>
      </p:sp>
      <p:sp>
        <p:nvSpPr>
          <p:cNvPr id="14" name="point-2"/>
          <p:cNvSpPr/>
          <p:nvPr/>
        </p:nvSpPr>
        <p:spPr>
          <a:xfrm>
            <a:off x="8097317" y="2057400"/>
            <a:ext cx="3637178" cy="1874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point-2-head"/>
          <p:cNvSpPr/>
          <p:nvPr/>
        </p:nvSpPr>
        <p:spPr>
          <a:xfrm>
            <a:off x="8097317" y="2057400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6" name="point-2-head-text"/>
          <p:cNvSpPr txBox="1"/>
          <p:nvPr/>
        </p:nvSpPr>
        <p:spPr>
          <a:xfrm>
            <a:off x="8188757" y="2057400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③　範囲・記録・改善を、社内に残す</a:t>
            </a:r>
            <a:endParaRPr lang="en-US" sz="1200" dirty="0"/>
          </a:p>
        </p:txBody>
      </p:sp>
      <p:sp>
        <p:nvSpPr>
          <p:cNvPr id="17" name="point-body-2"/>
          <p:cNvSpPr txBox="1"/>
          <p:nvPr/>
        </p:nvSpPr>
        <p:spPr>
          <a:xfrm>
            <a:off x="8207045" y="2514600"/>
            <a:ext cx="341772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乗っ取られた間の操作と、他アカウントへの広がりを確定する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検知条件・承認段階・記録をナレッジにする</a:t>
            </a:r>
            <a:endParaRPr lang="en-US" sz="1300" dirty="0"/>
          </a:p>
        </p:txBody>
      </p:sp>
      <p:sp>
        <p:nvSpPr>
          <p:cNvPr id="18" name="tile-0"/>
          <p:cNvSpPr/>
          <p:nvPr/>
        </p:nvSpPr>
        <p:spPr>
          <a:xfrm>
            <a:off x="457200" y="4206240"/>
            <a:ext cx="2109155" cy="11887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9" name="tile-cap-0"/>
          <p:cNvSpPr txBox="1"/>
          <p:nvPr/>
        </p:nvSpPr>
        <p:spPr>
          <a:xfrm>
            <a:off x="566928" y="4297680"/>
            <a:ext cx="18896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デモ</a:t>
            </a:r>
            <a:endParaRPr lang="en-US" sz="1200" dirty="0"/>
          </a:p>
        </p:txBody>
      </p:sp>
      <p:sp>
        <p:nvSpPr>
          <p:cNvPr id="20" name="tile-big-0"/>
          <p:cNvSpPr txBox="1"/>
          <p:nvPr/>
        </p:nvSpPr>
        <p:spPr>
          <a:xfrm>
            <a:off x="566928" y="4572000"/>
            <a:ext cx="18896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9場面</a:t>
            </a:r>
            <a:endParaRPr lang="en-US" sz="2400" dirty="0"/>
          </a:p>
        </p:txBody>
      </p:sp>
      <p:sp>
        <p:nvSpPr>
          <p:cNvPr id="21" name="tile-sub-0"/>
          <p:cNvSpPr txBox="1"/>
          <p:nvPr/>
        </p:nvSpPr>
        <p:spPr>
          <a:xfrm>
            <a:off x="566928" y="5056632"/>
            <a:ext cx="18896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36分＋振り返り1分</a:t>
            </a:r>
            <a:endParaRPr lang="en-US" sz="1100" dirty="0"/>
          </a:p>
        </p:txBody>
      </p:sp>
      <p:sp>
        <p:nvSpPr>
          <p:cNvPr id="22" name="tile-1"/>
          <p:cNvSpPr/>
          <p:nvPr/>
        </p:nvSpPr>
        <p:spPr>
          <a:xfrm>
            <a:off x="2749235" y="4206240"/>
            <a:ext cx="2109155" cy="11887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tile-cap-1"/>
          <p:cNvSpPr txBox="1"/>
          <p:nvPr/>
        </p:nvSpPr>
        <p:spPr>
          <a:xfrm>
            <a:off x="2858963" y="4297680"/>
            <a:ext cx="18896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画面に残す成果物</a:t>
            </a:r>
            <a:endParaRPr lang="en-US" sz="1200" dirty="0"/>
          </a:p>
        </p:txBody>
      </p:sp>
      <p:sp>
        <p:nvSpPr>
          <p:cNvPr id="24" name="tile-big-1"/>
          <p:cNvSpPr txBox="1"/>
          <p:nvPr/>
        </p:nvSpPr>
        <p:spPr>
          <a:xfrm>
            <a:off x="2858963" y="4572000"/>
            <a:ext cx="18896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5つ</a:t>
            </a:r>
            <a:endParaRPr lang="en-US" sz="2400" dirty="0"/>
          </a:p>
        </p:txBody>
      </p:sp>
      <p:sp>
        <p:nvSpPr>
          <p:cNvPr id="25" name="tile-sub-1"/>
          <p:cNvSpPr txBox="1"/>
          <p:nvPr/>
        </p:nvSpPr>
        <p:spPr>
          <a:xfrm>
            <a:off x="2858963" y="5056632"/>
            <a:ext cx="18896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相関検索から役割分担まで</a:t>
            </a:r>
            <a:endParaRPr lang="en-US" sz="1100" dirty="0"/>
          </a:p>
        </p:txBody>
      </p:sp>
      <p:sp>
        <p:nvSpPr>
          <p:cNvPr id="26" name="tile-2"/>
          <p:cNvSpPr/>
          <p:nvPr/>
        </p:nvSpPr>
        <p:spPr>
          <a:xfrm>
            <a:off x="5041270" y="4206240"/>
            <a:ext cx="2109155" cy="11887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7" name="tile-cap-2"/>
          <p:cNvSpPr txBox="1"/>
          <p:nvPr/>
        </p:nvSpPr>
        <p:spPr>
          <a:xfrm>
            <a:off x="5150998" y="4297680"/>
            <a:ext cx="18896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事前の問い</a:t>
            </a:r>
            <a:endParaRPr lang="en-US" sz="1200" dirty="0"/>
          </a:p>
        </p:txBody>
      </p:sp>
      <p:sp>
        <p:nvSpPr>
          <p:cNvPr id="28" name="tile-big-2"/>
          <p:cNvSpPr txBox="1"/>
          <p:nvPr/>
        </p:nvSpPr>
        <p:spPr>
          <a:xfrm>
            <a:off x="5150998" y="4572000"/>
            <a:ext cx="18896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5つ</a:t>
            </a:r>
            <a:endParaRPr lang="en-US" sz="2400" dirty="0"/>
          </a:p>
        </p:txBody>
      </p:sp>
      <p:sp>
        <p:nvSpPr>
          <p:cNvPr id="29" name="tile-sub-2"/>
          <p:cNvSpPr txBox="1"/>
          <p:nvPr/>
        </p:nvSpPr>
        <p:spPr>
          <a:xfrm>
            <a:off x="5150998" y="5056632"/>
            <a:ext cx="18896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場面の終わりに伺う</a:t>
            </a:r>
            <a:endParaRPr lang="en-US" sz="1100" dirty="0"/>
          </a:p>
        </p:txBody>
      </p:sp>
      <p:sp>
        <p:nvSpPr>
          <p:cNvPr id="30" name="tile-3"/>
          <p:cNvSpPr/>
          <p:nvPr/>
        </p:nvSpPr>
        <p:spPr>
          <a:xfrm>
            <a:off x="7333305" y="4206240"/>
            <a:ext cx="2109155" cy="11887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1" name="tile-cap-3"/>
          <p:cNvSpPr txBox="1"/>
          <p:nvPr/>
        </p:nvSpPr>
        <p:spPr>
          <a:xfrm>
            <a:off x="7443033" y="4297680"/>
            <a:ext cx="18896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事前に伺いたいこと</a:t>
            </a:r>
            <a:endParaRPr lang="en-US" sz="1200" dirty="0"/>
          </a:p>
        </p:txBody>
      </p:sp>
      <p:sp>
        <p:nvSpPr>
          <p:cNvPr id="32" name="tile-big-3"/>
          <p:cNvSpPr txBox="1"/>
          <p:nvPr/>
        </p:nvSpPr>
        <p:spPr>
          <a:xfrm>
            <a:off x="7443033" y="4572000"/>
            <a:ext cx="18896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6項目</a:t>
            </a:r>
            <a:endParaRPr lang="en-US" sz="2400" dirty="0"/>
          </a:p>
        </p:txBody>
      </p:sp>
      <p:sp>
        <p:nvSpPr>
          <p:cNvPr id="33" name="tile-sub-3"/>
          <p:cNvSpPr txBox="1"/>
          <p:nvPr/>
        </p:nvSpPr>
        <p:spPr>
          <a:xfrm>
            <a:off x="7443033" y="5056632"/>
            <a:ext cx="18896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御社の環境に合わせる</a:t>
            </a:r>
            <a:endParaRPr lang="en-US" sz="1100" dirty="0"/>
          </a:p>
        </p:txBody>
      </p:sp>
      <p:sp>
        <p:nvSpPr>
          <p:cNvPr id="34" name="tile-4"/>
          <p:cNvSpPr/>
          <p:nvPr/>
        </p:nvSpPr>
        <p:spPr>
          <a:xfrm>
            <a:off x="9625340" y="4206240"/>
            <a:ext cx="2109155" cy="11887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5" name="tile-cap-4"/>
          <p:cNvSpPr txBox="1"/>
          <p:nvPr/>
        </p:nvSpPr>
        <p:spPr>
          <a:xfrm>
            <a:off x="9735068" y="4297680"/>
            <a:ext cx="18896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効果の数値</a:t>
            </a:r>
            <a:endParaRPr lang="en-US" sz="1200" dirty="0"/>
          </a:p>
        </p:txBody>
      </p:sp>
      <p:sp>
        <p:nvSpPr>
          <p:cNvPr id="36" name="tile-big-4"/>
          <p:cNvSpPr txBox="1"/>
          <p:nvPr/>
        </p:nvSpPr>
        <p:spPr>
          <a:xfrm>
            <a:off x="9735068" y="4572000"/>
            <a:ext cx="18896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約束しない</a:t>
            </a:r>
            <a:endParaRPr lang="en-US" sz="2400" dirty="0"/>
          </a:p>
        </p:txBody>
      </p:sp>
      <p:sp>
        <p:nvSpPr>
          <p:cNvPr id="37" name="tile-sub-4"/>
          <p:cNvSpPr txBox="1"/>
          <p:nvPr/>
        </p:nvSpPr>
        <p:spPr>
          <a:xfrm>
            <a:off x="9735068" y="5056632"/>
            <a:ext cx="18896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4つの指標で測る</a:t>
            </a:r>
            <a:endParaRPr lang="en-US" sz="1100" dirty="0"/>
          </a:p>
        </p:txBody>
      </p:sp>
      <p:sp>
        <p:nvSpPr>
          <p:cNvPr id="38" name="partner"/>
          <p:cNvSpPr txBox="1"/>
          <p:nvPr/>
        </p:nvSpPr>
        <p:spPr>
          <a:xfrm>
            <a:off x="457200" y="562356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委託先の夜間監視・高度な分析・フォレンジックは、これまでどおりです。社内が判断し、動き、記録できる範囲を広げる話です。</a:t>
            </a:r>
            <a:endParaRPr lang="en-US" sz="1300" dirty="0"/>
          </a:p>
        </p:txBody>
      </p:sp>
      <p:sp>
        <p:nvSpPr>
          <p:cNvPr id="39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画面・人物・企業名・手順・数値はすべて架空です。</a:t>
            </a:r>
            <a:endParaRPr lang="en-US" sz="11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シナリオ｜題材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題材：M365アカウントの乗っ取り（一般的な事案の型）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入口のフィッシングを防ぐ話ではない。速く気づき、社内で止め、範囲を確定し、記録する、までがデモの範囲</a:t>
            </a:r>
            <a:endParaRPr lang="en-US" sz="1300" dirty="0"/>
          </a:p>
        </p:txBody>
      </p:sp>
      <p:sp>
        <p:nvSpPr>
          <p:cNvPr id="6" name="step-0"/>
          <p:cNvSpPr/>
          <p:nvPr/>
        </p:nvSpPr>
        <p:spPr>
          <a:xfrm>
            <a:off x="457200" y="2057400"/>
            <a:ext cx="1681429" cy="12801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step-0-head"/>
          <p:cNvSpPr/>
          <p:nvPr/>
        </p:nvSpPr>
        <p:spPr>
          <a:xfrm>
            <a:off x="457200" y="2057400"/>
            <a:ext cx="1681429" cy="347472"/>
          </a:xfrm>
          <a:prstGeom prst="rect">
            <a:avLst/>
          </a:prstGeom>
          <a:solidFill>
            <a:srgbClr val="8A96A6"/>
          </a:solidFill>
          <a:ln/>
        </p:spPr>
      </p:sp>
      <p:sp>
        <p:nvSpPr>
          <p:cNvPr id="8" name="step-0-head-text"/>
          <p:cNvSpPr txBox="1"/>
          <p:nvPr/>
        </p:nvSpPr>
        <p:spPr>
          <a:xfrm>
            <a:off x="548640" y="2057400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① フィッシング</a:t>
            </a:r>
            <a:endParaRPr lang="en-US" sz="1200" dirty="0"/>
          </a:p>
        </p:txBody>
      </p:sp>
      <p:sp>
        <p:nvSpPr>
          <p:cNvPr id="9" name="step-body-0"/>
          <p:cNvSpPr txBox="1"/>
          <p:nvPr/>
        </p:nvSpPr>
        <p:spPr>
          <a:xfrm>
            <a:off x="548640" y="2496312"/>
            <a:ext cx="14985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取引先を装ったメールのリンク</a:t>
            </a:r>
            <a:endParaRPr lang="en-US" sz="1200" dirty="0"/>
          </a:p>
        </p:txBody>
      </p:sp>
      <p:sp>
        <p:nvSpPr>
          <p:cNvPr id="10" name="step-arrow-0"/>
          <p:cNvSpPr/>
          <p:nvPr/>
        </p:nvSpPr>
        <p:spPr>
          <a:xfrm>
            <a:off x="2202637" y="2560320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11" name="step-1"/>
          <p:cNvSpPr/>
          <p:nvPr/>
        </p:nvSpPr>
        <p:spPr>
          <a:xfrm>
            <a:off x="2376373" y="2057400"/>
            <a:ext cx="1681429" cy="12801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step-1-head"/>
          <p:cNvSpPr/>
          <p:nvPr/>
        </p:nvSpPr>
        <p:spPr>
          <a:xfrm>
            <a:off x="2376373" y="2057400"/>
            <a:ext cx="1681429" cy="347472"/>
          </a:xfrm>
          <a:prstGeom prst="rect">
            <a:avLst/>
          </a:prstGeom>
          <a:solidFill>
            <a:srgbClr val="8A96A6"/>
          </a:solidFill>
          <a:ln/>
        </p:spPr>
      </p:sp>
      <p:sp>
        <p:nvSpPr>
          <p:cNvPr id="13" name="step-1-head-text"/>
          <p:cNvSpPr txBox="1"/>
          <p:nvPr/>
        </p:nvSpPr>
        <p:spPr>
          <a:xfrm>
            <a:off x="2467813" y="2057400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② セッション奪取</a:t>
            </a:r>
            <a:endParaRPr lang="en-US" sz="1200" dirty="0"/>
          </a:p>
        </p:txBody>
      </p:sp>
      <p:sp>
        <p:nvSpPr>
          <p:cNvPr id="14" name="step-body-1"/>
          <p:cNvSpPr txBox="1"/>
          <p:nvPr/>
        </p:nvSpPr>
        <p:spPr>
          <a:xfrm>
            <a:off x="2467813" y="2496312"/>
            <a:ext cx="14985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AiTM型の想定。MFA済みのセッションを盗まれる</a:t>
            </a:r>
            <a:endParaRPr lang="en-US" sz="1200" dirty="0"/>
          </a:p>
        </p:txBody>
      </p:sp>
      <p:sp>
        <p:nvSpPr>
          <p:cNvPr id="15" name="step-arrow-1"/>
          <p:cNvSpPr/>
          <p:nvPr/>
        </p:nvSpPr>
        <p:spPr>
          <a:xfrm>
            <a:off x="4121810" y="2560320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16" name="step-2"/>
          <p:cNvSpPr/>
          <p:nvPr/>
        </p:nvSpPr>
        <p:spPr>
          <a:xfrm>
            <a:off x="4295546" y="2057400"/>
            <a:ext cx="1681429" cy="12801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step-2-head"/>
          <p:cNvSpPr/>
          <p:nvPr/>
        </p:nvSpPr>
        <p:spPr>
          <a:xfrm>
            <a:off x="4295546" y="2057400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8" name="step-2-head-text"/>
          <p:cNvSpPr txBox="1"/>
          <p:nvPr/>
        </p:nvSpPr>
        <p:spPr>
          <a:xfrm>
            <a:off x="4386986" y="2057400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③ 不審なサインイン</a:t>
            </a:r>
            <a:endParaRPr lang="en-US" sz="1200" dirty="0"/>
          </a:p>
        </p:txBody>
      </p:sp>
      <p:sp>
        <p:nvSpPr>
          <p:cNvPr id="19" name="step-body-2"/>
          <p:cNvSpPr txBox="1"/>
          <p:nvPr/>
        </p:nvSpPr>
        <p:spPr>
          <a:xfrm>
            <a:off x="4386986" y="2496312"/>
            <a:ext cx="14985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深夜、普段と違う国・ASNから</a:t>
            </a:r>
            <a:endParaRPr lang="en-US" sz="1200" dirty="0"/>
          </a:p>
        </p:txBody>
      </p:sp>
      <p:sp>
        <p:nvSpPr>
          <p:cNvPr id="20" name="step-arrow-2"/>
          <p:cNvSpPr/>
          <p:nvPr/>
        </p:nvSpPr>
        <p:spPr>
          <a:xfrm>
            <a:off x="6040984" y="2560320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21" name="step-3"/>
          <p:cNvSpPr/>
          <p:nvPr/>
        </p:nvSpPr>
        <p:spPr>
          <a:xfrm>
            <a:off x="6214720" y="2057400"/>
            <a:ext cx="1681429" cy="12801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step-3-head"/>
          <p:cNvSpPr/>
          <p:nvPr/>
        </p:nvSpPr>
        <p:spPr>
          <a:xfrm>
            <a:off x="6214720" y="2057400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3" name="step-3-head-text"/>
          <p:cNvSpPr txBox="1"/>
          <p:nvPr/>
        </p:nvSpPr>
        <p:spPr>
          <a:xfrm>
            <a:off x="6306160" y="2057400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④ 外部転送ルール</a:t>
            </a:r>
            <a:endParaRPr lang="en-US" sz="1200" dirty="0"/>
          </a:p>
        </p:txBody>
      </p:sp>
      <p:sp>
        <p:nvSpPr>
          <p:cNvPr id="24" name="step-body-3"/>
          <p:cNvSpPr txBox="1"/>
          <p:nvPr/>
        </p:nvSpPr>
        <p:spPr>
          <a:xfrm>
            <a:off x="6306160" y="2496312"/>
            <a:ext cx="14985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受信トレイのルールで、外部へ転送</a:t>
            </a:r>
            <a:endParaRPr lang="en-US" sz="1200" dirty="0"/>
          </a:p>
        </p:txBody>
      </p:sp>
      <p:sp>
        <p:nvSpPr>
          <p:cNvPr id="25" name="step-arrow-3"/>
          <p:cNvSpPr/>
          <p:nvPr/>
        </p:nvSpPr>
        <p:spPr>
          <a:xfrm>
            <a:off x="7960157" y="2560320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26" name="step-4"/>
          <p:cNvSpPr/>
          <p:nvPr/>
        </p:nvSpPr>
        <p:spPr>
          <a:xfrm>
            <a:off x="8133893" y="2057400"/>
            <a:ext cx="1681429" cy="12801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7" name="step-4-head"/>
          <p:cNvSpPr/>
          <p:nvPr/>
        </p:nvSpPr>
        <p:spPr>
          <a:xfrm>
            <a:off x="8133893" y="2057400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8" name="step-4-head-text"/>
          <p:cNvSpPr txBox="1"/>
          <p:nvPr/>
        </p:nvSpPr>
        <p:spPr>
          <a:xfrm>
            <a:off x="8225333" y="2057400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⑤ 大量ダウンロード</a:t>
            </a:r>
            <a:endParaRPr lang="en-US" sz="1200" dirty="0"/>
          </a:p>
        </p:txBody>
      </p:sp>
      <p:sp>
        <p:nvSpPr>
          <p:cNvPr id="29" name="step-body-4"/>
          <p:cNvSpPr txBox="1"/>
          <p:nvPr/>
        </p:nvSpPr>
        <p:spPr>
          <a:xfrm>
            <a:off x="8225333" y="2496312"/>
            <a:ext cx="14985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SharePointから1,200件</a:t>
            </a:r>
            <a:endParaRPr lang="en-US" sz="1200" dirty="0"/>
          </a:p>
        </p:txBody>
      </p:sp>
      <p:sp>
        <p:nvSpPr>
          <p:cNvPr id="30" name="step-arrow-4"/>
          <p:cNvSpPr/>
          <p:nvPr/>
        </p:nvSpPr>
        <p:spPr>
          <a:xfrm>
            <a:off x="9879330" y="2560320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31" name="step-5"/>
          <p:cNvSpPr/>
          <p:nvPr/>
        </p:nvSpPr>
        <p:spPr>
          <a:xfrm>
            <a:off x="10053066" y="2057400"/>
            <a:ext cx="1681429" cy="12801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step-5-head"/>
          <p:cNvSpPr/>
          <p:nvPr/>
        </p:nvSpPr>
        <p:spPr>
          <a:xfrm>
            <a:off x="10053066" y="2057400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3" name="step-5-head-text"/>
          <p:cNvSpPr txBox="1"/>
          <p:nvPr/>
        </p:nvSpPr>
        <p:spPr>
          <a:xfrm>
            <a:off x="10144506" y="2057400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⑥ 社内へ拡散</a:t>
            </a:r>
            <a:endParaRPr lang="en-US" sz="1200" dirty="0"/>
          </a:p>
        </p:txBody>
      </p:sp>
      <p:sp>
        <p:nvSpPr>
          <p:cNvPr id="34" name="step-body-5"/>
          <p:cNvSpPr txBox="1"/>
          <p:nvPr/>
        </p:nvSpPr>
        <p:spPr>
          <a:xfrm>
            <a:off x="10144506" y="2496312"/>
            <a:ext cx="14985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社内380名へ、リンク付きのメール</a:t>
            </a:r>
            <a:endParaRPr lang="en-US" sz="1200" dirty="0"/>
          </a:p>
        </p:txBody>
      </p:sp>
      <p:sp>
        <p:nvSpPr>
          <p:cNvPr id="35" name="scope-out"/>
          <p:cNvSpPr/>
          <p:nvPr/>
        </p:nvSpPr>
        <p:spPr>
          <a:xfrm>
            <a:off x="457200" y="3474720"/>
            <a:ext cx="3600602" cy="4114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6" name="scope-out-text"/>
          <p:cNvSpPr txBox="1"/>
          <p:nvPr/>
        </p:nvSpPr>
        <p:spPr>
          <a:xfrm>
            <a:off x="457200" y="3474720"/>
            <a:ext cx="36006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範囲外（入口の防止はSIEM・DAPの外）</a:t>
            </a:r>
            <a:endParaRPr lang="en-US" sz="1200" dirty="0"/>
          </a:p>
        </p:txBody>
      </p:sp>
      <p:sp>
        <p:nvSpPr>
          <p:cNvPr id="37" name="scope-in"/>
          <p:cNvSpPr/>
          <p:nvPr/>
        </p:nvSpPr>
        <p:spPr>
          <a:xfrm>
            <a:off x="4295546" y="3474720"/>
            <a:ext cx="7438949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8" name="scope-in-text"/>
          <p:cNvSpPr txBox="1"/>
          <p:nvPr/>
        </p:nvSpPr>
        <p:spPr>
          <a:xfrm>
            <a:off x="4295546" y="3474720"/>
            <a:ext cx="743894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デモの範囲：速く気づき、社内で止め、範囲を確定し、記録する</a:t>
            </a:r>
            <a:endParaRPr lang="en-US" sz="1300" dirty="0"/>
          </a:p>
        </p:txBody>
      </p:sp>
      <p:sp>
        <p:nvSpPr>
          <p:cNvPr id="39" name="hypo"/>
          <p:cNvSpPr/>
          <p:nvPr/>
        </p:nvSpPr>
        <p:spPr>
          <a:xfrm>
            <a:off x="457200" y="4160520"/>
            <a:ext cx="11277295" cy="1325880"/>
          </a:xfrm>
          <a:prstGeom prst="rect">
            <a:avLst/>
          </a:prstGeom>
          <a:solidFill>
            <a:srgbClr val="FFF3E3"/>
          </a:solidFill>
          <a:ln/>
        </p:spPr>
      </p:sp>
      <p:sp>
        <p:nvSpPr>
          <p:cNvPr id="40" name="hypo-head"/>
          <p:cNvSpPr txBox="1"/>
          <p:nvPr/>
        </p:nvSpPr>
        <p:spPr>
          <a:xfrm>
            <a:off x="640080" y="42793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デモが置く仮説（確認必要）</a:t>
            </a:r>
            <a:endParaRPr lang="en-US" sz="1300" dirty="0"/>
          </a:p>
        </p:txBody>
      </p:sp>
      <p:sp>
        <p:nvSpPr>
          <p:cNvPr id="41" name="hypo-body"/>
          <p:cNvSpPr txBox="1"/>
          <p:nvPr/>
        </p:nvSpPr>
        <p:spPr>
          <a:xfrm>
            <a:off x="640080" y="46177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UEBAのノータブルは出たが、「本人の利用か」を確かめる手順と担当が社内に無く、委託先の問い合わせ待ちで一次対応が4時間止まる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誰の承認でアカウントを止めるか、テナント全体の設定を変えるかが決まっておらず、乗っ取りが続く</a:t>
            </a:r>
            <a:endParaRPr lang="en-US" sz="1300" dirty="0"/>
          </a:p>
        </p:txBody>
      </p:sp>
      <p:sp>
        <p:nvSpPr>
          <p:cNvPr id="42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件数・時刻はデモ用の架空の値です。</a:t>
            </a:r>
            <a:endParaRPr lang="en-US" sz="110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シナリオ｜構造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ツールはそろっているのに、守り切れない構造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監視を委託先に任せるほど、自社に固有の判断（その人は出張中か、誰が止めてよいか）は、社内が持っていないと回らない</a:t>
            </a:r>
            <a:endParaRPr lang="en-US" sz="1300" dirty="0"/>
          </a:p>
        </p:txBody>
      </p:sp>
      <p:graphicFrame>
        <p:nvGraphicFramePr>
          <p:cNvPr id="6" name="structur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57400"/>
          <a:ext cx="1127729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514600"/>
                <a:gridCol w="3794760"/>
                <a:gridCol w="35021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製品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製品がすること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社内が決め続けること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社内に決める人がいないと起きること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ES（SIEM）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ログの相関、ノータブル、調査画面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M365の監査ログを入れるか、閾値と例外（移行作業・出張）、誰がノータブルを見るか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ルールの変更が数週間待ち。ノータブルの後の判断が社内に残らない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UEBA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利用者・端末の行動の異常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「異常」と「本人の利用」の境目（出張・在宅・新しい端末）、本人確認の手順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異常のスコアが出ても、誰が本人に確かめるかが決まらず、放置される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SOAR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プレイブックによる自動対応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どこまで自動で動かすか、誰の承認で止めるか、例外（役員・管理者）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承認待ちでプレイブックが止まる。または止めてはいけないものを止める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tructure-note"/>
          <p:cNvSpPr txBox="1"/>
          <p:nvPr/>
        </p:nvSpPr>
        <p:spPr>
          <a:xfrm>
            <a:off x="457200" y="534924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ES・UEBA・SOARは「入れれば守れる」製品ではなく、それぞれに、社内の人が継続して決め・直し・動かす仕事が付いています。</a:t>
            </a:r>
            <a:endParaRPr lang="en-US" sz="13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シナリオ｜問い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事前に考えていただきたい5つの問い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すぐに答えにくい問いが、デモで一緒に確かめたいところ。場面の終わりごとに、この問いに沿って伺います</a:t>
            </a:r>
            <a:endParaRPr lang="en-US" sz="1300" dirty="0"/>
          </a:p>
        </p:txBody>
      </p:sp>
      <p:sp>
        <p:nvSpPr>
          <p:cNvPr id="6" name="q-num-bg-0"/>
          <p:cNvSpPr/>
          <p:nvPr/>
        </p:nvSpPr>
        <p:spPr>
          <a:xfrm>
            <a:off x="457200" y="2057400"/>
            <a:ext cx="658368" cy="6583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q-num-0"/>
          <p:cNvSpPr txBox="1"/>
          <p:nvPr/>
        </p:nvSpPr>
        <p:spPr>
          <a:xfrm>
            <a:off x="457200" y="20574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Q1</a:t>
            </a:r>
            <a:endParaRPr lang="en-US" sz="1500" dirty="0"/>
          </a:p>
        </p:txBody>
      </p:sp>
      <p:sp>
        <p:nvSpPr>
          <p:cNvPr id="8" name="q-row-0"/>
          <p:cNvSpPr/>
          <p:nvPr/>
        </p:nvSpPr>
        <p:spPr>
          <a:xfrm>
            <a:off x="1115568" y="2057400"/>
            <a:ext cx="10618927" cy="65836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q-text-0"/>
          <p:cNvSpPr txBox="1"/>
          <p:nvPr/>
        </p:nvSpPr>
        <p:spPr>
          <a:xfrm>
            <a:off x="1298448" y="205740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ノータブルやアラートの後の一次対応は、委託先のチケットを待つ形になっていますか</a:t>
            </a:r>
            <a:endParaRPr lang="en-US" sz="1400" dirty="0"/>
          </a:p>
        </p:txBody>
      </p:sp>
      <p:sp>
        <p:nvSpPr>
          <p:cNvPr id="10" name="q-num-bg-1"/>
          <p:cNvSpPr/>
          <p:nvPr/>
        </p:nvSpPr>
        <p:spPr>
          <a:xfrm>
            <a:off x="457200" y="2825496"/>
            <a:ext cx="658368" cy="6583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q-num-1"/>
          <p:cNvSpPr txBox="1"/>
          <p:nvPr/>
        </p:nvSpPr>
        <p:spPr>
          <a:xfrm>
            <a:off x="457200" y="282549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Q2</a:t>
            </a:r>
            <a:endParaRPr lang="en-US" sz="1500" dirty="0"/>
          </a:p>
        </p:txBody>
      </p:sp>
      <p:sp>
        <p:nvSpPr>
          <p:cNvPr id="12" name="q-row-1"/>
          <p:cNvSpPr/>
          <p:nvPr/>
        </p:nvSpPr>
        <p:spPr>
          <a:xfrm>
            <a:off x="1115568" y="2825496"/>
            <a:ext cx="10618927" cy="65836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3" name="q-text-1"/>
          <p:cNvSpPr txBox="1"/>
          <p:nvPr/>
        </p:nvSpPr>
        <p:spPr>
          <a:xfrm>
            <a:off x="1298448" y="2825496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M365など自社のクラウドサービスの検知ルールや閾値を変えるとき、社内で完結せず、見積もりと改修を待ちますか</a:t>
            </a:r>
            <a:endParaRPr lang="en-US" sz="1400" dirty="0"/>
          </a:p>
        </p:txBody>
      </p:sp>
      <p:sp>
        <p:nvSpPr>
          <p:cNvPr id="14" name="q-num-bg-2"/>
          <p:cNvSpPr/>
          <p:nvPr/>
        </p:nvSpPr>
        <p:spPr>
          <a:xfrm>
            <a:off x="457200" y="3593592"/>
            <a:ext cx="658368" cy="6583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5" name="q-num-2"/>
          <p:cNvSpPr txBox="1"/>
          <p:nvPr/>
        </p:nvSpPr>
        <p:spPr>
          <a:xfrm>
            <a:off x="457200" y="359359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Q3</a:t>
            </a:r>
            <a:endParaRPr lang="en-US" sz="1500" dirty="0"/>
          </a:p>
        </p:txBody>
      </p:sp>
      <p:sp>
        <p:nvSpPr>
          <p:cNvPr id="16" name="q-row-2"/>
          <p:cNvSpPr/>
          <p:nvPr/>
        </p:nvSpPr>
        <p:spPr>
          <a:xfrm>
            <a:off x="1115568" y="3593592"/>
            <a:ext cx="10618927" cy="65836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q-text-2"/>
          <p:cNvSpPr txBox="1"/>
          <p:nvPr/>
        </p:nvSpPr>
        <p:spPr>
          <a:xfrm>
            <a:off x="1298448" y="359359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SOARのプレイブックが「いつ・何を・誰の承認で」動くかを、社内の担当者が説明できますか</a:t>
            </a:r>
            <a:endParaRPr lang="en-US" sz="1400" dirty="0"/>
          </a:p>
        </p:txBody>
      </p:sp>
      <p:sp>
        <p:nvSpPr>
          <p:cNvPr id="18" name="q-num-bg-3"/>
          <p:cNvSpPr/>
          <p:nvPr/>
        </p:nvSpPr>
        <p:spPr>
          <a:xfrm>
            <a:off x="457200" y="4361688"/>
            <a:ext cx="658368" cy="6583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q-num-3"/>
          <p:cNvSpPr txBox="1"/>
          <p:nvPr/>
        </p:nvSpPr>
        <p:spPr>
          <a:xfrm>
            <a:off x="457200" y="43616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Q4</a:t>
            </a:r>
            <a:endParaRPr lang="en-US" sz="1500" dirty="0"/>
          </a:p>
        </p:txBody>
      </p:sp>
      <p:sp>
        <p:nvSpPr>
          <p:cNvPr id="20" name="q-row-3"/>
          <p:cNvSpPr/>
          <p:nvPr/>
        </p:nvSpPr>
        <p:spPr>
          <a:xfrm>
            <a:off x="1115568" y="4361688"/>
            <a:ext cx="10618927" cy="65836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1" name="q-text-3"/>
          <p:cNvSpPr txBox="1"/>
          <p:nvPr/>
        </p:nvSpPr>
        <p:spPr>
          <a:xfrm>
            <a:off x="1298448" y="4361688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過去の事案の調査記録と判断理由は、社内が読める場所にありますか。委託先のチケットにしかありませんか</a:t>
            </a:r>
            <a:endParaRPr lang="en-US" sz="1400" dirty="0"/>
          </a:p>
        </p:txBody>
      </p:sp>
      <p:sp>
        <p:nvSpPr>
          <p:cNvPr id="22" name="q-num-bg-4"/>
          <p:cNvSpPr/>
          <p:nvPr/>
        </p:nvSpPr>
        <p:spPr>
          <a:xfrm>
            <a:off x="457200" y="5129784"/>
            <a:ext cx="658368" cy="6583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q-num-4"/>
          <p:cNvSpPr txBox="1"/>
          <p:nvPr/>
        </p:nvSpPr>
        <p:spPr>
          <a:xfrm>
            <a:off x="457200" y="51297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Q5</a:t>
            </a:r>
            <a:endParaRPr lang="en-US" sz="1500" dirty="0"/>
          </a:p>
        </p:txBody>
      </p:sp>
      <p:sp>
        <p:nvSpPr>
          <p:cNvPr id="24" name="q-row-4"/>
          <p:cNvSpPr/>
          <p:nvPr/>
        </p:nvSpPr>
        <p:spPr>
          <a:xfrm>
            <a:off x="1115568" y="5129784"/>
            <a:ext cx="10618927" cy="65836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5" name="q-text-4"/>
          <p:cNvSpPr txBox="1"/>
          <p:nvPr/>
        </p:nvSpPr>
        <p:spPr>
          <a:xfrm>
            <a:off x="1298448" y="5129784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直近の事案の発見は、自社の検知でしたか。外部（クラウド事業者・委託先・通報）でしたか</a:t>
            </a:r>
            <a:endParaRPr lang="en-US" sz="1400" dirty="0"/>
          </a:p>
        </p:txBody>
      </p:sp>
      <p:sp>
        <p:nvSpPr>
          <p:cNvPr id="26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答えが委託先寄りになるほど、論点は「ツールの機能」ではなく「運用の実行力」になります。</a:t>
            </a:r>
            <a:endParaRPr lang="en-US" sz="11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シナリオ｜役割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誰が何を担うか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製品・テックタッチ・人の役割を固定してから、デモを組んでいます</a:t>
            </a:r>
            <a:endParaRPr lang="en-US" sz="1300" dirty="0"/>
          </a:p>
        </p:txBody>
      </p:sp>
      <p:sp>
        <p:nvSpPr>
          <p:cNvPr id="6" name="role-0"/>
          <p:cNvSpPr/>
          <p:nvPr/>
        </p:nvSpPr>
        <p:spPr>
          <a:xfrm>
            <a:off x="457200" y="2057400"/>
            <a:ext cx="4069080" cy="40690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role-0-head"/>
          <p:cNvSpPr/>
          <p:nvPr/>
        </p:nvSpPr>
        <p:spPr>
          <a:xfrm>
            <a:off x="457200" y="2057400"/>
            <a:ext cx="4069080" cy="347472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8" name="role-0-head-text"/>
          <p:cNvSpPr txBox="1"/>
          <p:nvPr/>
        </p:nvSpPr>
        <p:spPr>
          <a:xfrm>
            <a:off x="548640" y="205740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Splunk（入っている製品）</a:t>
            </a:r>
            <a:endParaRPr lang="en-US" sz="1200" dirty="0"/>
          </a:p>
        </p:txBody>
      </p:sp>
      <p:sp>
        <p:nvSpPr>
          <p:cNvPr id="9" name="role-name-0-0"/>
          <p:cNvSpPr txBox="1"/>
          <p:nvPr/>
        </p:nvSpPr>
        <p:spPr>
          <a:xfrm>
            <a:off x="594360" y="251460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Splunk ES</a:t>
            </a:r>
            <a:endParaRPr lang="en-US" sz="1300" dirty="0"/>
          </a:p>
        </p:txBody>
      </p:sp>
      <p:sp>
        <p:nvSpPr>
          <p:cNvPr id="10" name="role-desc-0-0"/>
          <p:cNvSpPr txBox="1"/>
          <p:nvPr/>
        </p:nvSpPr>
        <p:spPr>
          <a:xfrm>
            <a:off x="594360" y="2816352"/>
            <a:ext cx="379476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ログの相関、ノータブル、Incident Review、相関検索、リスクベースアラート</a:t>
            </a:r>
            <a:endParaRPr lang="en-US" sz="1200" dirty="0"/>
          </a:p>
        </p:txBody>
      </p:sp>
      <p:sp>
        <p:nvSpPr>
          <p:cNvPr id="11" name="role-sep-0-1"/>
          <p:cNvSpPr/>
          <p:nvPr/>
        </p:nvSpPr>
        <p:spPr>
          <a:xfrm>
            <a:off x="566928" y="3335274"/>
            <a:ext cx="3849624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2" name="role-name-0-1"/>
          <p:cNvSpPr txBox="1"/>
          <p:nvPr/>
        </p:nvSpPr>
        <p:spPr>
          <a:xfrm>
            <a:off x="594360" y="344500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UEBA（ESの機能）</a:t>
            </a:r>
            <a:endParaRPr lang="en-US" sz="1300" dirty="0"/>
          </a:p>
        </p:txBody>
      </p:sp>
      <p:sp>
        <p:nvSpPr>
          <p:cNvPr id="13" name="role-desc-0-1"/>
          <p:cNvSpPr txBox="1"/>
          <p:nvPr/>
        </p:nvSpPr>
        <p:spPr>
          <a:xfrm>
            <a:off x="594360" y="3746754"/>
            <a:ext cx="379476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行動の異常（普段と違う場所・時間・量、初めての操作）</a:t>
            </a:r>
            <a:endParaRPr lang="en-US" sz="1200" dirty="0"/>
          </a:p>
        </p:txBody>
      </p:sp>
      <p:sp>
        <p:nvSpPr>
          <p:cNvPr id="14" name="role-sep-0-2"/>
          <p:cNvSpPr/>
          <p:nvPr/>
        </p:nvSpPr>
        <p:spPr>
          <a:xfrm>
            <a:off x="566928" y="4265676"/>
            <a:ext cx="3849624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5" name="role-name-0-2"/>
          <p:cNvSpPr txBox="1"/>
          <p:nvPr/>
        </p:nvSpPr>
        <p:spPr>
          <a:xfrm>
            <a:off x="594360" y="4375404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Splunk SOAR</a:t>
            </a:r>
            <a:endParaRPr lang="en-US" sz="1300" dirty="0"/>
          </a:p>
        </p:txBody>
      </p:sp>
      <p:sp>
        <p:nvSpPr>
          <p:cNvPr id="16" name="role-desc-0-2"/>
          <p:cNvSpPr txBox="1"/>
          <p:nvPr/>
        </p:nvSpPr>
        <p:spPr>
          <a:xfrm>
            <a:off x="594360" y="4677156"/>
            <a:ext cx="379476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プレイブックによる自動対応（セッション失効、ルール無効化、アカウント停止）</a:t>
            </a:r>
            <a:endParaRPr lang="en-US" sz="1200" dirty="0"/>
          </a:p>
        </p:txBody>
      </p:sp>
      <p:sp>
        <p:nvSpPr>
          <p:cNvPr id="17" name="role-sep-0-3"/>
          <p:cNvSpPr/>
          <p:nvPr/>
        </p:nvSpPr>
        <p:spPr>
          <a:xfrm>
            <a:off x="566928" y="5196078"/>
            <a:ext cx="3849624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8" name="role-name-0-3"/>
          <p:cNvSpPr txBox="1"/>
          <p:nvPr/>
        </p:nvSpPr>
        <p:spPr>
          <a:xfrm>
            <a:off x="594360" y="5305806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Splunk AI Assistant</a:t>
            </a:r>
            <a:endParaRPr lang="en-US" sz="1300" dirty="0"/>
          </a:p>
        </p:txBody>
      </p:sp>
      <p:sp>
        <p:nvSpPr>
          <p:cNvPr id="19" name="role-desc-0-3"/>
          <p:cNvSpPr txBox="1"/>
          <p:nvPr/>
        </p:nvSpPr>
        <p:spPr>
          <a:xfrm>
            <a:off x="594360" y="5607558"/>
            <a:ext cx="379476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自然言語からSPL案を作り、既存のSPLを説明・修正する</a:t>
            </a:r>
            <a:endParaRPr lang="en-US" sz="1200" dirty="0"/>
          </a:p>
        </p:txBody>
      </p:sp>
      <p:sp>
        <p:nvSpPr>
          <p:cNvPr id="20" name="role-1"/>
          <p:cNvSpPr/>
          <p:nvPr/>
        </p:nvSpPr>
        <p:spPr>
          <a:xfrm>
            <a:off x="4709160" y="2057400"/>
            <a:ext cx="3566160" cy="40690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1" name="role-1-head"/>
          <p:cNvSpPr/>
          <p:nvPr/>
        </p:nvSpPr>
        <p:spPr>
          <a:xfrm>
            <a:off x="4709160" y="2057400"/>
            <a:ext cx="356616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2" name="role-1-head-text"/>
          <p:cNvSpPr txBox="1"/>
          <p:nvPr/>
        </p:nvSpPr>
        <p:spPr>
          <a:xfrm>
            <a:off x="4800600" y="20574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テックタッチ</a:t>
            </a:r>
            <a:endParaRPr lang="en-US" sz="1200" dirty="0"/>
          </a:p>
        </p:txBody>
      </p:sp>
      <p:sp>
        <p:nvSpPr>
          <p:cNvPr id="23" name="role-name-1-0"/>
          <p:cNvSpPr txBox="1"/>
          <p:nvPr/>
        </p:nvSpPr>
        <p:spPr>
          <a:xfrm>
            <a:off x="4846320" y="2514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AI Hub（構想）</a:t>
            </a:r>
            <a:endParaRPr lang="en-US" sz="1300" dirty="0"/>
          </a:p>
        </p:txBody>
      </p:sp>
      <p:sp>
        <p:nvSpPr>
          <p:cNvPr id="24" name="role-desc-1-0"/>
          <p:cNvSpPr txBox="1"/>
          <p:nvPr/>
        </p:nvSpPr>
        <p:spPr>
          <a:xfrm>
            <a:off x="4846320" y="2816352"/>
            <a:ext cx="3291840" cy="1357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社内の基準・手順・権限と照合し、確認事項・確認文・記録の形・次の行動を整理する</a:t>
            </a:r>
            <a:endParaRPr lang="en-US" sz="1200" dirty="0"/>
          </a:p>
        </p:txBody>
      </p:sp>
      <p:sp>
        <p:nvSpPr>
          <p:cNvPr id="25" name="role-sep-1-1"/>
          <p:cNvSpPr/>
          <p:nvPr/>
        </p:nvSpPr>
        <p:spPr>
          <a:xfrm>
            <a:off x="4818888" y="4265676"/>
            <a:ext cx="3346704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6" name="role-name-1-1"/>
          <p:cNvSpPr txBox="1"/>
          <p:nvPr/>
        </p:nvSpPr>
        <p:spPr>
          <a:xfrm>
            <a:off x="4846320" y="43754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DAP（ガイド・入力チェック）</a:t>
            </a:r>
            <a:endParaRPr lang="en-US" sz="1300" dirty="0"/>
          </a:p>
        </p:txBody>
      </p:sp>
      <p:sp>
        <p:nvSpPr>
          <p:cNvPr id="27" name="role-desc-1-1"/>
          <p:cNvSpPr txBox="1"/>
          <p:nvPr/>
        </p:nvSpPr>
        <p:spPr>
          <a:xfrm>
            <a:off x="4846320" y="4677156"/>
            <a:ext cx="3291840" cy="1357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ES・SOARの画面の上で、操作の順番・必須の確認・入力のルール・承認段階を示す</a:t>
            </a:r>
            <a:endParaRPr lang="en-US" sz="1200" dirty="0"/>
          </a:p>
        </p:txBody>
      </p:sp>
      <p:sp>
        <p:nvSpPr>
          <p:cNvPr id="28" name="role-2"/>
          <p:cNvSpPr/>
          <p:nvPr/>
        </p:nvSpPr>
        <p:spPr>
          <a:xfrm>
            <a:off x="8458200" y="2057400"/>
            <a:ext cx="3273552" cy="40690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9" name="role-2-head"/>
          <p:cNvSpPr/>
          <p:nvPr/>
        </p:nvSpPr>
        <p:spPr>
          <a:xfrm>
            <a:off x="8458200" y="2057400"/>
            <a:ext cx="327355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0" name="role-2-head-text"/>
          <p:cNvSpPr txBox="1"/>
          <p:nvPr/>
        </p:nvSpPr>
        <p:spPr>
          <a:xfrm>
            <a:off x="8549640" y="2057400"/>
            <a:ext cx="3090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人</a:t>
            </a:r>
            <a:endParaRPr lang="en-US" sz="1200" dirty="0"/>
          </a:p>
        </p:txBody>
      </p:sp>
      <p:sp>
        <p:nvSpPr>
          <p:cNvPr id="31" name="role-name-2-0"/>
          <p:cNvSpPr txBox="1"/>
          <p:nvPr/>
        </p:nvSpPr>
        <p:spPr>
          <a:xfrm>
            <a:off x="8595360" y="251460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委託先（MSSP）</a:t>
            </a:r>
            <a:endParaRPr lang="en-US" sz="1300" dirty="0"/>
          </a:p>
        </p:txBody>
      </p:sp>
      <p:sp>
        <p:nvSpPr>
          <p:cNvPr id="32" name="role-desc-2-0"/>
          <p:cNvSpPr txBox="1"/>
          <p:nvPr/>
        </p:nvSpPr>
        <p:spPr>
          <a:xfrm>
            <a:off x="8595360" y="2816352"/>
            <a:ext cx="2999232" cy="1357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夜間監視・高度な分析・フォレンジック（これまでどおり）</a:t>
            </a:r>
            <a:endParaRPr lang="en-US" sz="1200" dirty="0"/>
          </a:p>
        </p:txBody>
      </p:sp>
      <p:sp>
        <p:nvSpPr>
          <p:cNvPr id="33" name="role-sep-2-1"/>
          <p:cNvSpPr/>
          <p:nvPr/>
        </p:nvSpPr>
        <p:spPr>
          <a:xfrm>
            <a:off x="8567928" y="4265676"/>
            <a:ext cx="3054096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4" name="role-name-2-1"/>
          <p:cNvSpPr txBox="1"/>
          <p:nvPr/>
        </p:nvSpPr>
        <p:spPr>
          <a:xfrm>
            <a:off x="8595360" y="4375404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社内（SOC・CSIRT）</a:t>
            </a:r>
            <a:endParaRPr lang="en-US" sz="1300" dirty="0"/>
          </a:p>
        </p:txBody>
      </p:sp>
      <p:sp>
        <p:nvSpPr>
          <p:cNvPr id="35" name="role-desc-2-1"/>
          <p:cNvSpPr txBox="1"/>
          <p:nvPr/>
        </p:nvSpPr>
        <p:spPr>
          <a:xfrm>
            <a:off x="8595360" y="4677156"/>
            <a:ext cx="2999232" cy="1357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判断・承認・記録・ルール変更を持つ</a:t>
            </a:r>
            <a:endParaRPr lang="en-US" sz="12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シナリオ｜Before → After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工程ごとの Before → After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委託先任せで止まっていたところを、社内の基準と承認で進める</a:t>
            </a:r>
            <a:endParaRPr lang="en-US" sz="1300" dirty="0"/>
          </a:p>
        </p:txBody>
      </p:sp>
      <p:graphicFrame>
        <p:nvGraphicFramePr>
          <p:cNvPr id="6" name="b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57400"/>
          <a:ext cx="1127729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840480"/>
                <a:gridCol w="560527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工程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Before（委託先任せ）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After（社内が回す）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検知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閾値が業務に合わず、ルールの変更は委託先の改修待ち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社内基準D-02（普段と違う接続元の後の、外部転送ルールと大量ダウンロード）で、相関検索を社内で作る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一次対応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委託先に連絡し、回答を待つ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チェックリストを埋めてから封じ込めへ。本人と上長に確かめる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封じ込め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停止の承認が取れず、乗っ取りが続く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①②は担当者が即時、③はSOC責任者、④はCSIRT責任者の判断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範囲の確定・記録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「いつ・何が・どこまで」が委託先の分析待ち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操作を種類別に確定し、他アカウントも確かめて、4項目で記録する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改善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一件ごとに終わり、次も同じ時間がかかる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検知条件・承認段階・記録をナレッジにし、委託先との役割分担を書き換える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D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①〜④の承認段階は、デモ用の架空の例です。実際の承認者は、御社の対応権限表に合わせます。</a:t>
            </a:r>
            <a:endParaRPr lang="en-US" sz="11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デモ｜流れ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デモの流れ：9場面（36分）＋振り返り（1分）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SOC担当者の山田さん（架空）が、検知の社内化から記録・改善までを一人で進める。各場面の終わりに「伺いたいこと」を出します</a:t>
            </a:r>
            <a:endParaRPr lang="en-US" sz="1300" dirty="0"/>
          </a:p>
        </p:txBody>
      </p:sp>
      <p:sp>
        <p:nvSpPr>
          <p:cNvPr id="6" name="scene-0"/>
          <p:cNvSpPr/>
          <p:nvPr/>
        </p:nvSpPr>
        <p:spPr>
          <a:xfrm>
            <a:off x="457200" y="2057400"/>
            <a:ext cx="3637178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scene-0-head"/>
          <p:cNvSpPr/>
          <p:nvPr/>
        </p:nvSpPr>
        <p:spPr>
          <a:xfrm>
            <a:off x="457200" y="2057400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scene-0-head-text"/>
          <p:cNvSpPr txBox="1"/>
          <p:nvPr/>
        </p:nvSpPr>
        <p:spPr>
          <a:xfrm>
            <a:off x="548640" y="2057400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S0　現場の問題</a:t>
            </a:r>
            <a:endParaRPr lang="en-US" sz="1200" dirty="0"/>
          </a:p>
        </p:txBody>
      </p:sp>
      <p:sp>
        <p:nvSpPr>
          <p:cNvPr id="9" name="scene-time-0"/>
          <p:cNvSpPr txBox="1"/>
          <p:nvPr/>
        </p:nvSpPr>
        <p:spPr>
          <a:xfrm>
            <a:off x="3271418" y="205740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2分</a:t>
            </a:r>
            <a:endParaRPr lang="en-US" sz="1200" dirty="0"/>
          </a:p>
        </p:txBody>
      </p:sp>
      <p:sp>
        <p:nvSpPr>
          <p:cNvPr id="10" name="scene-desc-0"/>
          <p:cNvSpPr txBox="1"/>
          <p:nvPr/>
        </p:nvSpPr>
        <p:spPr>
          <a:xfrm>
            <a:off x="566928" y="2514600"/>
            <a:ext cx="341772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依頼カードと、画面に残す5つの成果物</a:t>
            </a:r>
            <a:endParaRPr lang="en-US" sz="1300" dirty="0"/>
          </a:p>
        </p:txBody>
      </p:sp>
      <p:sp>
        <p:nvSpPr>
          <p:cNvPr id="11" name="scene-1"/>
          <p:cNvSpPr/>
          <p:nvPr/>
        </p:nvSpPr>
        <p:spPr>
          <a:xfrm>
            <a:off x="4277258" y="2057400"/>
            <a:ext cx="3637178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scene-1-head"/>
          <p:cNvSpPr/>
          <p:nvPr/>
        </p:nvSpPr>
        <p:spPr>
          <a:xfrm>
            <a:off x="4277258" y="2057400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3" name="scene-1-head-text"/>
          <p:cNvSpPr txBox="1"/>
          <p:nvPr/>
        </p:nvSpPr>
        <p:spPr>
          <a:xfrm>
            <a:off x="4368698" y="2057400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S1　Before</a:t>
            </a:r>
            <a:endParaRPr lang="en-US" sz="1200" dirty="0"/>
          </a:p>
        </p:txBody>
      </p:sp>
      <p:sp>
        <p:nvSpPr>
          <p:cNvPr id="14" name="scene-time-1"/>
          <p:cNvSpPr txBox="1"/>
          <p:nvPr/>
        </p:nvSpPr>
        <p:spPr>
          <a:xfrm>
            <a:off x="7091477" y="205740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3分</a:t>
            </a:r>
            <a:endParaRPr lang="en-US" sz="1200" dirty="0"/>
          </a:p>
        </p:txBody>
      </p:sp>
      <p:sp>
        <p:nvSpPr>
          <p:cNvPr id="15" name="scene-desc-1"/>
          <p:cNvSpPr txBox="1"/>
          <p:nvPr/>
        </p:nvSpPr>
        <p:spPr>
          <a:xfrm>
            <a:off x="4386986" y="2514600"/>
            <a:ext cx="341772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ノータブルが4時間未割当。件数だけの検索では区別できない</a:t>
            </a:r>
            <a:endParaRPr lang="en-US" sz="1300" dirty="0"/>
          </a:p>
        </p:txBody>
      </p:sp>
      <p:sp>
        <p:nvSpPr>
          <p:cNvPr id="16" name="scene-2"/>
          <p:cNvSpPr/>
          <p:nvPr/>
        </p:nvSpPr>
        <p:spPr>
          <a:xfrm>
            <a:off x="8097317" y="2057400"/>
            <a:ext cx="3637178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scene-2-head"/>
          <p:cNvSpPr/>
          <p:nvPr/>
        </p:nvSpPr>
        <p:spPr>
          <a:xfrm>
            <a:off x="8097317" y="2057400"/>
            <a:ext cx="3637178" cy="347472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18" name="scene-2-head-text"/>
          <p:cNvSpPr txBox="1"/>
          <p:nvPr/>
        </p:nvSpPr>
        <p:spPr>
          <a:xfrm>
            <a:off x="8188757" y="2057400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S2　要件整理</a:t>
            </a:r>
            <a:endParaRPr lang="en-US" sz="1200" dirty="0"/>
          </a:p>
        </p:txBody>
      </p:sp>
      <p:sp>
        <p:nvSpPr>
          <p:cNvPr id="19" name="scene-time-2"/>
          <p:cNvSpPr txBox="1"/>
          <p:nvPr/>
        </p:nvSpPr>
        <p:spPr>
          <a:xfrm>
            <a:off x="10911535" y="205740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4分</a:t>
            </a:r>
            <a:endParaRPr lang="en-US" sz="1200" dirty="0"/>
          </a:p>
        </p:txBody>
      </p:sp>
      <p:sp>
        <p:nvSpPr>
          <p:cNvPr id="20" name="scene-desc-2"/>
          <p:cNvSpPr txBox="1"/>
          <p:nvPr/>
        </p:nvSpPr>
        <p:spPr>
          <a:xfrm>
            <a:off x="8207045" y="2514600"/>
            <a:ext cx="341772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日本語の依頼を、AI Hubが社内基準で依頼文にする</a:t>
            </a:r>
            <a:endParaRPr lang="en-US" sz="1300" dirty="0"/>
          </a:p>
        </p:txBody>
      </p:sp>
      <p:sp>
        <p:nvSpPr>
          <p:cNvPr id="21" name="scene-3"/>
          <p:cNvSpPr/>
          <p:nvPr/>
        </p:nvSpPr>
        <p:spPr>
          <a:xfrm>
            <a:off x="457200" y="3447288"/>
            <a:ext cx="3637178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scene-3-head"/>
          <p:cNvSpPr/>
          <p:nvPr/>
        </p:nvSpPr>
        <p:spPr>
          <a:xfrm>
            <a:off x="457200" y="3447288"/>
            <a:ext cx="3637178" cy="347472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23" name="scene-3-head-text"/>
          <p:cNvSpPr txBox="1"/>
          <p:nvPr/>
        </p:nvSpPr>
        <p:spPr>
          <a:xfrm>
            <a:off x="548640" y="3447288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S3　相関検索案・照合</a:t>
            </a:r>
            <a:endParaRPr lang="en-US" sz="1200" dirty="0"/>
          </a:p>
        </p:txBody>
      </p:sp>
      <p:sp>
        <p:nvSpPr>
          <p:cNvPr id="24" name="scene-time-3"/>
          <p:cNvSpPr txBox="1"/>
          <p:nvPr/>
        </p:nvSpPr>
        <p:spPr>
          <a:xfrm>
            <a:off x="3271418" y="344728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5分</a:t>
            </a:r>
            <a:endParaRPr lang="en-US" sz="1200" dirty="0"/>
          </a:p>
        </p:txBody>
      </p:sp>
      <p:sp>
        <p:nvSpPr>
          <p:cNvPr id="25" name="scene-desc-3"/>
          <p:cNvSpPr txBox="1"/>
          <p:nvPr/>
        </p:nvSpPr>
        <p:spPr>
          <a:xfrm>
            <a:off x="566928" y="3904488"/>
            <a:ext cx="341772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Assistantの案を、AI Hubが検知基準D-02と照合する</a:t>
            </a:r>
            <a:endParaRPr lang="en-US" sz="1300" dirty="0"/>
          </a:p>
        </p:txBody>
      </p:sp>
      <p:sp>
        <p:nvSpPr>
          <p:cNvPr id="26" name="scene-4"/>
          <p:cNvSpPr/>
          <p:nvPr/>
        </p:nvSpPr>
        <p:spPr>
          <a:xfrm>
            <a:off x="4277258" y="3447288"/>
            <a:ext cx="3637178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7" name="scene-4-head"/>
          <p:cNvSpPr/>
          <p:nvPr/>
        </p:nvSpPr>
        <p:spPr>
          <a:xfrm>
            <a:off x="4277258" y="3447288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8" name="scene-4-head-text"/>
          <p:cNvSpPr txBox="1"/>
          <p:nvPr/>
        </p:nvSpPr>
        <p:spPr>
          <a:xfrm>
            <a:off x="4368698" y="3447288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S4　検証・保存</a:t>
            </a:r>
            <a:endParaRPr lang="en-US" sz="1200" dirty="0"/>
          </a:p>
        </p:txBody>
      </p:sp>
      <p:sp>
        <p:nvSpPr>
          <p:cNvPr id="29" name="scene-time-4"/>
          <p:cNvSpPr txBox="1"/>
          <p:nvPr/>
        </p:nvSpPr>
        <p:spPr>
          <a:xfrm>
            <a:off x="7091477" y="344728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5分</a:t>
            </a:r>
            <a:endParaRPr lang="en-US" sz="1200" dirty="0"/>
          </a:p>
        </p:txBody>
      </p:sp>
      <p:sp>
        <p:nvSpPr>
          <p:cNvPr id="30" name="scene-desc-4"/>
          <p:cNvSpPr txBox="1"/>
          <p:nvPr/>
        </p:nvSpPr>
        <p:spPr>
          <a:xfrm>
            <a:off x="4386986" y="3904488"/>
            <a:ext cx="341772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テストログで検証し、相関検索として保存する</a:t>
            </a:r>
            <a:endParaRPr lang="en-US" sz="1300" dirty="0"/>
          </a:p>
        </p:txBody>
      </p:sp>
      <p:sp>
        <p:nvSpPr>
          <p:cNvPr id="31" name="scene-5"/>
          <p:cNvSpPr/>
          <p:nvPr/>
        </p:nvSpPr>
        <p:spPr>
          <a:xfrm>
            <a:off x="8097317" y="3447288"/>
            <a:ext cx="3637178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scene-5-head"/>
          <p:cNvSpPr/>
          <p:nvPr/>
        </p:nvSpPr>
        <p:spPr>
          <a:xfrm>
            <a:off x="8097317" y="3447288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3" name="scene-5-head-text"/>
          <p:cNvSpPr txBox="1"/>
          <p:nvPr/>
        </p:nvSpPr>
        <p:spPr>
          <a:xfrm>
            <a:off x="8188757" y="3447288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S5　一次対応</a:t>
            </a:r>
            <a:endParaRPr lang="en-US" sz="1200" dirty="0"/>
          </a:p>
        </p:txBody>
      </p:sp>
      <p:sp>
        <p:nvSpPr>
          <p:cNvPr id="34" name="scene-time-5"/>
          <p:cNvSpPr txBox="1"/>
          <p:nvPr/>
        </p:nvSpPr>
        <p:spPr>
          <a:xfrm>
            <a:off x="10911535" y="344728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5分</a:t>
            </a:r>
            <a:endParaRPr lang="en-US" sz="1200" dirty="0"/>
          </a:p>
        </p:txBody>
      </p:sp>
      <p:sp>
        <p:nvSpPr>
          <p:cNvPr id="35" name="scene-desc-5"/>
          <p:cNvSpPr txBox="1"/>
          <p:nvPr/>
        </p:nvSpPr>
        <p:spPr>
          <a:xfrm>
            <a:off x="8207045" y="3904488"/>
            <a:ext cx="341772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担当者を自分に。本人と上長に確かめ、チェックリストを埋める</a:t>
            </a:r>
            <a:endParaRPr lang="en-US" sz="1300" dirty="0"/>
          </a:p>
        </p:txBody>
      </p:sp>
      <p:sp>
        <p:nvSpPr>
          <p:cNvPr id="36" name="scene-6"/>
          <p:cNvSpPr/>
          <p:nvPr/>
        </p:nvSpPr>
        <p:spPr>
          <a:xfrm>
            <a:off x="457200" y="4837176"/>
            <a:ext cx="3637178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7" name="scene-6-head"/>
          <p:cNvSpPr/>
          <p:nvPr/>
        </p:nvSpPr>
        <p:spPr>
          <a:xfrm>
            <a:off x="457200" y="4837176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8" name="scene-6-head-text"/>
          <p:cNvSpPr txBox="1"/>
          <p:nvPr/>
        </p:nvSpPr>
        <p:spPr>
          <a:xfrm>
            <a:off x="548640" y="4837176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S6　封じ込め</a:t>
            </a:r>
            <a:endParaRPr lang="en-US" sz="1200" dirty="0"/>
          </a:p>
        </p:txBody>
      </p:sp>
      <p:sp>
        <p:nvSpPr>
          <p:cNvPr id="39" name="scene-time-6"/>
          <p:cNvSpPr txBox="1"/>
          <p:nvPr/>
        </p:nvSpPr>
        <p:spPr>
          <a:xfrm>
            <a:off x="3271418" y="483717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4分</a:t>
            </a:r>
            <a:endParaRPr lang="en-US" sz="1200" dirty="0"/>
          </a:p>
        </p:txBody>
      </p:sp>
      <p:sp>
        <p:nvSpPr>
          <p:cNvPr id="40" name="scene-desc-6"/>
          <p:cNvSpPr txBox="1"/>
          <p:nvPr/>
        </p:nvSpPr>
        <p:spPr>
          <a:xfrm>
            <a:off x="566928" y="5294376"/>
            <a:ext cx="341772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SOARのプレイブックを、承認段階どおりに実行する</a:t>
            </a:r>
            <a:endParaRPr lang="en-US" sz="1300" dirty="0"/>
          </a:p>
        </p:txBody>
      </p:sp>
      <p:sp>
        <p:nvSpPr>
          <p:cNvPr id="41" name="scene-7"/>
          <p:cNvSpPr/>
          <p:nvPr/>
        </p:nvSpPr>
        <p:spPr>
          <a:xfrm>
            <a:off x="4277258" y="4837176"/>
            <a:ext cx="3637178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2" name="scene-7-head"/>
          <p:cNvSpPr/>
          <p:nvPr/>
        </p:nvSpPr>
        <p:spPr>
          <a:xfrm>
            <a:off x="4277258" y="4837176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3" name="scene-7-head-text"/>
          <p:cNvSpPr txBox="1"/>
          <p:nvPr/>
        </p:nvSpPr>
        <p:spPr>
          <a:xfrm>
            <a:off x="4368698" y="4837176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S7　範囲の確定・記録</a:t>
            </a:r>
            <a:endParaRPr lang="en-US" sz="1200" dirty="0"/>
          </a:p>
        </p:txBody>
      </p:sp>
      <p:sp>
        <p:nvSpPr>
          <p:cNvPr id="44" name="scene-time-7"/>
          <p:cNvSpPr txBox="1"/>
          <p:nvPr/>
        </p:nvSpPr>
        <p:spPr>
          <a:xfrm>
            <a:off x="7091477" y="483717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5分</a:t>
            </a:r>
            <a:endParaRPr lang="en-US" sz="1200" dirty="0"/>
          </a:p>
        </p:txBody>
      </p:sp>
      <p:sp>
        <p:nvSpPr>
          <p:cNvPr id="45" name="scene-desc-7"/>
          <p:cNvSpPr txBox="1"/>
          <p:nvPr/>
        </p:nvSpPr>
        <p:spPr>
          <a:xfrm>
            <a:off x="4386986" y="5294376"/>
            <a:ext cx="341772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操作と他アカウントを確定し、4項目で記録する</a:t>
            </a:r>
            <a:endParaRPr lang="en-US" sz="1300" dirty="0"/>
          </a:p>
        </p:txBody>
      </p:sp>
      <p:sp>
        <p:nvSpPr>
          <p:cNvPr id="46" name="scene-8"/>
          <p:cNvSpPr/>
          <p:nvPr/>
        </p:nvSpPr>
        <p:spPr>
          <a:xfrm>
            <a:off x="8097317" y="4837176"/>
            <a:ext cx="3637178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7" name="scene-8-head"/>
          <p:cNvSpPr/>
          <p:nvPr/>
        </p:nvSpPr>
        <p:spPr>
          <a:xfrm>
            <a:off x="8097317" y="4837176"/>
            <a:ext cx="3637178" cy="347472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48" name="scene-8-head-text"/>
          <p:cNvSpPr txBox="1"/>
          <p:nvPr/>
        </p:nvSpPr>
        <p:spPr>
          <a:xfrm>
            <a:off x="8188757" y="4837176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S8　改善</a:t>
            </a:r>
            <a:endParaRPr lang="en-US" sz="1200" dirty="0"/>
          </a:p>
        </p:txBody>
      </p:sp>
      <p:sp>
        <p:nvSpPr>
          <p:cNvPr id="49" name="scene-time-8"/>
          <p:cNvSpPr txBox="1"/>
          <p:nvPr/>
        </p:nvSpPr>
        <p:spPr>
          <a:xfrm>
            <a:off x="10911535" y="483717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3分</a:t>
            </a:r>
            <a:endParaRPr lang="en-US" sz="1200" dirty="0"/>
          </a:p>
        </p:txBody>
      </p:sp>
      <p:sp>
        <p:nvSpPr>
          <p:cNvPr id="50" name="scene-desc-8"/>
          <p:cNvSpPr txBox="1"/>
          <p:nvPr/>
        </p:nvSpPr>
        <p:spPr>
          <a:xfrm>
            <a:off x="8207045" y="5294376"/>
            <a:ext cx="341772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ナレッジへの反映と、委託先との役割分担の書き換え</a:t>
            </a:r>
            <a:endParaRPr lang="en-US" sz="1300" dirty="0"/>
          </a:p>
        </p:txBody>
      </p:sp>
      <p:sp>
        <p:nvSpPr>
          <p:cNvPr id="51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見出しが淡い青の場面（S2・S3・S8）は、AI Hubが中心の場面です。</a:t>
            </a:r>
            <a:endParaRPr lang="en-US" sz="1100" dirty="0"/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デモ｜画面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デモの画面（イメージ）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Splunk公式のUI部品で組んだ画面イメージです。ES・SOARの実画面ではありません。画面名や項目名はESの版で異なる場合があります</a:t>
            </a:r>
            <a:endParaRPr lang="en-US" sz="1300" dirty="0"/>
          </a:p>
        </p:txBody>
      </p:sp>
      <p:pic>
        <p:nvPicPr>
          <p:cNvPr id="6" name="shot-0" descr="/home/user/000/splunk-es-soar-techtouch-demo/slides/img/screen_i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2057400"/>
            <a:ext cx="3637178" cy="2045913"/>
          </a:xfrm>
          <a:prstGeom prst="rect">
            <a:avLst/>
          </a:prstGeom>
        </p:spPr>
      </p:pic>
      <p:sp>
        <p:nvSpPr>
          <p:cNvPr id="7" name="shot-frame-0"/>
          <p:cNvSpPr/>
          <p:nvPr/>
        </p:nvSpPr>
        <p:spPr>
          <a:xfrm>
            <a:off x="457200" y="2057400"/>
            <a:ext cx="3637178" cy="2045913"/>
          </a:xfrm>
          <a:prstGeom prst="rect">
            <a:avLst/>
          </a:prstGeom>
          <a:ln w="9525">
            <a:solidFill>
              <a:schemeClr val="accent6"/>
            </a:solidFill>
            <a:prstDash val="solid"/>
          </a:ln>
        </p:spPr>
      </p:sp>
      <p:sp>
        <p:nvSpPr>
          <p:cNvPr id="8" name="shot-title-0"/>
          <p:cNvSpPr txBox="1"/>
          <p:nvPr/>
        </p:nvSpPr>
        <p:spPr>
          <a:xfrm>
            <a:off x="457200" y="4213041"/>
            <a:ext cx="3637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S1　Incident Review</a:t>
            </a:r>
            <a:endParaRPr lang="en-US" sz="1300" dirty="0"/>
          </a:p>
        </p:txBody>
      </p:sp>
      <p:sp>
        <p:nvSpPr>
          <p:cNvPr id="9" name="shot-desc-0"/>
          <p:cNvSpPr txBox="1"/>
          <p:nvPr/>
        </p:nvSpPr>
        <p:spPr>
          <a:xfrm>
            <a:off x="457200" y="4523937"/>
            <a:ext cx="3637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UEBAのノータブルが、担当者未割当のまま</a:t>
            </a:r>
            <a:endParaRPr lang="en-US" sz="1200" dirty="0"/>
          </a:p>
        </p:txBody>
      </p:sp>
      <p:pic>
        <p:nvPicPr>
          <p:cNvPr id="10" name="shot-1" descr="/home/user/000/splunk-es-soar-techtouch-demo/slides/img/screen_c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77258" y="2057400"/>
            <a:ext cx="3637178" cy="2045913"/>
          </a:xfrm>
          <a:prstGeom prst="rect">
            <a:avLst/>
          </a:prstGeom>
        </p:spPr>
      </p:pic>
      <p:sp>
        <p:nvSpPr>
          <p:cNvPr id="11" name="shot-frame-1"/>
          <p:cNvSpPr/>
          <p:nvPr/>
        </p:nvSpPr>
        <p:spPr>
          <a:xfrm>
            <a:off x="4277258" y="2057400"/>
            <a:ext cx="3637178" cy="2045913"/>
          </a:xfrm>
          <a:prstGeom prst="rect">
            <a:avLst/>
          </a:prstGeom>
          <a:ln w="9525">
            <a:solidFill>
              <a:schemeClr val="accent6"/>
            </a:solidFill>
            <a:prstDash val="solid"/>
          </a:ln>
        </p:spPr>
      </p:sp>
      <p:sp>
        <p:nvSpPr>
          <p:cNvPr id="12" name="shot-title-1"/>
          <p:cNvSpPr txBox="1"/>
          <p:nvPr/>
        </p:nvSpPr>
        <p:spPr>
          <a:xfrm>
            <a:off x="4277258" y="4213041"/>
            <a:ext cx="3637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S4　相関検索の作成</a:t>
            </a:r>
            <a:endParaRPr lang="en-US" sz="1300" dirty="0"/>
          </a:p>
        </p:txBody>
      </p:sp>
      <p:sp>
        <p:nvSpPr>
          <p:cNvPr id="13" name="shot-desc-1"/>
          <p:cNvSpPr txBox="1"/>
          <p:nvPr/>
        </p:nvSpPr>
        <p:spPr>
          <a:xfrm>
            <a:off x="4277258" y="4523937"/>
            <a:ext cx="3637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命名規則・実行間隔・リスク・緊急度・抑制を入力チェック（案）</a:t>
            </a:r>
            <a:endParaRPr lang="en-US" sz="1200" dirty="0"/>
          </a:p>
        </p:txBody>
      </p:sp>
      <p:pic>
        <p:nvPicPr>
          <p:cNvPr id="14" name="shot-2" descr="/home/user/000/splunk-es-soar-techtouch-demo/slides/img/screen_soar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97317" y="2057400"/>
            <a:ext cx="3637178" cy="2045913"/>
          </a:xfrm>
          <a:prstGeom prst="rect">
            <a:avLst/>
          </a:prstGeom>
        </p:spPr>
      </p:pic>
      <p:sp>
        <p:nvSpPr>
          <p:cNvPr id="15" name="shot-frame-2"/>
          <p:cNvSpPr/>
          <p:nvPr/>
        </p:nvSpPr>
        <p:spPr>
          <a:xfrm>
            <a:off x="8097317" y="2057400"/>
            <a:ext cx="3637178" cy="2045913"/>
          </a:xfrm>
          <a:prstGeom prst="rect">
            <a:avLst/>
          </a:prstGeom>
          <a:ln w="9525">
            <a:solidFill>
              <a:schemeClr val="accent6"/>
            </a:solidFill>
            <a:prstDash val="solid"/>
          </a:ln>
        </p:spPr>
      </p:sp>
      <p:sp>
        <p:nvSpPr>
          <p:cNvPr id="16" name="shot-title-2"/>
          <p:cNvSpPr txBox="1"/>
          <p:nvPr/>
        </p:nvSpPr>
        <p:spPr>
          <a:xfrm>
            <a:off x="8097317" y="4213041"/>
            <a:ext cx="3637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S6　SOARのプレイブック</a:t>
            </a:r>
            <a:endParaRPr lang="en-US" sz="1300" dirty="0"/>
          </a:p>
        </p:txBody>
      </p:sp>
      <p:sp>
        <p:nvSpPr>
          <p:cNvPr id="17" name="shot-desc-2"/>
          <p:cNvSpPr txBox="1"/>
          <p:nvPr/>
        </p:nvSpPr>
        <p:spPr>
          <a:xfrm>
            <a:off x="8097317" y="4523937"/>
            <a:ext cx="3637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承認段階どおりに①〜③を実行。③はSOC責任者の承認待ち</a:t>
            </a:r>
            <a:endParaRPr lang="en-US" sz="1200" dirty="0"/>
          </a:p>
        </p:txBody>
      </p:sp>
      <p:sp>
        <p:nvSpPr>
          <p:cNvPr id="18" name="screen-note"/>
          <p:cNvSpPr/>
          <p:nvPr/>
        </p:nvSpPr>
        <p:spPr>
          <a:xfrm>
            <a:off x="457200" y="5120640"/>
            <a:ext cx="11277295" cy="8686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9" name="screen-note-text"/>
          <p:cNvSpPr txBox="1"/>
          <p:nvPr/>
        </p:nvSpPr>
        <p:spPr>
          <a:xfrm>
            <a:off x="594360" y="5175504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社内ポータル（チケット管理・チャット）は、Splunkとは別のシステムとして描いています。チケットの「Splunk ESで開く」から、Splunkに移ります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画面の上の青い吹き出しがテックタッチのガイド（案）、紫の枠がAI Hub（構想・例文）です</a:t>
            </a:r>
            <a:endParaRPr lang="en-US" sz="1200" dirty="0"/>
          </a:p>
        </p:txBody>
      </p:sp>
      <p:sp>
        <p:nvSpPr>
          <p:cNvPr id="2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デモ｜見せ場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封じ込めを、社内の承認段階どおりに動かす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SOARがあっても「誰の承認で何を止めるか」が決まっていなければ動かない。承認段階を、プレイブックの入力に組み込む</a:t>
            </a:r>
            <a:endParaRPr lang="en-US" sz="1300" dirty="0"/>
          </a:p>
        </p:txBody>
      </p:sp>
      <p:sp>
        <p:nvSpPr>
          <p:cNvPr id="6" name="level-num-bg-0"/>
          <p:cNvSpPr/>
          <p:nvPr/>
        </p:nvSpPr>
        <p:spPr>
          <a:xfrm>
            <a:off x="457200" y="2057400"/>
            <a:ext cx="731520" cy="786384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7" name="level-num-0"/>
          <p:cNvSpPr txBox="1"/>
          <p:nvPr/>
        </p:nvSpPr>
        <p:spPr>
          <a:xfrm>
            <a:off x="457200" y="2057400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level-0"/>
          <p:cNvSpPr/>
          <p:nvPr/>
        </p:nvSpPr>
        <p:spPr>
          <a:xfrm>
            <a:off x="1188720" y="2057400"/>
            <a:ext cx="6035040" cy="786384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level-name-0"/>
          <p:cNvSpPr txBox="1"/>
          <p:nvPr/>
        </p:nvSpPr>
        <p:spPr>
          <a:xfrm>
            <a:off x="1353312" y="214884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セッションの失効（Entra ID）</a:t>
            </a:r>
            <a:endParaRPr lang="en-US" sz="1300" dirty="0"/>
          </a:p>
        </p:txBody>
      </p:sp>
      <p:sp>
        <p:nvSpPr>
          <p:cNvPr id="10" name="level-who-0"/>
          <p:cNvSpPr txBox="1"/>
          <p:nvPr/>
        </p:nvSpPr>
        <p:spPr>
          <a:xfrm>
            <a:off x="1353312" y="24963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SOC担当者の判断で即時</a:t>
            </a:r>
            <a:endParaRPr lang="en-US" sz="1200" dirty="0"/>
          </a:p>
        </p:txBody>
      </p:sp>
      <p:sp>
        <p:nvSpPr>
          <p:cNvPr id="11" name="level-num-bg-1"/>
          <p:cNvSpPr/>
          <p:nvPr/>
        </p:nvSpPr>
        <p:spPr>
          <a:xfrm>
            <a:off x="731520" y="2990088"/>
            <a:ext cx="731520" cy="786384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2" name="level-num-1"/>
          <p:cNvSpPr txBox="1"/>
          <p:nvPr/>
        </p:nvSpPr>
        <p:spPr>
          <a:xfrm>
            <a:off x="731520" y="2990088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②</a:t>
            </a:r>
            <a:endParaRPr lang="en-US" sz="2000" dirty="0"/>
          </a:p>
        </p:txBody>
      </p:sp>
      <p:sp>
        <p:nvSpPr>
          <p:cNvPr id="13" name="level-1"/>
          <p:cNvSpPr/>
          <p:nvPr/>
        </p:nvSpPr>
        <p:spPr>
          <a:xfrm>
            <a:off x="1463040" y="2990088"/>
            <a:ext cx="5760720" cy="786384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level-name-1"/>
          <p:cNvSpPr txBox="1"/>
          <p:nvPr/>
        </p:nvSpPr>
        <p:spPr>
          <a:xfrm>
            <a:off x="1627632" y="3081528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転送ルールの無効化・パスワードリセット・MFA再登録</a:t>
            </a:r>
            <a:endParaRPr lang="en-US" sz="1300" dirty="0"/>
          </a:p>
        </p:txBody>
      </p:sp>
      <p:sp>
        <p:nvSpPr>
          <p:cNvPr id="15" name="level-who-1"/>
          <p:cNvSpPr txBox="1"/>
          <p:nvPr/>
        </p:nvSpPr>
        <p:spPr>
          <a:xfrm>
            <a:off x="1627632" y="3429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SOC担当者の判断で即時</a:t>
            </a:r>
            <a:endParaRPr lang="en-US" sz="1200" dirty="0"/>
          </a:p>
        </p:txBody>
      </p:sp>
      <p:sp>
        <p:nvSpPr>
          <p:cNvPr id="16" name="level-num-bg-2"/>
          <p:cNvSpPr/>
          <p:nvPr/>
        </p:nvSpPr>
        <p:spPr>
          <a:xfrm>
            <a:off x="1005840" y="3922776"/>
            <a:ext cx="731520" cy="78638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7" name="level-num-2"/>
          <p:cNvSpPr txBox="1"/>
          <p:nvPr/>
        </p:nvSpPr>
        <p:spPr>
          <a:xfrm>
            <a:off x="1005840" y="3922776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③</a:t>
            </a:r>
            <a:endParaRPr lang="en-US" sz="2000" dirty="0"/>
          </a:p>
        </p:txBody>
      </p:sp>
      <p:sp>
        <p:nvSpPr>
          <p:cNvPr id="18" name="level-2"/>
          <p:cNvSpPr/>
          <p:nvPr/>
        </p:nvSpPr>
        <p:spPr>
          <a:xfrm>
            <a:off x="1737360" y="3922776"/>
            <a:ext cx="5486400" cy="786384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9" name="level-name-2"/>
          <p:cNvSpPr txBox="1"/>
          <p:nvPr/>
        </p:nvSpPr>
        <p:spPr>
          <a:xfrm>
            <a:off x="1901952" y="4014216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アカウントの一時停止（Entra ID）</a:t>
            </a:r>
            <a:endParaRPr lang="en-US" sz="1300" dirty="0"/>
          </a:p>
        </p:txBody>
      </p:sp>
      <p:sp>
        <p:nvSpPr>
          <p:cNvPr id="20" name="level-who-2"/>
          <p:cNvSpPr txBox="1"/>
          <p:nvPr/>
        </p:nvSpPr>
        <p:spPr>
          <a:xfrm>
            <a:off x="1901952" y="436168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SOC責任者の承認（承認番号を入力）</a:t>
            </a:r>
            <a:endParaRPr lang="en-US" sz="1200" dirty="0"/>
          </a:p>
        </p:txBody>
      </p:sp>
      <p:sp>
        <p:nvSpPr>
          <p:cNvPr id="21" name="level-num-bg-3"/>
          <p:cNvSpPr/>
          <p:nvPr/>
        </p:nvSpPr>
        <p:spPr>
          <a:xfrm>
            <a:off x="1280160" y="4855464"/>
            <a:ext cx="731520" cy="78638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2" name="level-num-3"/>
          <p:cNvSpPr txBox="1"/>
          <p:nvPr/>
        </p:nvSpPr>
        <p:spPr>
          <a:xfrm>
            <a:off x="1280160" y="4855464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④</a:t>
            </a:r>
            <a:endParaRPr lang="en-US" sz="2000" dirty="0"/>
          </a:p>
        </p:txBody>
      </p:sp>
      <p:sp>
        <p:nvSpPr>
          <p:cNvPr id="23" name="level-3"/>
          <p:cNvSpPr/>
          <p:nvPr/>
        </p:nvSpPr>
        <p:spPr>
          <a:xfrm>
            <a:off x="2011680" y="4855464"/>
            <a:ext cx="5212080" cy="786384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level-name-3"/>
          <p:cNvSpPr txBox="1"/>
          <p:nvPr/>
        </p:nvSpPr>
        <p:spPr>
          <a:xfrm>
            <a:off x="2176272" y="49469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テナント全体の外部自動転送の禁止</a:t>
            </a:r>
            <a:endParaRPr lang="en-US" sz="1300" dirty="0"/>
          </a:p>
        </p:txBody>
      </p:sp>
      <p:sp>
        <p:nvSpPr>
          <p:cNvPr id="25" name="level-who-3"/>
          <p:cNvSpPr txBox="1"/>
          <p:nvPr/>
        </p:nvSpPr>
        <p:spPr>
          <a:xfrm>
            <a:off x="2176272" y="52943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CSIRT責任者の判断（デモでは判断材料を渡すまで）</a:t>
            </a:r>
            <a:endParaRPr lang="en-US" sz="1200" dirty="0"/>
          </a:p>
        </p:txBody>
      </p:sp>
      <p:sp>
        <p:nvSpPr>
          <p:cNvPr id="26" name="check"/>
          <p:cNvSpPr/>
          <p:nvPr/>
        </p:nvSpPr>
        <p:spPr>
          <a:xfrm>
            <a:off x="7543800" y="2057400"/>
            <a:ext cx="4190695" cy="360273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7" name="check-head"/>
          <p:cNvSpPr/>
          <p:nvPr/>
        </p:nvSpPr>
        <p:spPr>
          <a:xfrm>
            <a:off x="7543800" y="2057400"/>
            <a:ext cx="4190695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8" name="check-head-text"/>
          <p:cNvSpPr txBox="1"/>
          <p:nvPr/>
        </p:nvSpPr>
        <p:spPr>
          <a:xfrm>
            <a:off x="7635240" y="2057400"/>
            <a:ext cx="40078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テックタッチの入力チェック（案）</a:t>
            </a:r>
            <a:endParaRPr lang="en-US" sz="1200" dirty="0"/>
          </a:p>
        </p:txBody>
      </p:sp>
      <p:sp>
        <p:nvSpPr>
          <p:cNvPr id="29" name="check-list"/>
          <p:cNvSpPr txBox="1"/>
          <p:nvPr/>
        </p:nvSpPr>
        <p:spPr>
          <a:xfrm>
            <a:off x="7680960" y="2560320"/>
            <a:ext cx="39163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実行範囲で「①〜②」「①〜④」を選ぶと、承認段階に合わせて案内する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③の承認チケット番号が空のままでは、実行できない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AI Hubが対応権限表（KB06）と照合し、例外アカウントかを示す</a:t>
            </a:r>
            <a:endParaRPr lang="en-US" sz="1300" dirty="0"/>
          </a:p>
        </p:txBody>
      </p:sp>
      <p:sp>
        <p:nvSpPr>
          <p:cNvPr id="30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承認段階はデモ用の架空の例です。御社の対応権限表に合わせて作ります。</a:t>
            </a:r>
            <a:endParaRPr lang="en-US" sz="11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デモ｜成果物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デモの終わりに、画面に残す5つの成果物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「ツールが動いた」ではなく、社内に残るものでデモの成否を判断する</a:t>
            </a:r>
            <a:endParaRPr lang="en-US" sz="1300" dirty="0"/>
          </a:p>
        </p:txBody>
      </p:sp>
      <p:sp>
        <p:nvSpPr>
          <p:cNvPr id="6" name="goal-0"/>
          <p:cNvSpPr/>
          <p:nvPr/>
        </p:nvSpPr>
        <p:spPr>
          <a:xfrm>
            <a:off x="457200" y="2057400"/>
            <a:ext cx="2109155" cy="3017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goal-0-head"/>
          <p:cNvSpPr/>
          <p:nvPr/>
        </p:nvSpPr>
        <p:spPr>
          <a:xfrm>
            <a:off x="457200" y="2057400"/>
            <a:ext cx="2109155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goal-0-head-text"/>
          <p:cNvSpPr txBox="1"/>
          <p:nvPr/>
        </p:nvSpPr>
        <p:spPr>
          <a:xfrm>
            <a:off x="548640" y="2057400"/>
            <a:ext cx="19262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成果物　①</a:t>
            </a:r>
            <a:endParaRPr lang="en-US" sz="1200" dirty="0"/>
          </a:p>
        </p:txBody>
      </p:sp>
      <p:sp>
        <p:nvSpPr>
          <p:cNvPr id="9" name="goal-name-0"/>
          <p:cNvSpPr txBox="1"/>
          <p:nvPr/>
        </p:nvSpPr>
        <p:spPr>
          <a:xfrm>
            <a:off x="566928" y="2542032"/>
            <a:ext cx="188969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社内基準D-02の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相関検索</a:t>
            </a:r>
            <a:endParaRPr lang="en-US" sz="1500" dirty="0"/>
          </a:p>
        </p:txBody>
      </p:sp>
      <p:sp>
        <p:nvSpPr>
          <p:cNvPr id="10" name="goal-desc-0"/>
          <p:cNvSpPr txBox="1"/>
          <p:nvPr/>
        </p:nvSpPr>
        <p:spPr>
          <a:xfrm>
            <a:off x="566928" y="3337560"/>
            <a:ext cx="188969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ノータブルとリスクスコア。テストログで、ケースAだけが残ることを確かめる</a:t>
            </a:r>
            <a:endParaRPr lang="en-US" sz="1300" dirty="0"/>
          </a:p>
        </p:txBody>
      </p:sp>
      <p:sp>
        <p:nvSpPr>
          <p:cNvPr id="11" name="goal-1"/>
          <p:cNvSpPr/>
          <p:nvPr/>
        </p:nvSpPr>
        <p:spPr>
          <a:xfrm>
            <a:off x="2749235" y="2057400"/>
            <a:ext cx="2109155" cy="3017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goal-1-head"/>
          <p:cNvSpPr/>
          <p:nvPr/>
        </p:nvSpPr>
        <p:spPr>
          <a:xfrm>
            <a:off x="2749235" y="2057400"/>
            <a:ext cx="2109155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3" name="goal-1-head-text"/>
          <p:cNvSpPr txBox="1"/>
          <p:nvPr/>
        </p:nvSpPr>
        <p:spPr>
          <a:xfrm>
            <a:off x="2840675" y="2057400"/>
            <a:ext cx="19262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成果物　②</a:t>
            </a:r>
            <a:endParaRPr lang="en-US" sz="1200" dirty="0"/>
          </a:p>
        </p:txBody>
      </p:sp>
      <p:sp>
        <p:nvSpPr>
          <p:cNvPr id="14" name="goal-name-1"/>
          <p:cNvSpPr txBox="1"/>
          <p:nvPr/>
        </p:nvSpPr>
        <p:spPr>
          <a:xfrm>
            <a:off x="2858963" y="2542032"/>
            <a:ext cx="188969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一次対応の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チェックリスト</a:t>
            </a:r>
            <a:endParaRPr lang="en-US" sz="1500" dirty="0"/>
          </a:p>
        </p:txBody>
      </p:sp>
      <p:sp>
        <p:nvSpPr>
          <p:cNvPr id="15" name="goal-desc-1"/>
          <p:cNvSpPr txBox="1"/>
          <p:nvPr/>
        </p:nvSpPr>
        <p:spPr>
          <a:xfrm>
            <a:off x="2858963" y="3337560"/>
            <a:ext cx="188969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本人・上長への確認を含む7項目。埋まるまで封じ込めに進めない</a:t>
            </a:r>
            <a:endParaRPr lang="en-US" sz="1300" dirty="0"/>
          </a:p>
        </p:txBody>
      </p:sp>
      <p:sp>
        <p:nvSpPr>
          <p:cNvPr id="16" name="goal-2"/>
          <p:cNvSpPr/>
          <p:nvPr/>
        </p:nvSpPr>
        <p:spPr>
          <a:xfrm>
            <a:off x="5041270" y="2057400"/>
            <a:ext cx="2109155" cy="3017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goal-2-head"/>
          <p:cNvSpPr/>
          <p:nvPr/>
        </p:nvSpPr>
        <p:spPr>
          <a:xfrm>
            <a:off x="5041270" y="2057400"/>
            <a:ext cx="2109155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8" name="goal-2-head-text"/>
          <p:cNvSpPr txBox="1"/>
          <p:nvPr/>
        </p:nvSpPr>
        <p:spPr>
          <a:xfrm>
            <a:off x="5132710" y="2057400"/>
            <a:ext cx="19262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成果物　③</a:t>
            </a:r>
            <a:endParaRPr lang="en-US" sz="1200" dirty="0"/>
          </a:p>
        </p:txBody>
      </p:sp>
      <p:sp>
        <p:nvSpPr>
          <p:cNvPr id="19" name="goal-name-2"/>
          <p:cNvSpPr txBox="1"/>
          <p:nvPr/>
        </p:nvSpPr>
        <p:spPr>
          <a:xfrm>
            <a:off x="5150998" y="2542032"/>
            <a:ext cx="188969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封じ込めの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承認段階</a:t>
            </a:r>
            <a:endParaRPr lang="en-US" sz="1500" dirty="0"/>
          </a:p>
        </p:txBody>
      </p:sp>
      <p:sp>
        <p:nvSpPr>
          <p:cNvPr id="20" name="goal-desc-2"/>
          <p:cNvSpPr txBox="1"/>
          <p:nvPr/>
        </p:nvSpPr>
        <p:spPr>
          <a:xfrm>
            <a:off x="5150998" y="3337560"/>
            <a:ext cx="188969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SOARプレイブックの入力に、実行範囲と承認番号を残す</a:t>
            </a:r>
            <a:endParaRPr lang="en-US" sz="1300" dirty="0"/>
          </a:p>
        </p:txBody>
      </p:sp>
      <p:sp>
        <p:nvSpPr>
          <p:cNvPr id="21" name="goal-3"/>
          <p:cNvSpPr/>
          <p:nvPr/>
        </p:nvSpPr>
        <p:spPr>
          <a:xfrm>
            <a:off x="7333305" y="2057400"/>
            <a:ext cx="2109155" cy="3017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goal-3-head"/>
          <p:cNvSpPr/>
          <p:nvPr/>
        </p:nvSpPr>
        <p:spPr>
          <a:xfrm>
            <a:off x="7333305" y="2057400"/>
            <a:ext cx="2109155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3" name="goal-3-head-text"/>
          <p:cNvSpPr txBox="1"/>
          <p:nvPr/>
        </p:nvSpPr>
        <p:spPr>
          <a:xfrm>
            <a:off x="7424745" y="2057400"/>
            <a:ext cx="19262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成果物　④</a:t>
            </a:r>
            <a:endParaRPr lang="en-US" sz="1200" dirty="0"/>
          </a:p>
        </p:txBody>
      </p:sp>
      <p:sp>
        <p:nvSpPr>
          <p:cNvPr id="24" name="goal-name-3"/>
          <p:cNvSpPr txBox="1"/>
          <p:nvPr/>
        </p:nvSpPr>
        <p:spPr>
          <a:xfrm>
            <a:off x="7443033" y="2542032"/>
            <a:ext cx="188969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範囲の確定と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記録</a:t>
            </a:r>
            <a:endParaRPr lang="en-US" sz="1500" dirty="0"/>
          </a:p>
        </p:txBody>
      </p:sp>
      <p:sp>
        <p:nvSpPr>
          <p:cNvPr id="25" name="goal-desc-3"/>
          <p:cNvSpPr txBox="1"/>
          <p:nvPr/>
        </p:nvSpPr>
        <p:spPr>
          <a:xfrm>
            <a:off x="7443033" y="3337560"/>
            <a:ext cx="188969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転送ルール・ダウンロード・社内送信・他アカウントを確定し、4項目で記録する</a:t>
            </a:r>
            <a:endParaRPr lang="en-US" sz="1300" dirty="0"/>
          </a:p>
        </p:txBody>
      </p:sp>
      <p:sp>
        <p:nvSpPr>
          <p:cNvPr id="26" name="goal-4"/>
          <p:cNvSpPr/>
          <p:nvPr/>
        </p:nvSpPr>
        <p:spPr>
          <a:xfrm>
            <a:off x="9625340" y="2057400"/>
            <a:ext cx="2109155" cy="3017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7" name="goal-4-head"/>
          <p:cNvSpPr/>
          <p:nvPr/>
        </p:nvSpPr>
        <p:spPr>
          <a:xfrm>
            <a:off x="9625340" y="2057400"/>
            <a:ext cx="2109155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8" name="goal-4-head-text"/>
          <p:cNvSpPr txBox="1"/>
          <p:nvPr/>
        </p:nvSpPr>
        <p:spPr>
          <a:xfrm>
            <a:off x="9716780" y="2057400"/>
            <a:ext cx="19262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成果物　⑤</a:t>
            </a:r>
            <a:endParaRPr lang="en-US" sz="1200" dirty="0"/>
          </a:p>
        </p:txBody>
      </p:sp>
      <p:sp>
        <p:nvSpPr>
          <p:cNvPr id="29" name="goal-name-4"/>
          <p:cNvSpPr txBox="1"/>
          <p:nvPr/>
        </p:nvSpPr>
        <p:spPr>
          <a:xfrm>
            <a:off x="9735068" y="2542032"/>
            <a:ext cx="188969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ナレッジと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役割分担</a:t>
            </a:r>
            <a:endParaRPr lang="en-US" sz="1500" dirty="0"/>
          </a:p>
        </p:txBody>
      </p:sp>
      <p:sp>
        <p:nvSpPr>
          <p:cNvPr id="30" name="goal-desc-4"/>
          <p:cNvSpPr txBox="1"/>
          <p:nvPr/>
        </p:nvSpPr>
        <p:spPr>
          <a:xfrm>
            <a:off x="9735068" y="3337560"/>
            <a:ext cx="188969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検知条件・承認段階・記録をナレッジにし、委託先との役割分担を書き換える</a:t>
            </a:r>
            <a:endParaRPr lang="en-US" sz="1300" dirty="0"/>
          </a:p>
        </p:txBody>
      </p:sp>
      <p:sp>
        <p:nvSpPr>
          <p:cNvPr id="31" name="goal-note"/>
          <p:cNvSpPr txBox="1"/>
          <p:nvPr/>
        </p:nvSpPr>
        <p:spPr>
          <a:xfrm>
            <a:off x="457200" y="530352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デモの成果物は架空の例です。本番では、御社の手順・承認者・記録の形に合わせて作ります。</a:t>
            </a:r>
            <a:endParaRPr lang="en-US" sz="1300" dirty="0"/>
          </a:p>
        </p:txBody>
      </p:sp>
      <p:sp>
        <p:nvSpPr>
          <p:cNvPr id="32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ケースAは、普段と違う場所からのサインインの後に、外部転送ルールと大量ダウンロードがあった架空のアカウントです。</a:t>
            </a:r>
            <a:endParaRPr lang="en-US" sz="11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デモ｜AI機能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AI機能は、機能ごとに分けて評価する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Assistant・UEBA・AI Hubは別のもの。まとめて「AIで速くなる」とは言わない</a:t>
            </a:r>
            <a:endParaRPr lang="en-US" sz="1300" dirty="0"/>
          </a:p>
        </p:txBody>
      </p:sp>
      <p:graphicFrame>
        <p:nvGraphicFramePr>
          <p:cNvPr id="6" name="ai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57400"/>
          <a:ext cx="11277295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554480"/>
                <a:gridCol w="2834640"/>
                <a:gridCol w="2331720"/>
                <a:gridCol w="25877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機能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提供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すること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デモでの扱い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判断の置き方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Splunk AI Assistant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Splunkの機能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自然言語からSPL案を作り、既存のSPLを説明・修正する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参考画面（準備した例）。実機ではそのままの出力を使う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出力はAI Hubで社内基準D-02と照合し、テストログで確かめる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UEBA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ESの機能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行動の異常（普段と違う場所・時間・量、初めての操作）を出す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「普段と違う」を出す機能として扱う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「本人の利用か」は、社内の人が本人と上長に確かめる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 Hub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テックタッチ（構想）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社内のナレッジ（ログ辞書・検知基準・調査手順・対応権限表）と照合し、整理する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本番前に確かめた例文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検索結果の真偽は断定しない。判断は人が行う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ai-note"/>
          <p:cNvSpPr txBox="1"/>
          <p:nvPr/>
        </p:nvSpPr>
        <p:spPr>
          <a:xfrm>
            <a:off x="457200" y="548640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精度や削減率の数値は、お約束しません。効果は4つの指標で確かめます（次のページ）。</a:t>
            </a:r>
            <a:endParaRPr lang="en-US" sz="1300" dirty="0"/>
          </a:p>
        </p:txBody>
      </p:sp>
      <p:sp>
        <p:nvSpPr>
          <p:cNvPr id="8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Splunk AI Assistantは有償のSplunk Cloudの機能で、トライアル環境では使えません。</a:t>
            </a:r>
            <a:endParaRPr lang="en-US" sz="110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進め方｜効果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効果の確かめ方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一つの作業で測る。現状を伺ってから、目標を決める</a:t>
            </a:r>
            <a:endParaRPr lang="en-US" sz="1300" dirty="0"/>
          </a:p>
        </p:txBody>
      </p:sp>
      <p:sp>
        <p:nvSpPr>
          <p:cNvPr id="6" name="metric-0"/>
          <p:cNvSpPr/>
          <p:nvPr/>
        </p:nvSpPr>
        <p:spPr>
          <a:xfrm>
            <a:off x="457200" y="2057400"/>
            <a:ext cx="2682164" cy="32461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etric-num-0"/>
          <p:cNvSpPr txBox="1"/>
          <p:nvPr/>
        </p:nvSpPr>
        <p:spPr>
          <a:xfrm>
            <a:off x="594360" y="2194560"/>
            <a:ext cx="24078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指標 1</a:t>
            </a:r>
            <a:endParaRPr lang="en-US" sz="1200" dirty="0"/>
          </a:p>
        </p:txBody>
      </p:sp>
      <p:sp>
        <p:nvSpPr>
          <p:cNvPr id="8" name="metric-name-0"/>
          <p:cNvSpPr txBox="1"/>
          <p:nvPr/>
        </p:nvSpPr>
        <p:spPr>
          <a:xfrm>
            <a:off x="594360" y="2514600"/>
            <a:ext cx="24078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把握から封じ込めまでの時間</a:t>
            </a:r>
            <a:endParaRPr lang="en-US" sz="1700" dirty="0"/>
          </a:p>
        </p:txBody>
      </p:sp>
      <p:sp>
        <p:nvSpPr>
          <p:cNvPr id="9" name="metric-howlab-0"/>
          <p:cNvSpPr txBox="1"/>
          <p:nvPr/>
        </p:nvSpPr>
        <p:spPr>
          <a:xfrm>
            <a:off x="594360" y="3566160"/>
            <a:ext cx="240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測り方</a:t>
            </a:r>
            <a:endParaRPr lang="en-US" sz="1100" dirty="0"/>
          </a:p>
        </p:txBody>
      </p:sp>
      <p:sp>
        <p:nvSpPr>
          <p:cNvPr id="10" name="metric-how-0"/>
          <p:cNvSpPr txBox="1"/>
          <p:nvPr/>
        </p:nvSpPr>
        <p:spPr>
          <a:xfrm>
            <a:off x="594360" y="3840480"/>
            <a:ext cx="24078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ノータブルの発生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→ ③アカウント停止の実行</a:t>
            </a:r>
            <a:endParaRPr lang="en-US" sz="1300" dirty="0"/>
          </a:p>
        </p:txBody>
      </p:sp>
      <p:sp>
        <p:nvSpPr>
          <p:cNvPr id="11" name="metric-1"/>
          <p:cNvSpPr/>
          <p:nvPr/>
        </p:nvSpPr>
        <p:spPr>
          <a:xfrm>
            <a:off x="3322244" y="2057400"/>
            <a:ext cx="2682164" cy="32461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metric-num-1"/>
          <p:cNvSpPr txBox="1"/>
          <p:nvPr/>
        </p:nvSpPr>
        <p:spPr>
          <a:xfrm>
            <a:off x="3459404" y="2194560"/>
            <a:ext cx="24078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指標 2</a:t>
            </a:r>
            <a:endParaRPr lang="en-US" sz="1200" dirty="0"/>
          </a:p>
        </p:txBody>
      </p:sp>
      <p:sp>
        <p:nvSpPr>
          <p:cNvPr id="13" name="metric-name-1"/>
          <p:cNvSpPr txBox="1"/>
          <p:nvPr/>
        </p:nvSpPr>
        <p:spPr>
          <a:xfrm>
            <a:off x="3459404" y="2514600"/>
            <a:ext cx="24078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範囲の確定までの時間</a:t>
            </a:r>
            <a:endParaRPr lang="en-US" sz="1700" dirty="0"/>
          </a:p>
        </p:txBody>
      </p:sp>
      <p:sp>
        <p:nvSpPr>
          <p:cNvPr id="14" name="metric-howlab-1"/>
          <p:cNvSpPr txBox="1"/>
          <p:nvPr/>
        </p:nvSpPr>
        <p:spPr>
          <a:xfrm>
            <a:off x="3459404" y="3566160"/>
            <a:ext cx="240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測り方</a:t>
            </a:r>
            <a:endParaRPr lang="en-US" sz="1100" dirty="0"/>
          </a:p>
        </p:txBody>
      </p:sp>
      <p:sp>
        <p:nvSpPr>
          <p:cNvPr id="15" name="metric-how-1"/>
          <p:cNvSpPr txBox="1"/>
          <p:nvPr/>
        </p:nvSpPr>
        <p:spPr>
          <a:xfrm>
            <a:off x="3459404" y="3840480"/>
            <a:ext cx="24078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ノータブルの発生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→ 操作の範囲と他アカウントの確認が記録に書かれる</a:t>
            </a:r>
            <a:endParaRPr lang="en-US" sz="1300" dirty="0"/>
          </a:p>
        </p:txBody>
      </p:sp>
      <p:sp>
        <p:nvSpPr>
          <p:cNvPr id="16" name="metric-2"/>
          <p:cNvSpPr/>
          <p:nvPr/>
        </p:nvSpPr>
        <p:spPr>
          <a:xfrm>
            <a:off x="6187288" y="2057400"/>
            <a:ext cx="2682164" cy="32461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metric-num-2"/>
          <p:cNvSpPr txBox="1"/>
          <p:nvPr/>
        </p:nvSpPr>
        <p:spPr>
          <a:xfrm>
            <a:off x="6324448" y="2194560"/>
            <a:ext cx="24078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指標 3</a:t>
            </a:r>
            <a:endParaRPr lang="en-US" sz="1200" dirty="0"/>
          </a:p>
        </p:txBody>
      </p:sp>
      <p:sp>
        <p:nvSpPr>
          <p:cNvPr id="18" name="metric-name-2"/>
          <p:cNvSpPr txBox="1"/>
          <p:nvPr/>
        </p:nvSpPr>
        <p:spPr>
          <a:xfrm>
            <a:off x="6324448" y="2514600"/>
            <a:ext cx="24078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委託先への依頼件数</a:t>
            </a:r>
            <a:endParaRPr lang="en-US" sz="1700" dirty="0"/>
          </a:p>
        </p:txBody>
      </p:sp>
      <p:sp>
        <p:nvSpPr>
          <p:cNvPr id="19" name="metric-howlab-2"/>
          <p:cNvSpPr txBox="1"/>
          <p:nvPr/>
        </p:nvSpPr>
        <p:spPr>
          <a:xfrm>
            <a:off x="6324448" y="3566160"/>
            <a:ext cx="240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測り方</a:t>
            </a:r>
            <a:endParaRPr lang="en-US" sz="1100" dirty="0"/>
          </a:p>
        </p:txBody>
      </p:sp>
      <p:sp>
        <p:nvSpPr>
          <p:cNvPr id="20" name="metric-how-2"/>
          <p:cNvSpPr txBox="1"/>
          <p:nvPr/>
        </p:nvSpPr>
        <p:spPr>
          <a:xfrm>
            <a:off x="6324448" y="3840480"/>
            <a:ext cx="24078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一次対応・ルール変更・範囲の確定で、委託先にチケットを出した件数</a:t>
            </a:r>
            <a:endParaRPr lang="en-US" sz="1300" dirty="0"/>
          </a:p>
        </p:txBody>
      </p:sp>
      <p:sp>
        <p:nvSpPr>
          <p:cNvPr id="21" name="metric-3"/>
          <p:cNvSpPr/>
          <p:nvPr/>
        </p:nvSpPr>
        <p:spPr>
          <a:xfrm>
            <a:off x="9052331" y="2057400"/>
            <a:ext cx="2682164" cy="32461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metric-num-3"/>
          <p:cNvSpPr txBox="1"/>
          <p:nvPr/>
        </p:nvSpPr>
        <p:spPr>
          <a:xfrm>
            <a:off x="9189491" y="2194560"/>
            <a:ext cx="24078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指標 4</a:t>
            </a:r>
            <a:endParaRPr lang="en-US" sz="1200" dirty="0"/>
          </a:p>
        </p:txBody>
      </p:sp>
      <p:sp>
        <p:nvSpPr>
          <p:cNvPr id="23" name="metric-name-3"/>
          <p:cNvSpPr txBox="1"/>
          <p:nvPr/>
        </p:nvSpPr>
        <p:spPr>
          <a:xfrm>
            <a:off x="9189491" y="2514600"/>
            <a:ext cx="24078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社内で完結した検知ルールの変更件数</a:t>
            </a:r>
            <a:endParaRPr lang="en-US" sz="1700" dirty="0"/>
          </a:p>
        </p:txBody>
      </p:sp>
      <p:sp>
        <p:nvSpPr>
          <p:cNvPr id="24" name="metric-howlab-3"/>
          <p:cNvSpPr txBox="1"/>
          <p:nvPr/>
        </p:nvSpPr>
        <p:spPr>
          <a:xfrm>
            <a:off x="9189491" y="3566160"/>
            <a:ext cx="240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測り方</a:t>
            </a:r>
            <a:endParaRPr lang="en-US" sz="1100" dirty="0"/>
          </a:p>
        </p:txBody>
      </p:sp>
      <p:sp>
        <p:nvSpPr>
          <p:cNvPr id="25" name="metric-how-3"/>
          <p:cNvSpPr txBox="1"/>
          <p:nvPr/>
        </p:nvSpPr>
        <p:spPr>
          <a:xfrm>
            <a:off x="9189491" y="3840480"/>
            <a:ext cx="24078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相関検索の作成・変更のうち、社内で完結した件数</a:t>
            </a:r>
            <a:endParaRPr lang="en-US" sz="1300" dirty="0"/>
          </a:p>
        </p:txBody>
      </p:sp>
      <p:sp>
        <p:nvSpPr>
          <p:cNvPr id="26" name="metric-note"/>
          <p:cNvSpPr txBox="1"/>
          <p:nvPr/>
        </p:nvSpPr>
        <p:spPr>
          <a:xfrm>
            <a:off x="457200" y="553212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削減率や検知精度の数値は、事前にはお示ししません。</a:t>
            </a:r>
            <a:endParaRPr lang="en-US" sz="13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進め方｜事前の確認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事前に伺いたいこと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デモの前提を御社の環境に合わせるために、先に確かめたい6項目</a:t>
            </a:r>
            <a:endParaRPr lang="en-US" sz="1300" dirty="0"/>
          </a:p>
        </p:txBody>
      </p:sp>
      <p:graphicFrame>
        <p:nvGraphicFramePr>
          <p:cNvPr id="6" name="ask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57400"/>
          <a:ext cx="1127729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5029200"/>
                <a:gridCol w="3474720"/>
                <a:gridCol w="231343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#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確かめたいこと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理由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主な伺い先（想定）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Splunkの構成（ESの版、UEBAがES統合か旧UBAか、SOARの利用範囲）と、M365の監査ログの取り込み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画面と検知の前提。画面名はESの版で異なる場合がある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SOC、委託先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SOCの体制（委託先と社内の役割分担、契約範囲）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社内で判断・修正してよい範囲が決まる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SOC責任者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M365側の設定（外部自動転送の既定、条件付きアクセス、MFAの方式）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封じ込め④と改善の前提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情報システム部門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SOC・CSIRT端末の条件（閉域、VDI、拡張機能の配布）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テックタッチを入れられるかの前提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情報システム部門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相関検索の作成権限と、スケジュールの時刻（Splunk CloudはUTC）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相関検索を社内で作れるかの前提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ESの管理者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 Hubに渡す情報の範囲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調査記録には個人情報が含まれうる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情報セキュリティの責任者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6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「主な伺い先」は想定です。御社の体制に合わせて伺います。</a:t>
            </a:r>
            <a:endParaRPr lang="en-US" sz="11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進め方｜前提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デモをご覧いただく前に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イメージデモの前提を、先にお伝えします</a:t>
            </a:r>
            <a:endParaRPr lang="en-US" sz="1300" dirty="0"/>
          </a:p>
        </p:txBody>
      </p:sp>
      <p:graphicFrame>
        <p:nvGraphicFramePr>
          <p:cNvPr id="6" name="pr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57400"/>
          <a:ext cx="1127729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816559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架空のシナリオです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特定の企業や事案を題材にしたものではありません。人物・企業名・件数は架空で、接続元のIPなどは文書用の予約値です。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画面はイメージです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Splunk公式のUI部品で組んだ画面イメージで、ES・UEBA・SOARの実画面ではありません。画面名や項目名はESの版で異なる場合があり、御社の版で確かめます。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AIの回答は準備した例です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Splunk AI Assistantは参考画面、AI Hubは構想と、本番前に確かめた例文です。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テックタッチのガイドは案です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ガイド・ツールチップ・入力チェックは、御社の手順に合わせて作る前の案です。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入口の防止は扱いません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フィッシングを防ぐ話ではなく、速く気づき、社内で止め、範囲を確定し、記録する話です。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進め方｜次の一歩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次の一歩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入っているES・UEBA・SOARを、社内の人が判断・承認・記録まで使い切る。その最初の一歩を、一緒に決めさせてください</a:t>
            </a:r>
            <a:endParaRPr lang="en-US" sz="1300" dirty="0"/>
          </a:p>
        </p:txBody>
      </p:sp>
      <p:sp>
        <p:nvSpPr>
          <p:cNvPr id="6" name="next-0"/>
          <p:cNvSpPr/>
          <p:nvPr/>
        </p:nvSpPr>
        <p:spPr>
          <a:xfrm>
            <a:off x="457200" y="2057400"/>
            <a:ext cx="3484778" cy="23774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next-0-head"/>
          <p:cNvSpPr/>
          <p:nvPr/>
        </p:nvSpPr>
        <p:spPr>
          <a:xfrm>
            <a:off x="457200" y="2057400"/>
            <a:ext cx="34847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next-0-head-text"/>
          <p:cNvSpPr txBox="1"/>
          <p:nvPr/>
        </p:nvSpPr>
        <p:spPr>
          <a:xfrm>
            <a:off x="548640" y="2057400"/>
            <a:ext cx="33018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①　事前に伺いたい6項目</a:t>
            </a:r>
            <a:endParaRPr lang="en-US" sz="1200" dirty="0"/>
          </a:p>
        </p:txBody>
      </p:sp>
      <p:sp>
        <p:nvSpPr>
          <p:cNvPr id="9" name="next-body-0"/>
          <p:cNvSpPr txBox="1"/>
          <p:nvPr/>
        </p:nvSpPr>
        <p:spPr>
          <a:xfrm>
            <a:off x="594360" y="2560320"/>
            <a:ext cx="321045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Splunkの構成、SOCの体制、M365の設定、端末の条件、権限、AI Hubに渡す範囲を伺います</a:t>
            </a:r>
            <a:endParaRPr lang="en-US" sz="1400" dirty="0"/>
          </a:p>
        </p:txBody>
      </p:sp>
      <p:sp>
        <p:nvSpPr>
          <p:cNvPr id="10" name="next-arrow-0"/>
          <p:cNvSpPr/>
          <p:nvPr/>
        </p:nvSpPr>
        <p:spPr>
          <a:xfrm>
            <a:off x="4069994" y="3063240"/>
            <a:ext cx="155448" cy="36576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11" name="next-1"/>
          <p:cNvSpPr/>
          <p:nvPr/>
        </p:nvSpPr>
        <p:spPr>
          <a:xfrm>
            <a:off x="4353458" y="2057400"/>
            <a:ext cx="3484778" cy="23774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next-1-head"/>
          <p:cNvSpPr/>
          <p:nvPr/>
        </p:nvSpPr>
        <p:spPr>
          <a:xfrm>
            <a:off x="4353458" y="2057400"/>
            <a:ext cx="34847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3" name="next-1-head-text"/>
          <p:cNvSpPr txBox="1"/>
          <p:nvPr/>
        </p:nvSpPr>
        <p:spPr>
          <a:xfrm>
            <a:off x="4444898" y="2057400"/>
            <a:ext cx="33018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②　デモ（9場面・36分）</a:t>
            </a:r>
            <a:endParaRPr lang="en-US" sz="1200" dirty="0"/>
          </a:p>
        </p:txBody>
      </p:sp>
      <p:sp>
        <p:nvSpPr>
          <p:cNvPr id="14" name="next-body-1"/>
          <p:cNvSpPr txBox="1"/>
          <p:nvPr/>
        </p:nvSpPr>
        <p:spPr>
          <a:xfrm>
            <a:off x="4490618" y="2560320"/>
            <a:ext cx="321045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場面の終わりごとに、5つの問いに沿って伺います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画面はイメージ、数値は架空です</a:t>
            </a:r>
            <a:endParaRPr lang="en-US" sz="1400" dirty="0"/>
          </a:p>
        </p:txBody>
      </p:sp>
      <p:sp>
        <p:nvSpPr>
          <p:cNvPr id="15" name="next-arrow-1"/>
          <p:cNvSpPr/>
          <p:nvPr/>
        </p:nvSpPr>
        <p:spPr>
          <a:xfrm>
            <a:off x="7966253" y="3063240"/>
            <a:ext cx="155448" cy="36576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16" name="next-2"/>
          <p:cNvSpPr/>
          <p:nvPr/>
        </p:nvSpPr>
        <p:spPr>
          <a:xfrm>
            <a:off x="8249717" y="2057400"/>
            <a:ext cx="3484778" cy="23774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next-2-head"/>
          <p:cNvSpPr/>
          <p:nvPr/>
        </p:nvSpPr>
        <p:spPr>
          <a:xfrm>
            <a:off x="8249717" y="2057400"/>
            <a:ext cx="348477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next-2-head-text"/>
          <p:cNvSpPr txBox="1"/>
          <p:nvPr/>
        </p:nvSpPr>
        <p:spPr>
          <a:xfrm>
            <a:off x="8341157" y="2057400"/>
            <a:ext cx="33018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③　最初に確かめる作業を決める</a:t>
            </a:r>
            <a:endParaRPr lang="en-US" sz="1200" dirty="0"/>
          </a:p>
        </p:txBody>
      </p:sp>
      <p:sp>
        <p:nvSpPr>
          <p:cNvPr id="19" name="next-body-2"/>
          <p:cNvSpPr txBox="1"/>
          <p:nvPr/>
        </p:nvSpPr>
        <p:spPr>
          <a:xfrm>
            <a:off x="8386877" y="2560320"/>
            <a:ext cx="321045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近い問いを一つ選びます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その作業で、現状の時間と件数を測ります</a:t>
            </a:r>
            <a:endParaRPr lang="en-US" sz="1400" dirty="0"/>
          </a:p>
        </p:txBody>
      </p:sp>
      <p:sp>
        <p:nvSpPr>
          <p:cNvPr id="20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架空のシナリオ・イメージデモです。特定の企業や事案を題材にしたものではありません。</a:t>
            </a:r>
            <a:endParaRPr lang="en-US" sz="1100" dirty="0"/>
          </a:p>
        </p:txBody>
      </p:sp>
      <p:sp>
        <p:nvSpPr>
          <p:cNvPr id="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touch">
  <a:themeElements>
    <a:clrScheme name="Techtouch">
      <a:dk1>
        <a:srgbClr val="1F2A37"/>
      </a:dk1>
      <a:lt1>
        <a:srgbClr val="FFFFFF"/>
      </a:lt1>
      <a:dk2>
        <a:srgbClr val="055BB8"/>
      </a:dk2>
      <a:lt2>
        <a:srgbClr val="F0F3F6"/>
      </a:lt2>
      <a:accent1>
        <a:srgbClr val="055BB8"/>
      </a:accent1>
      <a:accent2>
        <a:srgbClr val="0876E8"/>
      </a:accent2>
      <a:accent3>
        <a:srgbClr val="EEF7FD"/>
      </a:accent3>
      <a:accent4>
        <a:srgbClr val="C86A00"/>
      </a:accent4>
      <a:accent5>
        <a:srgbClr val="596573"/>
      </a:accent5>
      <a:accent6>
        <a:srgbClr val="D6DDE5"/>
      </a:accent6>
      <a:hlink>
        <a:srgbClr val="0876E8"/>
      </a:hlink>
      <a:folHlink>
        <a:srgbClr val="4A90E2"/>
      </a:folHlink>
    </a:clrScheme>
    <a:fontScheme name="Techtouch">
      <a:majorFont>
        <a:latin typeface="Yu Gothic"/>
        <a:ea typeface="Yu Gothic"/>
        <a:cs typeface=""/>
        <a:font script="Jpan" typeface="Yu Gothic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Yu Gothic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テックタッチ株式会社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M365アカウント乗っ取り対応デモ 事前説明</dc:title>
  <dc:subject>Splunk ES＋UEBA＋SOAR × テックタッチ（DAP＋AI Hub）イメージデモの事前説明</dc:subject>
  <dc:creator>テックタッチ</dc:creator>
  <cp:lastModifiedBy>テックタッチ</cp:lastModifiedBy>
  <cp:revision>1</cp:revision>
  <dcterms:created xsi:type="dcterms:W3CDTF">2026-10-21T08:21:06Z</dcterms:created>
  <dcterms:modified xsi:type="dcterms:W3CDTF">2026-10-21T08:21:06Z</dcterms:modified>
</cp:coreProperties>
</file>